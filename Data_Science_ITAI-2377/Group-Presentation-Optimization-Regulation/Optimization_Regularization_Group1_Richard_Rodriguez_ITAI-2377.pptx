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BA539-F5A6-4AC0-8C24-F46F1379BB2F}" v="5" dt="2026-03-03T02:20:38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Rodriguez" userId="0ad68367006ecf2b" providerId="LiveId" clId="{C416233B-6565-474C-83C4-F522055FCCB6}"/>
    <pc:docChg chg="undo custSel modSld">
      <pc:chgData name="Richard Rodriguez" userId="0ad68367006ecf2b" providerId="LiveId" clId="{C416233B-6565-474C-83C4-F522055FCCB6}" dt="2026-03-03T02:27:20.001" v="81" actId="207"/>
      <pc:docMkLst>
        <pc:docMk/>
      </pc:docMkLst>
      <pc:sldChg chg="modSp mod">
        <pc:chgData name="Richard Rodriguez" userId="0ad68367006ecf2b" providerId="LiveId" clId="{C416233B-6565-474C-83C4-F522055FCCB6}" dt="2026-03-03T02:25:53.494" v="68" actId="207"/>
        <pc:sldMkLst>
          <pc:docMk/>
          <pc:sldMk cId="0" sldId="256"/>
        </pc:sldMkLst>
        <pc:spChg chg="mod">
          <ac:chgData name="Richard Rodriguez" userId="0ad68367006ecf2b" providerId="LiveId" clId="{C416233B-6565-474C-83C4-F522055FCCB6}" dt="2026-03-03T02:25:53.494" v="68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49.855" v="67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46.628" v="66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42.937" v="65" actId="20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Richard Rodriguez" userId="0ad68367006ecf2b" providerId="LiveId" clId="{C416233B-6565-474C-83C4-F522055FCCB6}" dt="2026-03-03T02:25:19.598" v="64" actId="207"/>
        <pc:sldMkLst>
          <pc:docMk/>
          <pc:sldMk cId="0" sldId="259"/>
        </pc:sldMkLst>
        <pc:spChg chg="mod">
          <ac:chgData name="Richard Rodriguez" userId="0ad68367006ecf2b" providerId="LiveId" clId="{C416233B-6565-474C-83C4-F522055FCCB6}" dt="2026-03-03T02:23:59.799" v="54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04.806" v="55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3:54.408" v="53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12.217" v="56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16.751" v="57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28.638" v="58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53.370" v="61" actId="20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41.903" v="60" actId="20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4:36.025" v="59" actId="20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19.598" v="64" actId="20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13.142" v="63" actId="20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5:07.244" v="62" actId="207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Richard Rodriguez" userId="0ad68367006ecf2b" providerId="LiveId" clId="{C416233B-6565-474C-83C4-F522055FCCB6}" dt="2026-03-03T02:26:55.343" v="79" actId="207"/>
        <pc:sldMkLst>
          <pc:docMk/>
          <pc:sldMk cId="0" sldId="260"/>
        </pc:sldMkLst>
        <pc:spChg chg="mod">
          <ac:chgData name="Richard Rodriguez" userId="0ad68367006ecf2b" providerId="LiveId" clId="{C416233B-6565-474C-83C4-F522055FCCB6}" dt="2026-03-03T02:16:38.861" v="11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7:02.643" v="18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10.688" v="69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16.830" v="70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21.556" v="71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26.938" v="72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7:06.693" v="19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7:40.492" v="26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7:33.712" v="25" actId="20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32.223" v="73" actId="20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43.064" v="75" actId="2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48.091" v="76" actId="20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6:55.343" v="79" actId="20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7:11.806" v="20" actId="207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Richard Rodriguez" userId="0ad68367006ecf2b" providerId="LiveId" clId="{C416233B-6565-474C-83C4-F522055FCCB6}" dt="2026-03-03T02:20:42.849" v="49" actId="207"/>
        <pc:sldMkLst>
          <pc:docMk/>
          <pc:sldMk cId="0" sldId="261"/>
        </pc:sldMkLst>
        <pc:spChg chg="mod">
          <ac:chgData name="Richard Rodriguez" userId="0ad68367006ecf2b" providerId="LiveId" clId="{C416233B-6565-474C-83C4-F522055FCCB6}" dt="2026-03-03T02:18:17.378" v="31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09.858" v="30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05.831" v="29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00.099" v="28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45.065" v="36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49.614" v="37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56.862" v="38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9:02.295" v="39" actId="20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22.675" v="32" actId="20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27.014" v="33" actId="20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34.293" v="34" actId="20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8:39.757" v="35" actId="20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9:12.968" v="40" actId="20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9:17.804" v="41" actId="207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9:25.801" v="42" actId="207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0:42.849" v="49" actId="207"/>
          <ac:spMkLst>
            <pc:docMk/>
            <pc:sldMk cId="0" sldId="261"/>
            <ac:spMk id="29" creationId="{00000000-0000-0000-0000-000000000000}"/>
          </ac:spMkLst>
        </pc:spChg>
      </pc:sldChg>
      <pc:sldChg chg="modSp mod">
        <pc:chgData name="Richard Rodriguez" userId="0ad68367006ecf2b" providerId="LiveId" clId="{C416233B-6565-474C-83C4-F522055FCCB6}" dt="2026-03-03T02:16:04.243" v="10" actId="1076"/>
        <pc:sldMkLst>
          <pc:docMk/>
          <pc:sldMk cId="0" sldId="262"/>
        </pc:sldMkLst>
        <pc:spChg chg="mod">
          <ac:chgData name="Richard Rodriguez" userId="0ad68367006ecf2b" providerId="LiveId" clId="{C416233B-6565-474C-83C4-F522055FCCB6}" dt="2026-03-03T02:15:58.160" v="9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17.843" v="3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6:04.243" v="10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54.028" v="8" actId="2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11.043" v="2" actId="20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49.850" v="7" actId="20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31.089" v="4" actId="20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44.152" v="6" actId="20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15:37.316" v="5" actId="207"/>
          <ac:spMkLst>
            <pc:docMk/>
            <pc:sldMk cId="0" sldId="262"/>
            <ac:spMk id="27" creationId="{00000000-0000-0000-0000-000000000000}"/>
          </ac:spMkLst>
        </pc:spChg>
      </pc:sldChg>
      <pc:sldChg chg="modSp mod">
        <pc:chgData name="Richard Rodriguez" userId="0ad68367006ecf2b" providerId="LiveId" clId="{C416233B-6565-474C-83C4-F522055FCCB6}" dt="2026-03-03T02:27:20.001" v="81" actId="207"/>
        <pc:sldMkLst>
          <pc:docMk/>
          <pc:sldMk cId="0" sldId="264"/>
        </pc:sldMkLst>
        <pc:spChg chg="mod">
          <ac:chgData name="Richard Rodriguez" userId="0ad68367006ecf2b" providerId="LiveId" clId="{C416233B-6565-474C-83C4-F522055FCCB6}" dt="2026-03-03T02:13:50.166" v="0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ichard Rodriguez" userId="0ad68367006ecf2b" providerId="LiveId" clId="{C416233B-6565-474C-83C4-F522055FCCB6}" dt="2026-03-03T02:27:20.001" v="81" actId="207"/>
          <ac:spMkLst>
            <pc:docMk/>
            <pc:sldMk cId="0" sldId="264"/>
            <ac:spMk id="1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CD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C8CCD8"/>
                </a:solidFill>
                <a:latin typeface="Arial"/>
              </a:rPr>
              <a:t>Training vs Validation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  <c:pt idx="5">
                  <c:v>E6</c:v>
                </c:pt>
                <c:pt idx="6">
                  <c:v>E7</c:v>
                </c:pt>
                <c:pt idx="7">
                  <c:v>E8</c:v>
                </c:pt>
                <c:pt idx="8">
                  <c:v>E9</c:v>
                </c:pt>
                <c:pt idx="9">
                  <c:v>E10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2.4</c:v>
                </c:pt>
                <c:pt idx="1">
                  <c:v>1.8</c:v>
                </c:pt>
                <c:pt idx="2">
                  <c:v>1.4</c:v>
                </c:pt>
                <c:pt idx="3">
                  <c:v>1.1000000000000001</c:v>
                </c:pt>
                <c:pt idx="4">
                  <c:v>0.85</c:v>
                </c:pt>
                <c:pt idx="5">
                  <c:v>0.65</c:v>
                </c:pt>
                <c:pt idx="6">
                  <c:v>0.5</c:v>
                </c:pt>
                <c:pt idx="7">
                  <c:v>0.4</c:v>
                </c:pt>
                <c:pt idx="8">
                  <c:v>0.33</c:v>
                </c:pt>
                <c:pt idx="9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F55-1D4D-823B-69B7636BFA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25400" cap="flat">
              <a:solidFill>
                <a:srgbClr val="0FB9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B9A0"/>
              </a:solidFill>
              <a:ln w="9525" cap="flat">
                <a:solidFill>
                  <a:srgbClr val="0FB9A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  <c:pt idx="5">
                  <c:v>E6</c:v>
                </c:pt>
                <c:pt idx="6">
                  <c:v>E7</c:v>
                </c:pt>
                <c:pt idx="7">
                  <c:v>E8</c:v>
                </c:pt>
                <c:pt idx="8">
                  <c:v>E9</c:v>
                </c:pt>
                <c:pt idx="9">
                  <c:v>E10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2.5</c:v>
                </c:pt>
                <c:pt idx="1">
                  <c:v>1.9</c:v>
                </c:pt>
                <c:pt idx="2">
                  <c:v>1.55</c:v>
                </c:pt>
                <c:pt idx="3">
                  <c:v>1.3</c:v>
                </c:pt>
                <c:pt idx="4">
                  <c:v>1.1000000000000001</c:v>
                </c:pt>
                <c:pt idx="5">
                  <c:v>0.95</c:v>
                </c:pt>
                <c:pt idx="6">
                  <c:v>0.88</c:v>
                </c:pt>
                <c:pt idx="7">
                  <c:v>0.84</c:v>
                </c:pt>
                <c:pt idx="8">
                  <c:v>0.82</c:v>
                </c:pt>
                <c:pt idx="9">
                  <c:v>0.81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F55-1D4D-823B-69B7636BF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1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8CCD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CD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C8CCD8"/>
                </a:solidFill>
                <a:latin typeface="Arial"/>
              </a:rPr>
              <a:t>Research Interest (% growth)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AutoML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32</c:v>
                </c:pt>
                <c:pt idx="2">
                  <c:v>48</c:v>
                </c:pt>
                <c:pt idx="3">
                  <c:v>65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BB-3149-B825-E6B997546F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Second-Order Opt.</c:v>
                </c:pt>
              </c:strCache>
            </c:strRef>
          </c:tx>
          <c:spPr>
            <a:solidFill>
              <a:srgbClr val="0FB9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22</c:v>
                </c:pt>
                <c:pt idx="3">
                  <c:v>35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BB-3149-B825-E6B997546F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Federated Learning</c:v>
                </c:pt>
              </c:strCache>
            </c:strRef>
          </c:tx>
          <c:spPr>
            <a:solidFill>
              <a:srgbClr val="9D5C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70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BB-3149-B825-E6B997546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D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8CCD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0D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13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HZwWFHWa-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and Regularization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2377440"/>
            <a:ext cx="3657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</a:t>
            </a:r>
            <a:r>
              <a:rPr lang="en-US" sz="1300" dirty="0" err="1">
                <a:solidFill>
                  <a:schemeClr val="bg1"/>
                </a:solidFill>
              </a:rPr>
              <a:t>Juphens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Cherfil</a:t>
            </a:r>
            <a:r>
              <a:rPr lang="en-US" sz="1300" dirty="0">
                <a:solidFill>
                  <a:schemeClr val="bg1"/>
                </a:solidFill>
              </a:rPr>
              <a:t> · Kaden Glover · Richard Rodriguez · Yoana Cook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3429000"/>
            <a:ext cx="5486400" cy="1143000"/>
          </a:xfrm>
          <a:prstGeom prst="rect">
            <a:avLst/>
          </a:prstGeom>
          <a:solidFill>
            <a:srgbClr val="14141F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28800" y="3547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3803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City College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4041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 Artificial Intelligence — ITAI-2376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8800" y="4279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Sitaram Ayyagari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Optimization &amp; Regularization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drives model learning through iterative weight updates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during model training via gradient-based algorithms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convergence to a minimum of the loss function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training error and improves generalization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21868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constrains model complexity to prevent overfitting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and unintended memorization of training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1170432"/>
            <a:ext cx="3200400" cy="1005840"/>
          </a:xfrm>
          <a:prstGeom prst="rect">
            <a:avLst/>
          </a:prstGeom>
          <a:solidFill>
            <a:srgbClr val="161625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1234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finds the minimum; regularization ensures the minimum generalizes beyond training data.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623560" y="2240280"/>
          <a:ext cx="3246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Terminology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prediction error (e.g., MSE, Cross-Entropy)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quantity optimization seeks to minimize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10128" y="16276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algorithm moving opposite to the gradient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update rule: w ← w − η·∇L(w)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(η):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4496" y="16276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step size during weight updates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54496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high: diverge. Too low: slow convergence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9504"/>
            <a:ext cx="2788920" cy="1554480"/>
          </a:xfrm>
          <a:prstGeom prst="rect">
            <a:avLst/>
          </a:prstGeom>
          <a:solidFill>
            <a:srgbClr val="1F1F30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889504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Lasso: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|w| penalty — drives sparse weights to zero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selection property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72968" y="2889504"/>
            <a:ext cx="2788920" cy="1554480"/>
          </a:xfrm>
          <a:prstGeom prst="rect">
            <a:avLst/>
          </a:prstGeom>
          <a:solidFill>
            <a:srgbClr val="1F1F30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72968" y="2889504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Ridge: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10128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w² penalty — shrinks all weights smoothly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all features contribute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17336" y="2889504"/>
            <a:ext cx="2788920" cy="1554480"/>
          </a:xfrm>
          <a:prstGeom prst="rect">
            <a:avLst/>
          </a:prstGeom>
          <a:solidFill>
            <a:srgbClr val="1F1F30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17336" y="2889504"/>
            <a:ext cx="2788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54496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deactivates neurons during training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co-adaptation and reduces overfitting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Approaches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297680" cy="171907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Optimizer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— adaptive, fast, works out of the box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 — fine-tuning &amp; CNNs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solved: Slow convergence, local minima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490472"/>
            <a:ext cx="1783080" cy="658368"/>
          </a:xfrm>
          <a:prstGeom prst="rect">
            <a:avLst/>
          </a:prstGeom>
          <a:solidFill>
            <a:srgbClr val="0B0B18"/>
          </a:solidFill>
          <a:ln w="635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527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Adam(lr=1e-3)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1819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SGD(lr=0.01, momentum=0.9)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297680" cy="171907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— halve every N epochs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— reduce on val stagnation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1488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solved: Overshooting or stalling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40880" y="1490472"/>
            <a:ext cx="1783080" cy="658368"/>
          </a:xfrm>
          <a:prstGeom prst="rect">
            <a:avLst/>
          </a:prstGeom>
          <a:solidFill>
            <a:srgbClr val="0B0B18"/>
          </a:solidFill>
          <a:ln w="635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1527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scheduler.step()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86600" y="1819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ReduceLROnPlateau(patience=5)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017520"/>
            <a:ext cx="4297680" cy="171907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&amp; L2 Regularization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— sparsity, feature selection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(Ridge) — smooth shrinkage, all features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" y="40233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solved: Overfitting, high variance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60320" y="3364992"/>
            <a:ext cx="1783080" cy="658368"/>
          </a:xfrm>
          <a:prstGeom prst="rect">
            <a:avLst/>
          </a:prstGeom>
          <a:solidFill>
            <a:srgbClr val="0B0B18"/>
          </a:solidFill>
          <a:ln w="635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06040" y="34015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Lasso(alpha=0.01)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06040" y="3694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Ridge(alpha=1.0)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297680" cy="171907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&amp; Early Stopping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006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— random neuron deactivation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— halt at best val loss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0600" y="40233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solved: Memorization, over-training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40880" y="3364992"/>
            <a:ext cx="1783080" cy="658368"/>
          </a:xfrm>
          <a:prstGeom prst="rect">
            <a:avLst/>
          </a:prstGeom>
          <a:solidFill>
            <a:srgbClr val="0B0B18"/>
          </a:solidFill>
          <a:ln w="635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86600" y="34015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nn.Dropout(p=0.5)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86600" y="3694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B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EarlyStopping(patience=10)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4297680" cy="3520440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— Image Classification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 / EfficientNet training on ImageNet)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trained deep CNNs for image recognition using: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4505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LR schedule for smooth convergence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2788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weight decay (1e-4) on all convolutional layers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3127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(0.5) before final classification layer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3465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+ SGD with momentum 0.9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improved by ~4%. Regularization prevented overfitting on large-scale data. Faster convergence with scheduled learning rates.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297680" cy="3520440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261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— Transformer Fine-Tuning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627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 fine-tuning for sentiment classification)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1920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176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team adapted a pre-trained BERT model for sentiment analysis using: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4505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with weight decay 0.01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warmup LR schedule (first 10% of steps)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3127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(0.1) on attention and feed-forward layers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0600" y="3465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validation F1 score (patience=3)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reduction in overfitting on small fine-tune sets. F1 score increased from 0.81 to 0.89. Faster convergence with warmup schedules.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Libraries, &amp; Platforms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4297680" cy="167335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Frameworks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— optimizers, schedulers, autograd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— callbacks, regularizers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185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Ridge, Lasso, ElasticNet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— high-performance gradient computation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4297680" cy="167335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Libraries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torch.optim — SGD, Adam, AdamW, RMSProp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1883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 — pretrained model optimizers &amp; schedules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185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Optax (JAX) — composable gradient transforms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Lightning — training loop automation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" y="2999232"/>
            <a:ext cx="4297680" cy="167335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— loss curves, hyperparams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— run tracking &amp; model registry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4014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— visualize gradients &amp; metrics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— hyperparameter optimization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2999232"/>
            <a:ext cx="4297680" cy="1673352"/>
          </a:xfrm>
          <a:prstGeom prst="rect">
            <a:avLst/>
          </a:prstGeom>
          <a:solidFill>
            <a:srgbClr val="1A1A28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/ CIFAR-10 (image classification)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/ SST-2 (NLP sentiment)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00600" y="4014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Housing / California (regression)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0060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(tabular)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Best Practices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4572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572000" cy="109728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713232"/>
          </a:xfrm>
          <a:prstGeom prst="rect">
            <a:avLst/>
          </a:prstGeom>
          <a:solidFill>
            <a:srgbClr val="1C1830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2984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Optimizer: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1655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 require different optimizers. Adam is a strong default, but SGD+Momentum often outperforms on vision tasks with the right schedule.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2148840"/>
            <a:ext cx="8686800" cy="713232"/>
          </a:xfrm>
          <a:prstGeom prst="rect">
            <a:avLst/>
          </a:prstGeom>
          <a:solidFill>
            <a:srgbClr val="1C1830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139696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1396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2311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Regularization Strength: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1560" y="2496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regularization → overfitting; too much → underfitting. λ (penalty weight) must be tuned via cross-validation.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8600" y="2980944"/>
            <a:ext cx="8686800" cy="713232"/>
          </a:xfrm>
          <a:prstGeom prst="rect">
            <a:avLst/>
          </a:prstGeom>
          <a:solidFill>
            <a:srgbClr val="1C1830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980944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298094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072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Sensitivity: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156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is the most impactful hyperparameter. Always use schedulers and warm-up phases in large model training.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3822192"/>
            <a:ext cx="8686800" cy="713232"/>
          </a:xfrm>
          <a:prstGeom prst="rect">
            <a:avLst/>
          </a:prstGeom>
          <a:solidFill>
            <a:srgbClr val="1C1830"/>
          </a:solidFill>
          <a:ln w="63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3822192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38221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39136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Fairness: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1560" y="4178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elements (SGD noise, Dropout) require fixed seeds for reproducibility. Regularization can mask dataset biases.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/ Research Directions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&amp; Neural Architecture Search: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optimization of architecture and hyperparameters simultaneously — removing the need for manual tuning of learning rates and regularization coefficients.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Optimization Methods: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968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like K-FAC and Shampoo approximate the Hessian for faster convergence — potentially replacing first-order methods in large-scale training.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&amp; Privacy-Preserving Optimization: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124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models across distributed devices without centralizing data — requiring new regularization approaches to handle non-IID data distributions.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669280" y="1078992"/>
          <a:ext cx="32461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on Optimization &amp; Regularization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solidFill>
            <a:srgbClr val="111120"/>
          </a:solidFill>
          <a:ln w="6350">
            <a:solidFill>
              <a:srgbClr val="2E2E4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Descent, How Neural Networks Learn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3Blue1Brown (Deep Learning Chapter 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https://www.youtube.com/watch?v=IHZwWFHWa-w</a:t>
            </a:r>
            <a:r>
              <a:rPr lang="en-US" sz="1100" dirty="0">
                <a:solidFill>
                  <a:srgbClr val="0FB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recommended: StatQuest — Regularization (Ridge, Lasso, Elastic Net) with Josh Starmer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4572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572000" cy="109728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914400" cy="914400"/>
          </a:xfrm>
          <a:prstGeom prst="ellipse">
            <a:avLst/>
          </a:prstGeom>
          <a:solidFill>
            <a:srgbClr val="0FB9A0">
              <a:alpha val="15000"/>
            </a:srgbClr>
          </a:solidFill>
          <a:ln w="1905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drives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914400" cy="914400"/>
          </a:xfrm>
          <a:prstGeom prst="ellipse">
            <a:avLst/>
          </a:prstGeom>
          <a:solidFill>
            <a:srgbClr val="0FB9A0">
              <a:alpha val="15000"/>
            </a:srgbClr>
          </a:solidFill>
          <a:ln w="1905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many variants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417320"/>
            <a:ext cx="914400" cy="914400"/>
          </a:xfrm>
          <a:prstGeom prst="ellipse">
            <a:avLst/>
          </a:prstGeom>
          <a:solidFill>
            <a:srgbClr val="0FB9A0">
              <a:alpha val="15000"/>
            </a:srgbClr>
          </a:solidFill>
          <a:ln w="1905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05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9476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like Adam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convergence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417320"/>
            <a:ext cx="914400" cy="914400"/>
          </a:xfrm>
          <a:prstGeom prst="ellipse">
            <a:avLst/>
          </a:prstGeom>
          <a:solidFill>
            <a:srgbClr val="0FB9A0">
              <a:alpha val="15000"/>
            </a:srgbClr>
          </a:solidFill>
          <a:ln w="1905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1417320"/>
            <a:ext cx="914400" cy="914400"/>
          </a:xfrm>
          <a:prstGeom prst="ellipse">
            <a:avLst/>
          </a:prstGeom>
          <a:solidFill>
            <a:srgbClr val="0FB9A0">
              <a:alpha val="15000"/>
            </a:srgbClr>
          </a:solidFill>
          <a:ln w="1905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352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6948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point toward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auto-optimization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2/2/2026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731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0160">
            <a:solidFill>
              <a:srgbClr val="2E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 https://www.deeplearningbook.org/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Ruder, S. (2016). An overview of gradient descent optimization algorithms. arXiv preprint arXiv:1609.04747. https://arxiv.org/abs/1609.04747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Srivastava, N., Hinton, G., Krizhevsky, A., Sutskever, I., &amp; Salakhutdinov, R. (2014). Dropout: A simple way to prevent neural networks from overfitting. JMLR, 15(1), 1929–1958.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2095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Loshchilov, I., &amp; Hutter, F. (2019). Decoupled weight decay regularization. ICLR 2019. https://arxiv.org/abs/1711.05101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67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3Blue1Brown. (2017). Gradient descent, how neural networks learn [Video]. YouTube. https://www.youtube.com/watch?v=IHZwWFHWa-w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4846320"/>
            <a:ext cx="4572000" cy="73152"/>
          </a:xfrm>
          <a:prstGeom prst="rect">
            <a:avLst/>
          </a:prstGeom>
          <a:solidFill>
            <a:srgbClr val="0FB9A0"/>
          </a:solidFill>
          <a:ln w="12700">
            <a:solidFill>
              <a:srgbClr val="0FB9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1204</Words>
  <Application>Microsoft Office PowerPoint</Application>
  <PresentationFormat>On-screen Show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and Regularization</dc:title>
  <dc:subject>PptxGenJS Presentation</dc:subject>
  <dc:creator>PptxGenJS</dc:creator>
  <cp:lastModifiedBy>Richard Rodriguez</cp:lastModifiedBy>
  <cp:revision>3</cp:revision>
  <dcterms:created xsi:type="dcterms:W3CDTF">2026-03-03T00:26:48Z</dcterms:created>
  <dcterms:modified xsi:type="dcterms:W3CDTF">2026-03-03T02:27:25Z</dcterms:modified>
</cp:coreProperties>
</file>