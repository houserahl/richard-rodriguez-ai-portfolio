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1" r:id="rId2"/>
    <p:sldId id="2564" r:id="rId3"/>
    <p:sldId id="2574" r:id="rId4"/>
    <p:sldId id="2575" r:id="rId5"/>
    <p:sldId id="2576" r:id="rId6"/>
    <p:sldId id="2584" r:id="rId7"/>
    <p:sldId id="2578" r:id="rId8"/>
    <p:sldId id="2580" r:id="rId9"/>
    <p:sldId id="2583" r:id="rId10"/>
    <p:sldId id="2582" r:id="rId11"/>
    <p:sldId id="25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EB6C6-F50C-4104-8B1C-D57FF6A2E094}" v="24" dt="2026-02-02T03:26:07.765"/>
    <p1510:client id="{470C2BDA-600A-3A1E-EB71-D2760E96E7A7}" v="482" dt="2026-02-02T05:15:21.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FD9C79-DC0D-4B82-B421-4D02EDDAEF96}" type="doc">
      <dgm:prSet loTypeId="urn:microsoft.com/office/officeart/2005/8/layout/default" loCatId="list" qsTypeId="urn:microsoft.com/office/officeart/2005/8/quickstyle/simple5" qsCatId="simple" csTypeId="urn:microsoft.com/office/officeart/2005/8/colors/accent2_2" csCatId="accent2"/>
      <dgm:spPr/>
      <dgm:t>
        <a:bodyPr/>
        <a:lstStyle/>
        <a:p>
          <a:endParaRPr lang="en-US"/>
        </a:p>
      </dgm:t>
    </dgm:pt>
    <dgm:pt modelId="{ADBF77BC-477F-4038-A926-552F526A7EB3}">
      <dgm:prSet/>
      <dgm:spPr/>
      <dgm:t>
        <a:bodyPr/>
        <a:lstStyle/>
        <a:p>
          <a:r>
            <a:rPr lang="en-US" dirty="0">
              <a:latin typeface="Aptos" panose="020B0004020202020204" pitchFamily="34" charset="0"/>
            </a:rPr>
            <a:t>Normalization and Standardization:</a:t>
          </a:r>
        </a:p>
      </dgm:t>
    </dgm:pt>
    <dgm:pt modelId="{DB3A6880-5E7B-46EF-9E19-7E1910515D13}" type="parTrans" cxnId="{B60DB6BD-C25A-4E8F-8A0C-5FF200DFC578}">
      <dgm:prSet/>
      <dgm:spPr/>
      <dgm:t>
        <a:bodyPr/>
        <a:lstStyle/>
        <a:p>
          <a:endParaRPr lang="en-US"/>
        </a:p>
      </dgm:t>
    </dgm:pt>
    <dgm:pt modelId="{3F135AEA-B6F0-42A0-AF2F-C4CC78C90511}" type="sibTrans" cxnId="{B60DB6BD-C25A-4E8F-8A0C-5FF200DFC578}">
      <dgm:prSet/>
      <dgm:spPr/>
      <dgm:t>
        <a:bodyPr/>
        <a:lstStyle/>
        <a:p>
          <a:endParaRPr lang="en-US"/>
        </a:p>
      </dgm:t>
    </dgm:pt>
    <dgm:pt modelId="{D27457E0-4F42-4EA0-9E52-97CA5BC87775}">
      <dgm:prSet/>
      <dgm:spPr/>
      <dgm:t>
        <a:bodyPr/>
        <a:lstStyle/>
        <a:p>
          <a:r>
            <a:rPr lang="en-US" dirty="0">
              <a:latin typeface="Aptos" panose="020B0004020202020204" pitchFamily="34" charset="0"/>
            </a:rPr>
            <a:t>Techniques that scale numerical features to a consistent range</a:t>
          </a:r>
        </a:p>
      </dgm:t>
    </dgm:pt>
    <dgm:pt modelId="{C39CADFD-131C-4481-BCA9-CF159C145505}" type="parTrans" cxnId="{53753559-2B5F-4FF7-AFE9-71A2F8CC8DC5}">
      <dgm:prSet/>
      <dgm:spPr/>
      <dgm:t>
        <a:bodyPr/>
        <a:lstStyle/>
        <a:p>
          <a:endParaRPr lang="en-US"/>
        </a:p>
      </dgm:t>
    </dgm:pt>
    <dgm:pt modelId="{1C4E68BC-7A45-40D4-BBEB-E07D568A1DA8}" type="sibTrans" cxnId="{53753559-2B5F-4FF7-AFE9-71A2F8CC8DC5}">
      <dgm:prSet/>
      <dgm:spPr/>
      <dgm:t>
        <a:bodyPr/>
        <a:lstStyle/>
        <a:p>
          <a:endParaRPr lang="en-US"/>
        </a:p>
      </dgm:t>
    </dgm:pt>
    <dgm:pt modelId="{4B155C82-32FE-4375-A2E3-874400D69BFF}">
      <dgm:prSet/>
      <dgm:spPr/>
      <dgm:t>
        <a:bodyPr/>
        <a:lstStyle/>
        <a:p>
          <a:r>
            <a:rPr lang="en-US" dirty="0">
              <a:latin typeface="Aptos" panose="020B0004020202020204" pitchFamily="34" charset="0"/>
            </a:rPr>
            <a:t>Helps stabilize training and prevents features with large values from dominating</a:t>
          </a:r>
        </a:p>
      </dgm:t>
    </dgm:pt>
    <dgm:pt modelId="{E39585D3-A302-409C-9507-F3264E8D0BEA}" type="parTrans" cxnId="{3BC470F7-F36E-4CCF-8647-7E58DBEF0C51}">
      <dgm:prSet/>
      <dgm:spPr/>
      <dgm:t>
        <a:bodyPr/>
        <a:lstStyle/>
        <a:p>
          <a:endParaRPr lang="en-US"/>
        </a:p>
      </dgm:t>
    </dgm:pt>
    <dgm:pt modelId="{9F8869C3-42B0-4D77-AE60-77C4170793B2}" type="sibTrans" cxnId="{3BC470F7-F36E-4CCF-8647-7E58DBEF0C51}">
      <dgm:prSet/>
      <dgm:spPr/>
      <dgm:t>
        <a:bodyPr/>
        <a:lstStyle/>
        <a:p>
          <a:endParaRPr lang="en-US"/>
        </a:p>
      </dgm:t>
    </dgm:pt>
    <dgm:pt modelId="{3880B64E-9720-41EA-B19C-7795DCA2CA48}">
      <dgm:prSet/>
      <dgm:spPr/>
      <dgm:t>
        <a:bodyPr/>
        <a:lstStyle/>
        <a:p>
          <a:r>
            <a:rPr lang="en-US" dirty="0">
              <a:latin typeface="Aptos" panose="020B0004020202020204" pitchFamily="34" charset="0"/>
            </a:rPr>
            <a:t>Tokenization:</a:t>
          </a:r>
        </a:p>
      </dgm:t>
    </dgm:pt>
    <dgm:pt modelId="{6187D739-4F12-4653-AA1D-123D8E1850EE}" type="parTrans" cxnId="{2F92EAE7-1CB7-4616-B8E2-F410F403B8DB}">
      <dgm:prSet/>
      <dgm:spPr/>
      <dgm:t>
        <a:bodyPr/>
        <a:lstStyle/>
        <a:p>
          <a:endParaRPr lang="en-US"/>
        </a:p>
      </dgm:t>
    </dgm:pt>
    <dgm:pt modelId="{F70F84AE-67D9-4FFA-AEC1-910D42CF2B50}" type="sibTrans" cxnId="{2F92EAE7-1CB7-4616-B8E2-F410F403B8DB}">
      <dgm:prSet/>
      <dgm:spPr/>
      <dgm:t>
        <a:bodyPr/>
        <a:lstStyle/>
        <a:p>
          <a:endParaRPr lang="en-US"/>
        </a:p>
      </dgm:t>
    </dgm:pt>
    <dgm:pt modelId="{99760C67-4C3C-4453-A48C-9FFE63FEBAB4}">
      <dgm:prSet/>
      <dgm:spPr/>
      <dgm:t>
        <a:bodyPr/>
        <a:lstStyle/>
        <a:p>
          <a:r>
            <a:rPr lang="en-US" dirty="0">
              <a:latin typeface="Aptos" panose="020B0004020202020204" pitchFamily="34" charset="0"/>
            </a:rPr>
            <a:t>Converts text into smaller units (words, </a:t>
          </a:r>
          <a:r>
            <a:rPr lang="en-US" dirty="0" err="1">
              <a:latin typeface="Aptos" panose="020B0004020202020204" pitchFamily="34" charset="0"/>
            </a:rPr>
            <a:t>subwords</a:t>
          </a:r>
          <a:r>
            <a:rPr lang="en-US" dirty="0">
              <a:latin typeface="Aptos" panose="020B0004020202020204" pitchFamily="34" charset="0"/>
            </a:rPr>
            <a:t>, or characters)</a:t>
          </a:r>
        </a:p>
      </dgm:t>
    </dgm:pt>
    <dgm:pt modelId="{0269CB4E-C5BB-4255-9B73-19FBF1CC9621}" type="parTrans" cxnId="{5B028969-3268-4CA0-B7B9-6B617677437C}">
      <dgm:prSet/>
      <dgm:spPr/>
      <dgm:t>
        <a:bodyPr/>
        <a:lstStyle/>
        <a:p>
          <a:endParaRPr lang="en-US"/>
        </a:p>
      </dgm:t>
    </dgm:pt>
    <dgm:pt modelId="{8BCA7C8F-1E7C-41AD-8C87-2038A4C80A0D}" type="sibTrans" cxnId="{5B028969-3268-4CA0-B7B9-6B617677437C}">
      <dgm:prSet/>
      <dgm:spPr/>
      <dgm:t>
        <a:bodyPr/>
        <a:lstStyle/>
        <a:p>
          <a:endParaRPr lang="en-US"/>
        </a:p>
      </dgm:t>
    </dgm:pt>
    <dgm:pt modelId="{13F33FCB-0CFB-4384-9D1D-E59A0C800F9C}">
      <dgm:prSet/>
      <dgm:spPr/>
      <dgm:t>
        <a:bodyPr/>
        <a:lstStyle/>
        <a:p>
          <a:r>
            <a:rPr lang="en-US" dirty="0">
              <a:latin typeface="Aptos" panose="020B0004020202020204" pitchFamily="34" charset="0"/>
            </a:rPr>
            <a:t>Allows models to process language as numerical sequences</a:t>
          </a:r>
        </a:p>
      </dgm:t>
    </dgm:pt>
    <dgm:pt modelId="{149BBFF7-9EB5-48AB-B897-95DB88BD8612}" type="parTrans" cxnId="{ADB843A0-0085-4AF4-89C1-27106B2921E3}">
      <dgm:prSet/>
      <dgm:spPr/>
      <dgm:t>
        <a:bodyPr/>
        <a:lstStyle/>
        <a:p>
          <a:endParaRPr lang="en-US"/>
        </a:p>
      </dgm:t>
    </dgm:pt>
    <dgm:pt modelId="{03BF8891-0EBE-4C55-8143-3FE9E53BD462}" type="sibTrans" cxnId="{ADB843A0-0085-4AF4-89C1-27106B2921E3}">
      <dgm:prSet/>
      <dgm:spPr/>
      <dgm:t>
        <a:bodyPr/>
        <a:lstStyle/>
        <a:p>
          <a:endParaRPr lang="en-US"/>
        </a:p>
      </dgm:t>
    </dgm:pt>
    <dgm:pt modelId="{143C2769-C6B2-4B9B-9613-6717238608FF}">
      <dgm:prSet/>
      <dgm:spPr/>
      <dgm:t>
        <a:bodyPr/>
        <a:lstStyle/>
        <a:p>
          <a:r>
            <a:rPr lang="en-US" dirty="0">
              <a:latin typeface="Aptos" panose="020B0004020202020204" pitchFamily="34" charset="0"/>
            </a:rPr>
            <a:t>One‑Hot Encoding:</a:t>
          </a:r>
        </a:p>
      </dgm:t>
    </dgm:pt>
    <dgm:pt modelId="{DF2CEC40-B227-457C-8A06-814F2AD9BEA0}" type="parTrans" cxnId="{7337B7EE-9DBE-4136-8E01-E2FCD27E39D2}">
      <dgm:prSet/>
      <dgm:spPr/>
      <dgm:t>
        <a:bodyPr/>
        <a:lstStyle/>
        <a:p>
          <a:endParaRPr lang="en-US"/>
        </a:p>
      </dgm:t>
    </dgm:pt>
    <dgm:pt modelId="{99F136CC-5FA5-49CA-B6FF-E538DFBE8C35}" type="sibTrans" cxnId="{7337B7EE-9DBE-4136-8E01-E2FCD27E39D2}">
      <dgm:prSet/>
      <dgm:spPr/>
      <dgm:t>
        <a:bodyPr/>
        <a:lstStyle/>
        <a:p>
          <a:endParaRPr lang="en-US"/>
        </a:p>
      </dgm:t>
    </dgm:pt>
    <dgm:pt modelId="{B77BCE56-A2F1-4BAD-BC3E-29B02600256C}">
      <dgm:prSet/>
      <dgm:spPr/>
      <dgm:t>
        <a:bodyPr/>
        <a:lstStyle/>
        <a:p>
          <a:r>
            <a:rPr lang="en-US" dirty="0">
              <a:latin typeface="Aptos" panose="020B0004020202020204" pitchFamily="34" charset="0"/>
            </a:rPr>
            <a:t>Represents categorical variables as binary vectors</a:t>
          </a:r>
        </a:p>
      </dgm:t>
    </dgm:pt>
    <dgm:pt modelId="{2CFDA0BD-0C11-412B-BD9A-2D38DABCA1FB}" type="parTrans" cxnId="{865A6D19-4351-4C20-BB27-5C2DCD9FE952}">
      <dgm:prSet/>
      <dgm:spPr/>
      <dgm:t>
        <a:bodyPr/>
        <a:lstStyle/>
        <a:p>
          <a:endParaRPr lang="en-US"/>
        </a:p>
      </dgm:t>
    </dgm:pt>
    <dgm:pt modelId="{5FF1EB00-E024-4012-89AD-97679BC401FA}" type="sibTrans" cxnId="{865A6D19-4351-4C20-BB27-5C2DCD9FE952}">
      <dgm:prSet/>
      <dgm:spPr/>
      <dgm:t>
        <a:bodyPr/>
        <a:lstStyle/>
        <a:p>
          <a:endParaRPr lang="en-US"/>
        </a:p>
      </dgm:t>
    </dgm:pt>
    <dgm:pt modelId="{99122368-EF9D-482B-B900-576C4C7B8AA6}">
      <dgm:prSet/>
      <dgm:spPr/>
      <dgm:t>
        <a:bodyPr/>
        <a:lstStyle/>
        <a:p>
          <a:r>
            <a:rPr lang="en-US" dirty="0">
              <a:latin typeface="Aptos" panose="020B0004020202020204" pitchFamily="34" charset="0"/>
            </a:rPr>
            <a:t>Ensures categories are treated as distinct, non‑ordered values</a:t>
          </a:r>
        </a:p>
      </dgm:t>
    </dgm:pt>
    <dgm:pt modelId="{C727E63D-D04F-496E-B25A-97FB71D34399}" type="parTrans" cxnId="{6A3BC96E-F6A3-4733-AE8F-05F8AEFFCA9D}">
      <dgm:prSet/>
      <dgm:spPr/>
      <dgm:t>
        <a:bodyPr/>
        <a:lstStyle/>
        <a:p>
          <a:endParaRPr lang="en-US"/>
        </a:p>
      </dgm:t>
    </dgm:pt>
    <dgm:pt modelId="{17B08404-8D60-42C9-97EB-2908BF0BDC0C}" type="sibTrans" cxnId="{6A3BC96E-F6A3-4733-AE8F-05F8AEFFCA9D}">
      <dgm:prSet/>
      <dgm:spPr/>
      <dgm:t>
        <a:bodyPr/>
        <a:lstStyle/>
        <a:p>
          <a:endParaRPr lang="en-US"/>
        </a:p>
      </dgm:t>
    </dgm:pt>
    <dgm:pt modelId="{C4EE802B-7B38-4D15-A02C-5ACB65A32898}">
      <dgm:prSet/>
      <dgm:spPr/>
      <dgm:t>
        <a:bodyPr/>
        <a:lstStyle/>
        <a:p>
          <a:r>
            <a:rPr lang="en-US">
              <a:latin typeface="Aptos" panose="020B0004020202020204" pitchFamily="34" charset="0"/>
            </a:rPr>
            <a:t>Data Augmentation:</a:t>
          </a:r>
        </a:p>
      </dgm:t>
    </dgm:pt>
    <dgm:pt modelId="{5925E932-3431-4FA3-BC48-405367EB49BE}" type="parTrans" cxnId="{8D2A7A0A-31C1-4B33-9905-1ABB709364F3}">
      <dgm:prSet/>
      <dgm:spPr/>
      <dgm:t>
        <a:bodyPr/>
        <a:lstStyle/>
        <a:p>
          <a:endParaRPr lang="en-US"/>
        </a:p>
      </dgm:t>
    </dgm:pt>
    <dgm:pt modelId="{1E26908E-D2CD-45B8-B0C7-73C81D67C310}" type="sibTrans" cxnId="{8D2A7A0A-31C1-4B33-9905-1ABB709364F3}">
      <dgm:prSet/>
      <dgm:spPr/>
      <dgm:t>
        <a:bodyPr/>
        <a:lstStyle/>
        <a:p>
          <a:endParaRPr lang="en-US"/>
        </a:p>
      </dgm:t>
    </dgm:pt>
    <dgm:pt modelId="{74BAD8E3-3653-4E18-9747-4AC58003BAFB}">
      <dgm:prSet/>
      <dgm:spPr/>
      <dgm:t>
        <a:bodyPr/>
        <a:lstStyle/>
        <a:p>
          <a:r>
            <a:rPr lang="en-US" dirty="0">
              <a:latin typeface="Aptos" panose="020B0004020202020204" pitchFamily="34" charset="0"/>
            </a:rPr>
            <a:t>Creates modified versions of existing data (e.g., flips, rotations, noise)</a:t>
          </a:r>
        </a:p>
      </dgm:t>
    </dgm:pt>
    <dgm:pt modelId="{2B473CE6-9136-4D08-9701-1D84A29297C5}" type="parTrans" cxnId="{03F3B879-7301-4BFC-8670-185E164B74E2}">
      <dgm:prSet/>
      <dgm:spPr/>
      <dgm:t>
        <a:bodyPr/>
        <a:lstStyle/>
        <a:p>
          <a:endParaRPr lang="en-US"/>
        </a:p>
      </dgm:t>
    </dgm:pt>
    <dgm:pt modelId="{04965107-D331-46AA-ACE6-FE9314892CF8}" type="sibTrans" cxnId="{03F3B879-7301-4BFC-8670-185E164B74E2}">
      <dgm:prSet/>
      <dgm:spPr/>
      <dgm:t>
        <a:bodyPr/>
        <a:lstStyle/>
        <a:p>
          <a:endParaRPr lang="en-US"/>
        </a:p>
      </dgm:t>
    </dgm:pt>
    <dgm:pt modelId="{AA451DBB-7470-4059-B225-92ADC6AD2474}">
      <dgm:prSet/>
      <dgm:spPr/>
      <dgm:t>
        <a:bodyPr/>
        <a:lstStyle/>
        <a:p>
          <a:r>
            <a:rPr lang="en-US" dirty="0">
              <a:latin typeface="Aptos" panose="020B0004020202020204" pitchFamily="34" charset="0"/>
            </a:rPr>
            <a:t>Increases dataset diversity and reduces overfitting</a:t>
          </a:r>
        </a:p>
      </dgm:t>
    </dgm:pt>
    <dgm:pt modelId="{DC595D16-4963-4E01-ABA2-A404B8AF070D}" type="parTrans" cxnId="{131C8574-7B43-410E-BA2D-C564B2A939A8}">
      <dgm:prSet/>
      <dgm:spPr/>
      <dgm:t>
        <a:bodyPr/>
        <a:lstStyle/>
        <a:p>
          <a:endParaRPr lang="en-US"/>
        </a:p>
      </dgm:t>
    </dgm:pt>
    <dgm:pt modelId="{87E04B05-17E6-4F48-A0A4-D8CC6AB31DF4}" type="sibTrans" cxnId="{131C8574-7B43-410E-BA2D-C564B2A939A8}">
      <dgm:prSet/>
      <dgm:spPr/>
      <dgm:t>
        <a:bodyPr/>
        <a:lstStyle/>
        <a:p>
          <a:endParaRPr lang="en-US"/>
        </a:p>
      </dgm:t>
    </dgm:pt>
    <dgm:pt modelId="{2CC231F4-08A4-4CC7-86A7-1D8626091033}">
      <dgm:prSet/>
      <dgm:spPr/>
      <dgm:t>
        <a:bodyPr/>
        <a:lstStyle/>
        <a:p>
          <a:r>
            <a:rPr lang="en-US" dirty="0">
              <a:latin typeface="Aptos" panose="020B0004020202020204" pitchFamily="34" charset="0"/>
            </a:rPr>
            <a:t>Train/Validation/Test Splits</a:t>
          </a:r>
        </a:p>
      </dgm:t>
    </dgm:pt>
    <dgm:pt modelId="{CE0DE576-1A5D-46D1-A1DC-DD19D95A77FA}" type="parTrans" cxnId="{FB157F4B-8B3F-4DC9-A0D4-EE6EB0A8DB51}">
      <dgm:prSet/>
      <dgm:spPr/>
      <dgm:t>
        <a:bodyPr/>
        <a:lstStyle/>
        <a:p>
          <a:endParaRPr lang="en-US"/>
        </a:p>
      </dgm:t>
    </dgm:pt>
    <dgm:pt modelId="{EE7C12F6-F22B-416F-A29F-981D0FB89679}" type="sibTrans" cxnId="{FB157F4B-8B3F-4DC9-A0D4-EE6EB0A8DB51}">
      <dgm:prSet/>
      <dgm:spPr/>
      <dgm:t>
        <a:bodyPr/>
        <a:lstStyle/>
        <a:p>
          <a:endParaRPr lang="en-US"/>
        </a:p>
      </dgm:t>
    </dgm:pt>
    <dgm:pt modelId="{66923FE3-95BD-4972-A285-4DD7AA5B8BBF}">
      <dgm:prSet/>
      <dgm:spPr/>
      <dgm:t>
        <a:bodyPr/>
        <a:lstStyle/>
        <a:p>
          <a:r>
            <a:rPr lang="en-US" dirty="0">
              <a:latin typeface="Aptos" panose="020B0004020202020204" pitchFamily="34" charset="0"/>
            </a:rPr>
            <a:t>Divides data into separate sets for training, tuning, and evaluating</a:t>
          </a:r>
        </a:p>
      </dgm:t>
    </dgm:pt>
    <dgm:pt modelId="{7BC02854-1B18-4AC4-A204-7374014A6732}" type="parTrans" cxnId="{02810166-672F-45AA-B739-776BEFEA2543}">
      <dgm:prSet/>
      <dgm:spPr/>
      <dgm:t>
        <a:bodyPr/>
        <a:lstStyle/>
        <a:p>
          <a:endParaRPr lang="en-US"/>
        </a:p>
      </dgm:t>
    </dgm:pt>
    <dgm:pt modelId="{3CA9F579-6EB3-4D65-94A1-127BBE90C86C}" type="sibTrans" cxnId="{02810166-672F-45AA-B739-776BEFEA2543}">
      <dgm:prSet/>
      <dgm:spPr/>
      <dgm:t>
        <a:bodyPr/>
        <a:lstStyle/>
        <a:p>
          <a:endParaRPr lang="en-US"/>
        </a:p>
      </dgm:t>
    </dgm:pt>
    <dgm:pt modelId="{983583AA-9079-4EE0-875B-71CC4080ABFE}">
      <dgm:prSet/>
      <dgm:spPr/>
      <dgm:t>
        <a:bodyPr/>
        <a:lstStyle/>
        <a:p>
          <a:r>
            <a:rPr lang="en-US" dirty="0">
              <a:latin typeface="Aptos" panose="020B0004020202020204" pitchFamily="34" charset="0"/>
            </a:rPr>
            <a:t>Ensures fair performance measurement and prevents data leakage</a:t>
          </a:r>
        </a:p>
      </dgm:t>
    </dgm:pt>
    <dgm:pt modelId="{5DE43F39-7A05-4E62-8088-537425D2B62E}" type="parTrans" cxnId="{0FEE06CE-9672-48A0-8B84-5DD26A7FC197}">
      <dgm:prSet/>
      <dgm:spPr/>
      <dgm:t>
        <a:bodyPr/>
        <a:lstStyle/>
        <a:p>
          <a:endParaRPr lang="en-US"/>
        </a:p>
      </dgm:t>
    </dgm:pt>
    <dgm:pt modelId="{ABAEFEBB-4036-4FED-B2CF-F8989FAC51A3}" type="sibTrans" cxnId="{0FEE06CE-9672-48A0-8B84-5DD26A7FC197}">
      <dgm:prSet/>
      <dgm:spPr/>
      <dgm:t>
        <a:bodyPr/>
        <a:lstStyle/>
        <a:p>
          <a:endParaRPr lang="en-US"/>
        </a:p>
      </dgm:t>
    </dgm:pt>
    <dgm:pt modelId="{93264825-DD1A-4B12-95CF-E9DC22C29B5D}" type="pres">
      <dgm:prSet presAssocID="{8AFD9C79-DC0D-4B82-B421-4D02EDDAEF96}" presName="diagram" presStyleCnt="0">
        <dgm:presLayoutVars>
          <dgm:dir/>
          <dgm:resizeHandles val="exact"/>
        </dgm:presLayoutVars>
      </dgm:prSet>
      <dgm:spPr/>
    </dgm:pt>
    <dgm:pt modelId="{AE5469C4-3720-4F14-9361-BD88E55B789A}" type="pres">
      <dgm:prSet presAssocID="{ADBF77BC-477F-4038-A926-552F526A7EB3}" presName="node" presStyleLbl="node1" presStyleIdx="0" presStyleCnt="5">
        <dgm:presLayoutVars>
          <dgm:bulletEnabled val="1"/>
        </dgm:presLayoutVars>
      </dgm:prSet>
      <dgm:spPr/>
    </dgm:pt>
    <dgm:pt modelId="{79CB16E0-9C5C-49BA-BA82-24984A1FD87E}" type="pres">
      <dgm:prSet presAssocID="{3F135AEA-B6F0-42A0-AF2F-C4CC78C90511}" presName="sibTrans" presStyleCnt="0"/>
      <dgm:spPr/>
    </dgm:pt>
    <dgm:pt modelId="{1464C187-7B9F-462A-B94D-95C0B6EC1B3B}" type="pres">
      <dgm:prSet presAssocID="{3880B64E-9720-41EA-B19C-7795DCA2CA48}" presName="node" presStyleLbl="node1" presStyleIdx="1" presStyleCnt="5">
        <dgm:presLayoutVars>
          <dgm:bulletEnabled val="1"/>
        </dgm:presLayoutVars>
      </dgm:prSet>
      <dgm:spPr/>
    </dgm:pt>
    <dgm:pt modelId="{4ECCADF9-E07D-468E-87E5-F291E56ED238}" type="pres">
      <dgm:prSet presAssocID="{F70F84AE-67D9-4FFA-AEC1-910D42CF2B50}" presName="sibTrans" presStyleCnt="0"/>
      <dgm:spPr/>
    </dgm:pt>
    <dgm:pt modelId="{06DC3041-6599-4208-A030-9737887C6BA5}" type="pres">
      <dgm:prSet presAssocID="{143C2769-C6B2-4B9B-9613-6717238608FF}" presName="node" presStyleLbl="node1" presStyleIdx="2" presStyleCnt="5">
        <dgm:presLayoutVars>
          <dgm:bulletEnabled val="1"/>
        </dgm:presLayoutVars>
      </dgm:prSet>
      <dgm:spPr/>
    </dgm:pt>
    <dgm:pt modelId="{CB9C93CD-48FD-4C48-ACD5-8093AC0D4F09}" type="pres">
      <dgm:prSet presAssocID="{99F136CC-5FA5-49CA-B6FF-E538DFBE8C35}" presName="sibTrans" presStyleCnt="0"/>
      <dgm:spPr/>
    </dgm:pt>
    <dgm:pt modelId="{D0AFC124-63A8-467D-9857-A46D96E8E760}" type="pres">
      <dgm:prSet presAssocID="{C4EE802B-7B38-4D15-A02C-5ACB65A32898}" presName="node" presStyleLbl="node1" presStyleIdx="3" presStyleCnt="5" custLinFactNeighborX="-54255" custLinFactNeighborY="3425">
        <dgm:presLayoutVars>
          <dgm:bulletEnabled val="1"/>
        </dgm:presLayoutVars>
      </dgm:prSet>
      <dgm:spPr/>
    </dgm:pt>
    <dgm:pt modelId="{222A2604-2E05-4213-B83F-7446952B79A3}" type="pres">
      <dgm:prSet presAssocID="{1E26908E-D2CD-45B8-B0C7-73C81D67C310}" presName="sibTrans" presStyleCnt="0"/>
      <dgm:spPr/>
    </dgm:pt>
    <dgm:pt modelId="{9ED6A967-EAE4-4702-BA31-9864869CC821}" type="pres">
      <dgm:prSet presAssocID="{2CC231F4-08A4-4CC7-86A7-1D8626091033}" presName="node" presStyleLbl="node1" presStyleIdx="4" presStyleCnt="5" custLinFactNeighborX="54150" custLinFactNeighborY="3425">
        <dgm:presLayoutVars>
          <dgm:bulletEnabled val="1"/>
        </dgm:presLayoutVars>
      </dgm:prSet>
      <dgm:spPr/>
    </dgm:pt>
  </dgm:ptLst>
  <dgm:cxnLst>
    <dgm:cxn modelId="{BEA50804-4228-43BB-9556-19FD42676E1D}" type="presOf" srcId="{13F33FCB-0CFB-4384-9D1D-E59A0C800F9C}" destId="{1464C187-7B9F-462A-B94D-95C0B6EC1B3B}" srcOrd="0" destOrd="2" presId="urn:microsoft.com/office/officeart/2005/8/layout/default"/>
    <dgm:cxn modelId="{D5884F09-17D1-4B8A-8F3E-DDF7BE5E6427}" type="presOf" srcId="{143C2769-C6B2-4B9B-9613-6717238608FF}" destId="{06DC3041-6599-4208-A030-9737887C6BA5}" srcOrd="0" destOrd="0" presId="urn:microsoft.com/office/officeart/2005/8/layout/default"/>
    <dgm:cxn modelId="{8D2A7A0A-31C1-4B33-9905-1ABB709364F3}" srcId="{8AFD9C79-DC0D-4B82-B421-4D02EDDAEF96}" destId="{C4EE802B-7B38-4D15-A02C-5ACB65A32898}" srcOrd="3" destOrd="0" parTransId="{5925E932-3431-4FA3-BC48-405367EB49BE}" sibTransId="{1E26908E-D2CD-45B8-B0C7-73C81D67C310}"/>
    <dgm:cxn modelId="{6A1B5E0F-E48D-4CBB-8EF2-2D703D95A2DD}" type="presOf" srcId="{B77BCE56-A2F1-4BAD-BC3E-29B02600256C}" destId="{06DC3041-6599-4208-A030-9737887C6BA5}" srcOrd="0" destOrd="1" presId="urn:microsoft.com/office/officeart/2005/8/layout/default"/>
    <dgm:cxn modelId="{61F5E812-E605-4D00-9C7A-66CB42633498}" type="presOf" srcId="{74BAD8E3-3653-4E18-9747-4AC58003BAFB}" destId="{D0AFC124-63A8-467D-9857-A46D96E8E760}" srcOrd="0" destOrd="1" presId="urn:microsoft.com/office/officeart/2005/8/layout/default"/>
    <dgm:cxn modelId="{865A6D19-4351-4C20-BB27-5C2DCD9FE952}" srcId="{143C2769-C6B2-4B9B-9613-6717238608FF}" destId="{B77BCE56-A2F1-4BAD-BC3E-29B02600256C}" srcOrd="0" destOrd="0" parTransId="{2CFDA0BD-0C11-412B-BD9A-2D38DABCA1FB}" sibTransId="{5FF1EB00-E024-4012-89AD-97679BC401FA}"/>
    <dgm:cxn modelId="{9FBED222-FEFD-4A68-B4BB-CA71E2EA9511}" type="presOf" srcId="{ADBF77BC-477F-4038-A926-552F526A7EB3}" destId="{AE5469C4-3720-4F14-9361-BD88E55B789A}" srcOrd="0" destOrd="0" presId="urn:microsoft.com/office/officeart/2005/8/layout/default"/>
    <dgm:cxn modelId="{1D09052A-DF8F-4EF6-8569-5E300442DED0}" type="presOf" srcId="{D27457E0-4F42-4EA0-9E52-97CA5BC87775}" destId="{AE5469C4-3720-4F14-9361-BD88E55B789A}" srcOrd="0" destOrd="1" presId="urn:microsoft.com/office/officeart/2005/8/layout/default"/>
    <dgm:cxn modelId="{E7906A2E-1B2F-4367-A123-D0801838A254}" type="presOf" srcId="{8AFD9C79-DC0D-4B82-B421-4D02EDDAEF96}" destId="{93264825-DD1A-4B12-95CF-E9DC22C29B5D}" srcOrd="0" destOrd="0" presId="urn:microsoft.com/office/officeart/2005/8/layout/default"/>
    <dgm:cxn modelId="{4087403F-7AE9-442C-A28E-75308BE6D8B2}" type="presOf" srcId="{99122368-EF9D-482B-B900-576C4C7B8AA6}" destId="{06DC3041-6599-4208-A030-9737887C6BA5}" srcOrd="0" destOrd="2" presId="urn:microsoft.com/office/officeart/2005/8/layout/default"/>
    <dgm:cxn modelId="{02810166-672F-45AA-B739-776BEFEA2543}" srcId="{2CC231F4-08A4-4CC7-86A7-1D8626091033}" destId="{66923FE3-95BD-4972-A285-4DD7AA5B8BBF}" srcOrd="0" destOrd="0" parTransId="{7BC02854-1B18-4AC4-A204-7374014A6732}" sibTransId="{3CA9F579-6EB3-4D65-94A1-127BBE90C86C}"/>
    <dgm:cxn modelId="{5B028969-3268-4CA0-B7B9-6B617677437C}" srcId="{3880B64E-9720-41EA-B19C-7795DCA2CA48}" destId="{99760C67-4C3C-4453-A48C-9FFE63FEBAB4}" srcOrd="0" destOrd="0" parTransId="{0269CB4E-C5BB-4255-9B73-19FBF1CC9621}" sibTransId="{8BCA7C8F-1E7C-41AD-8C87-2038A4C80A0D}"/>
    <dgm:cxn modelId="{FB157F4B-8B3F-4DC9-A0D4-EE6EB0A8DB51}" srcId="{8AFD9C79-DC0D-4B82-B421-4D02EDDAEF96}" destId="{2CC231F4-08A4-4CC7-86A7-1D8626091033}" srcOrd="4" destOrd="0" parTransId="{CE0DE576-1A5D-46D1-A1DC-DD19D95A77FA}" sibTransId="{EE7C12F6-F22B-416F-A29F-981D0FB89679}"/>
    <dgm:cxn modelId="{030C256D-0B2A-4C54-846C-F6FBDB321579}" type="presOf" srcId="{983583AA-9079-4EE0-875B-71CC4080ABFE}" destId="{9ED6A967-EAE4-4702-BA31-9864869CC821}" srcOrd="0" destOrd="2" presId="urn:microsoft.com/office/officeart/2005/8/layout/default"/>
    <dgm:cxn modelId="{6A3BC96E-F6A3-4733-AE8F-05F8AEFFCA9D}" srcId="{143C2769-C6B2-4B9B-9613-6717238608FF}" destId="{99122368-EF9D-482B-B900-576C4C7B8AA6}" srcOrd="1" destOrd="0" parTransId="{C727E63D-D04F-496E-B25A-97FB71D34399}" sibTransId="{17B08404-8D60-42C9-97EB-2908BF0BDC0C}"/>
    <dgm:cxn modelId="{05278B71-2A5F-4B74-A4F1-6773EF071C00}" type="presOf" srcId="{3880B64E-9720-41EA-B19C-7795DCA2CA48}" destId="{1464C187-7B9F-462A-B94D-95C0B6EC1B3B}" srcOrd="0" destOrd="0" presId="urn:microsoft.com/office/officeart/2005/8/layout/default"/>
    <dgm:cxn modelId="{131C8574-7B43-410E-BA2D-C564B2A939A8}" srcId="{C4EE802B-7B38-4D15-A02C-5ACB65A32898}" destId="{AA451DBB-7470-4059-B225-92ADC6AD2474}" srcOrd="1" destOrd="0" parTransId="{DC595D16-4963-4E01-ABA2-A404B8AF070D}" sibTransId="{87E04B05-17E6-4F48-A0A4-D8CC6AB31DF4}"/>
    <dgm:cxn modelId="{227F0257-EF8E-4E92-A28F-D295661EBBB6}" type="presOf" srcId="{AA451DBB-7470-4059-B225-92ADC6AD2474}" destId="{D0AFC124-63A8-467D-9857-A46D96E8E760}" srcOrd="0" destOrd="2" presId="urn:microsoft.com/office/officeart/2005/8/layout/default"/>
    <dgm:cxn modelId="{53753559-2B5F-4FF7-AFE9-71A2F8CC8DC5}" srcId="{ADBF77BC-477F-4038-A926-552F526A7EB3}" destId="{D27457E0-4F42-4EA0-9E52-97CA5BC87775}" srcOrd="0" destOrd="0" parTransId="{C39CADFD-131C-4481-BCA9-CF159C145505}" sibTransId="{1C4E68BC-7A45-40D4-BBEB-E07D568A1DA8}"/>
    <dgm:cxn modelId="{03F3B879-7301-4BFC-8670-185E164B74E2}" srcId="{C4EE802B-7B38-4D15-A02C-5ACB65A32898}" destId="{74BAD8E3-3653-4E18-9747-4AC58003BAFB}" srcOrd="0" destOrd="0" parTransId="{2B473CE6-9136-4D08-9701-1D84A29297C5}" sibTransId="{04965107-D331-46AA-ACE6-FE9314892CF8}"/>
    <dgm:cxn modelId="{21443C8E-DAFF-4BC8-9320-E91BCB63E875}" type="presOf" srcId="{C4EE802B-7B38-4D15-A02C-5ACB65A32898}" destId="{D0AFC124-63A8-467D-9857-A46D96E8E760}" srcOrd="0" destOrd="0" presId="urn:microsoft.com/office/officeart/2005/8/layout/default"/>
    <dgm:cxn modelId="{ADB843A0-0085-4AF4-89C1-27106B2921E3}" srcId="{3880B64E-9720-41EA-B19C-7795DCA2CA48}" destId="{13F33FCB-0CFB-4384-9D1D-E59A0C800F9C}" srcOrd="1" destOrd="0" parTransId="{149BBFF7-9EB5-48AB-B897-95DB88BD8612}" sibTransId="{03BF8891-0EBE-4C55-8143-3FE9E53BD462}"/>
    <dgm:cxn modelId="{11DD59A4-52ED-486E-90D0-8A3067D949B2}" type="presOf" srcId="{66923FE3-95BD-4972-A285-4DD7AA5B8BBF}" destId="{9ED6A967-EAE4-4702-BA31-9864869CC821}" srcOrd="0" destOrd="1" presId="urn:microsoft.com/office/officeart/2005/8/layout/default"/>
    <dgm:cxn modelId="{9C96D5B9-994B-4C56-9BF5-F4DD96FCCD7A}" type="presOf" srcId="{99760C67-4C3C-4453-A48C-9FFE63FEBAB4}" destId="{1464C187-7B9F-462A-B94D-95C0B6EC1B3B}" srcOrd="0" destOrd="1" presId="urn:microsoft.com/office/officeart/2005/8/layout/default"/>
    <dgm:cxn modelId="{B60DB6BD-C25A-4E8F-8A0C-5FF200DFC578}" srcId="{8AFD9C79-DC0D-4B82-B421-4D02EDDAEF96}" destId="{ADBF77BC-477F-4038-A926-552F526A7EB3}" srcOrd="0" destOrd="0" parTransId="{DB3A6880-5E7B-46EF-9E19-7E1910515D13}" sibTransId="{3F135AEA-B6F0-42A0-AF2F-C4CC78C90511}"/>
    <dgm:cxn modelId="{391CBAC2-5F06-4BE1-A3F2-ED4028D1EF29}" type="presOf" srcId="{2CC231F4-08A4-4CC7-86A7-1D8626091033}" destId="{9ED6A967-EAE4-4702-BA31-9864869CC821}" srcOrd="0" destOrd="0" presId="urn:microsoft.com/office/officeart/2005/8/layout/default"/>
    <dgm:cxn modelId="{0FEE06CE-9672-48A0-8B84-5DD26A7FC197}" srcId="{2CC231F4-08A4-4CC7-86A7-1D8626091033}" destId="{983583AA-9079-4EE0-875B-71CC4080ABFE}" srcOrd="1" destOrd="0" parTransId="{5DE43F39-7A05-4E62-8088-537425D2B62E}" sibTransId="{ABAEFEBB-4036-4FED-B2CF-F8989FAC51A3}"/>
    <dgm:cxn modelId="{2F92EAE7-1CB7-4616-B8E2-F410F403B8DB}" srcId="{8AFD9C79-DC0D-4B82-B421-4D02EDDAEF96}" destId="{3880B64E-9720-41EA-B19C-7795DCA2CA48}" srcOrd="1" destOrd="0" parTransId="{6187D739-4F12-4653-AA1D-123D8E1850EE}" sibTransId="{F70F84AE-67D9-4FFA-AEC1-910D42CF2B50}"/>
    <dgm:cxn modelId="{7337B7EE-9DBE-4136-8E01-E2FCD27E39D2}" srcId="{8AFD9C79-DC0D-4B82-B421-4D02EDDAEF96}" destId="{143C2769-C6B2-4B9B-9613-6717238608FF}" srcOrd="2" destOrd="0" parTransId="{DF2CEC40-B227-457C-8A06-814F2AD9BEA0}" sibTransId="{99F136CC-5FA5-49CA-B6FF-E538DFBE8C35}"/>
    <dgm:cxn modelId="{3BC470F7-F36E-4CCF-8647-7E58DBEF0C51}" srcId="{ADBF77BC-477F-4038-A926-552F526A7EB3}" destId="{4B155C82-32FE-4375-A2E3-874400D69BFF}" srcOrd="1" destOrd="0" parTransId="{E39585D3-A302-409C-9507-F3264E8D0BEA}" sibTransId="{9F8869C3-42B0-4D77-AE60-77C4170793B2}"/>
    <dgm:cxn modelId="{4BECBFFF-B7EF-4E3D-A409-5E65B7F8FDF0}" type="presOf" srcId="{4B155C82-32FE-4375-A2E3-874400D69BFF}" destId="{AE5469C4-3720-4F14-9361-BD88E55B789A}" srcOrd="0" destOrd="2" presId="urn:microsoft.com/office/officeart/2005/8/layout/default"/>
    <dgm:cxn modelId="{D7BAFEF1-A09B-4547-825C-6C57819366B3}" type="presParOf" srcId="{93264825-DD1A-4B12-95CF-E9DC22C29B5D}" destId="{AE5469C4-3720-4F14-9361-BD88E55B789A}" srcOrd="0" destOrd="0" presId="urn:microsoft.com/office/officeart/2005/8/layout/default"/>
    <dgm:cxn modelId="{3CFF4BA5-8444-4278-A9B7-58BC39373FD5}" type="presParOf" srcId="{93264825-DD1A-4B12-95CF-E9DC22C29B5D}" destId="{79CB16E0-9C5C-49BA-BA82-24984A1FD87E}" srcOrd="1" destOrd="0" presId="urn:microsoft.com/office/officeart/2005/8/layout/default"/>
    <dgm:cxn modelId="{547E63C1-C089-4C30-9600-15123EE5A20E}" type="presParOf" srcId="{93264825-DD1A-4B12-95CF-E9DC22C29B5D}" destId="{1464C187-7B9F-462A-B94D-95C0B6EC1B3B}" srcOrd="2" destOrd="0" presId="urn:microsoft.com/office/officeart/2005/8/layout/default"/>
    <dgm:cxn modelId="{949BF02D-2180-4D2A-81BB-A125C9CA4BF5}" type="presParOf" srcId="{93264825-DD1A-4B12-95CF-E9DC22C29B5D}" destId="{4ECCADF9-E07D-468E-87E5-F291E56ED238}" srcOrd="3" destOrd="0" presId="urn:microsoft.com/office/officeart/2005/8/layout/default"/>
    <dgm:cxn modelId="{13C48847-5851-4E7D-B449-EE5128290E54}" type="presParOf" srcId="{93264825-DD1A-4B12-95CF-E9DC22C29B5D}" destId="{06DC3041-6599-4208-A030-9737887C6BA5}" srcOrd="4" destOrd="0" presId="urn:microsoft.com/office/officeart/2005/8/layout/default"/>
    <dgm:cxn modelId="{344A3B71-DD41-43DA-975A-F929072E40C4}" type="presParOf" srcId="{93264825-DD1A-4B12-95CF-E9DC22C29B5D}" destId="{CB9C93CD-48FD-4C48-ACD5-8093AC0D4F09}" srcOrd="5" destOrd="0" presId="urn:microsoft.com/office/officeart/2005/8/layout/default"/>
    <dgm:cxn modelId="{B47C6AA7-990A-4812-9089-D89589C9FEBD}" type="presParOf" srcId="{93264825-DD1A-4B12-95CF-E9DC22C29B5D}" destId="{D0AFC124-63A8-467D-9857-A46D96E8E760}" srcOrd="6" destOrd="0" presId="urn:microsoft.com/office/officeart/2005/8/layout/default"/>
    <dgm:cxn modelId="{0B0E7B6D-2F3D-4390-9FAB-EBE5CCC852E2}" type="presParOf" srcId="{93264825-DD1A-4B12-95CF-E9DC22C29B5D}" destId="{222A2604-2E05-4213-B83F-7446952B79A3}" srcOrd="7" destOrd="0" presId="urn:microsoft.com/office/officeart/2005/8/layout/default"/>
    <dgm:cxn modelId="{0332A35E-B27B-471A-9249-D8F942B8FE99}" type="presParOf" srcId="{93264825-DD1A-4B12-95CF-E9DC22C29B5D}" destId="{9ED6A967-EAE4-4702-BA31-9864869CC821}"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3722E0-B687-407E-9064-3A1D8E28C427}" type="doc">
      <dgm:prSet loTypeId="urn:microsoft.com/office/officeart/2005/8/layout/default" loCatId="list" qsTypeId="urn:microsoft.com/office/officeart/2005/8/quickstyle/simple2" qsCatId="simple" csTypeId="urn:microsoft.com/office/officeart/2005/8/colors/colorful1" csCatId="colorful" phldr="1"/>
      <dgm:spPr/>
      <dgm:t>
        <a:bodyPr/>
        <a:lstStyle/>
        <a:p>
          <a:endParaRPr lang="en-US"/>
        </a:p>
      </dgm:t>
    </dgm:pt>
    <dgm:pt modelId="{FE6EA876-3F0B-49E9-BAA8-43FCEC1DE8A5}">
      <dgm:prSet/>
      <dgm:spPr/>
      <dgm:t>
        <a:bodyPr/>
        <a:lstStyle/>
        <a:p>
          <a:pPr algn="l"/>
          <a:r>
            <a:rPr lang="en-US" sz="2300" dirty="0">
              <a:latin typeface="Aptos" panose="020B0004020202020204" pitchFamily="34" charset="0"/>
            </a:rPr>
            <a:t>Missing Values</a:t>
          </a:r>
        </a:p>
      </dgm:t>
    </dgm:pt>
    <dgm:pt modelId="{BC26B032-0AFE-4563-BA90-B0F4EC1887B0}" type="parTrans" cxnId="{C6148F4A-5A51-44A6-91C1-CBD7FBADFE3A}">
      <dgm:prSet/>
      <dgm:spPr/>
      <dgm:t>
        <a:bodyPr/>
        <a:lstStyle/>
        <a:p>
          <a:endParaRPr lang="en-US"/>
        </a:p>
      </dgm:t>
    </dgm:pt>
    <dgm:pt modelId="{FB5047E8-7736-4EAD-8687-7561DD496064}" type="sibTrans" cxnId="{C6148F4A-5A51-44A6-91C1-CBD7FBADFE3A}">
      <dgm:prSet/>
      <dgm:spPr/>
      <dgm:t>
        <a:bodyPr/>
        <a:lstStyle/>
        <a:p>
          <a:endParaRPr lang="en-US"/>
        </a:p>
      </dgm:t>
    </dgm:pt>
    <dgm:pt modelId="{38A0EFBB-95FA-46C3-B261-CF49F8A9752B}">
      <dgm:prSet custT="1"/>
      <dgm:spPr/>
      <dgm:t>
        <a:bodyPr/>
        <a:lstStyle/>
        <a:p>
          <a:pPr algn="l"/>
          <a:r>
            <a:rPr lang="en-US" sz="1600" dirty="0">
              <a:latin typeface="Aptos" panose="020B0004020202020204" pitchFamily="34" charset="0"/>
            </a:rPr>
            <a:t>Mean/median (numeric) - stable, random missingness  </a:t>
          </a:r>
        </a:p>
      </dgm:t>
    </dgm:pt>
    <dgm:pt modelId="{84992386-7C8D-48B7-B884-46FDF3FE23A8}" type="parTrans" cxnId="{F2CA0320-7BC3-4C99-BA1C-C13BEE57EB08}">
      <dgm:prSet/>
      <dgm:spPr/>
      <dgm:t>
        <a:bodyPr/>
        <a:lstStyle/>
        <a:p>
          <a:endParaRPr lang="en-US"/>
        </a:p>
      </dgm:t>
    </dgm:pt>
    <dgm:pt modelId="{05CD5624-F117-4C5E-AE0E-D072492AB155}" type="sibTrans" cxnId="{F2CA0320-7BC3-4C99-BA1C-C13BEE57EB08}">
      <dgm:prSet/>
      <dgm:spPr/>
      <dgm:t>
        <a:bodyPr/>
        <a:lstStyle/>
        <a:p>
          <a:endParaRPr lang="en-US"/>
        </a:p>
      </dgm:t>
    </dgm:pt>
    <dgm:pt modelId="{68A9CF37-8483-4FCD-B015-8891F06A9980}">
      <dgm:prSet custT="1"/>
      <dgm:spPr/>
      <dgm:t>
        <a:bodyPr/>
        <a:lstStyle/>
        <a:p>
          <a:pPr algn="l"/>
          <a:r>
            <a:rPr lang="en-US" sz="1600" dirty="0">
              <a:latin typeface="Aptos" panose="020B0004020202020204" pitchFamily="34" charset="0"/>
            </a:rPr>
            <a:t>Mode/“Unknown” (categorical) - avoids invalid categories  </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Problem solved: Missing values breaking training  </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Example code:</a:t>
          </a:r>
          <a:br>
            <a:rPr lang="en-US" sz="1600" dirty="0">
              <a:latin typeface="Aptos" panose="020B0004020202020204" pitchFamily="34" charset="0"/>
            </a:rPr>
          </a:br>
          <a:r>
            <a:rPr lang="en-US" sz="1600" dirty="0" err="1">
              <a:latin typeface="Aptos" panose="020B0004020202020204" pitchFamily="34" charset="0"/>
            </a:rPr>
            <a:t>imputer.fit</a:t>
          </a:r>
          <a:r>
            <a:rPr lang="en-US" sz="1600" dirty="0">
              <a:latin typeface="Aptos" panose="020B0004020202020204" pitchFamily="34" charset="0"/>
            </a:rPr>
            <a:t>(</a:t>
          </a:r>
          <a:r>
            <a:rPr lang="en-US" sz="1600" dirty="0" err="1">
              <a:latin typeface="Aptos" panose="020B0004020202020204" pitchFamily="34" charset="0"/>
            </a:rPr>
            <a:t>X_train</a:t>
          </a:r>
          <a:r>
            <a:rPr lang="en-US" sz="1600" dirty="0">
              <a:latin typeface="Aptos" panose="020B0004020202020204" pitchFamily="34" charset="0"/>
            </a:rPr>
            <a:t>); </a:t>
          </a:r>
          <a:r>
            <a:rPr lang="en-US" sz="1600" dirty="0" err="1">
              <a:latin typeface="Aptos" panose="020B0004020202020204" pitchFamily="34" charset="0"/>
            </a:rPr>
            <a:t>imputer.transform</a:t>
          </a:r>
          <a:r>
            <a:rPr lang="en-US" sz="1600" dirty="0">
              <a:latin typeface="Aptos" panose="020B0004020202020204" pitchFamily="34" charset="0"/>
            </a:rPr>
            <a:t>(</a:t>
          </a:r>
          <a:r>
            <a:rPr lang="en-US" sz="1600" dirty="0" err="1">
              <a:latin typeface="Aptos" panose="020B0004020202020204" pitchFamily="34" charset="0"/>
            </a:rPr>
            <a:t>X_test</a:t>
          </a:r>
          <a:r>
            <a:rPr lang="en-US" sz="1600" dirty="0">
              <a:latin typeface="Aptos" panose="020B0004020202020204" pitchFamily="34" charset="0"/>
            </a:rPr>
            <a:t>)</a:t>
          </a:r>
        </a:p>
      </dgm:t>
    </dgm:pt>
    <dgm:pt modelId="{BEF85217-9460-479B-BB7A-C5F3F1FE20B5}" type="parTrans" cxnId="{E9C399DE-5374-43E8-B1FA-9F4FFB3F7BEF}">
      <dgm:prSet/>
      <dgm:spPr/>
      <dgm:t>
        <a:bodyPr/>
        <a:lstStyle/>
        <a:p>
          <a:endParaRPr lang="en-US"/>
        </a:p>
      </dgm:t>
    </dgm:pt>
    <dgm:pt modelId="{7EFDF34D-FA9C-4AA2-88B7-CD9CAA5852E2}" type="sibTrans" cxnId="{E9C399DE-5374-43E8-B1FA-9F4FFB3F7BEF}">
      <dgm:prSet/>
      <dgm:spPr/>
      <dgm:t>
        <a:bodyPr/>
        <a:lstStyle/>
        <a:p>
          <a:endParaRPr lang="en-US"/>
        </a:p>
      </dgm:t>
    </dgm:pt>
    <dgm:pt modelId="{0443F8EB-5B17-4946-B49E-A6062788D899}">
      <dgm:prSet/>
      <dgm:spPr/>
      <dgm:t>
        <a:bodyPr/>
        <a:lstStyle/>
        <a:p>
          <a:r>
            <a:rPr lang="en-US" sz="2800" dirty="0">
              <a:latin typeface="Aptos" panose="020B0004020202020204" pitchFamily="34" charset="0"/>
            </a:rPr>
            <a:t>Scaling Numerical Features</a:t>
          </a:r>
        </a:p>
      </dgm:t>
    </dgm:pt>
    <dgm:pt modelId="{0ADC1E1E-7DF2-4D3B-9DBA-0C760B21F052}" type="parTrans" cxnId="{9D2FB003-C335-4DDC-94CC-4654F839B012}">
      <dgm:prSet/>
      <dgm:spPr/>
      <dgm:t>
        <a:bodyPr/>
        <a:lstStyle/>
        <a:p>
          <a:endParaRPr lang="en-US"/>
        </a:p>
      </dgm:t>
    </dgm:pt>
    <dgm:pt modelId="{4A6336AE-274D-498B-B501-54590890ABC4}" type="sibTrans" cxnId="{9D2FB003-C335-4DDC-94CC-4654F839B012}">
      <dgm:prSet/>
      <dgm:spPr/>
      <dgm:t>
        <a:bodyPr/>
        <a:lstStyle/>
        <a:p>
          <a:endParaRPr lang="en-US"/>
        </a:p>
      </dgm:t>
    </dgm:pt>
    <dgm:pt modelId="{7D5D339D-CA4A-4CD0-B7FF-0A3A800F7C61}">
      <dgm:prSet custT="1"/>
      <dgm:spPr/>
      <dgm:t>
        <a:bodyPr/>
        <a:lstStyle/>
        <a:p>
          <a:r>
            <a:rPr lang="en-US" sz="1600" dirty="0">
              <a:latin typeface="Aptos" panose="020B0004020202020204" pitchFamily="34" charset="0"/>
            </a:rPr>
            <a:t>Standardize - good for linear models, neural nets  </a:t>
          </a:r>
        </a:p>
      </dgm:t>
    </dgm:pt>
    <dgm:pt modelId="{9A4EAE76-ABB7-4675-B137-0093FD8CFB71}" type="parTrans" cxnId="{0C24E86C-CD7D-42D8-826A-06AC1E1C756B}">
      <dgm:prSet/>
      <dgm:spPr/>
      <dgm:t>
        <a:bodyPr/>
        <a:lstStyle/>
        <a:p>
          <a:endParaRPr lang="en-US"/>
        </a:p>
      </dgm:t>
    </dgm:pt>
    <dgm:pt modelId="{0BAD344D-C54D-4492-977C-19DA4E0822B8}" type="sibTrans" cxnId="{0C24E86C-CD7D-42D8-826A-06AC1E1C756B}">
      <dgm:prSet/>
      <dgm:spPr/>
      <dgm:t>
        <a:bodyPr/>
        <a:lstStyle/>
        <a:p>
          <a:endParaRPr lang="en-US"/>
        </a:p>
      </dgm:t>
    </dgm:pt>
    <dgm:pt modelId="{BD20AEF0-B53C-4B20-B9DC-F32D8B422319}">
      <dgm:prSet custT="1"/>
      <dgm:spPr/>
      <dgm:t>
        <a:bodyPr/>
        <a:lstStyle/>
        <a:p>
          <a:r>
            <a:rPr lang="en-US" sz="1600" dirty="0">
              <a:latin typeface="Aptos" panose="020B0004020202020204" pitchFamily="34" charset="0"/>
            </a:rPr>
            <a:t>Min‑Max - good for bounded activations  </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Problem solved: Large‑magnitude features dominating</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Example code: </a:t>
          </a:r>
          <a:br>
            <a:rPr lang="en-US" sz="1600" dirty="0">
              <a:latin typeface="Aptos" panose="020B0004020202020204" pitchFamily="34" charset="0"/>
            </a:rPr>
          </a:br>
          <a:r>
            <a:rPr lang="fr-FR" sz="1600" dirty="0" err="1">
              <a:latin typeface="Aptos" panose="020B0004020202020204" pitchFamily="34" charset="0"/>
            </a:rPr>
            <a:t>scaler.fit</a:t>
          </a:r>
          <a:r>
            <a:rPr lang="fr-FR" sz="1600" dirty="0">
              <a:latin typeface="Aptos" panose="020B0004020202020204" pitchFamily="34" charset="0"/>
            </a:rPr>
            <a:t>(</a:t>
          </a:r>
          <a:r>
            <a:rPr lang="fr-FR" sz="1600" dirty="0" err="1">
              <a:latin typeface="Aptos" panose="020B0004020202020204" pitchFamily="34" charset="0"/>
            </a:rPr>
            <a:t>X_train</a:t>
          </a:r>
          <a:r>
            <a:rPr lang="fr-FR" sz="1600" dirty="0">
              <a:latin typeface="Aptos" panose="020B0004020202020204" pitchFamily="34" charset="0"/>
            </a:rPr>
            <a:t>); </a:t>
          </a:r>
          <a:r>
            <a:rPr lang="fr-FR" sz="1600" dirty="0" err="1">
              <a:latin typeface="Aptos" panose="020B0004020202020204" pitchFamily="34" charset="0"/>
            </a:rPr>
            <a:t>scaler.transform</a:t>
          </a:r>
          <a:r>
            <a:rPr lang="fr-FR" sz="1600" dirty="0">
              <a:latin typeface="Aptos" panose="020B0004020202020204" pitchFamily="34" charset="0"/>
            </a:rPr>
            <a:t>(</a:t>
          </a:r>
          <a:r>
            <a:rPr lang="fr-FR" sz="1600" dirty="0" err="1">
              <a:latin typeface="Aptos" panose="020B0004020202020204" pitchFamily="34" charset="0"/>
            </a:rPr>
            <a:t>X_val</a:t>
          </a:r>
          <a:r>
            <a:rPr lang="fr-FR" sz="1600" dirty="0">
              <a:latin typeface="Aptos" panose="020B0004020202020204" pitchFamily="34" charset="0"/>
            </a:rPr>
            <a:t>)</a:t>
          </a:r>
          <a:r>
            <a:rPr lang="en-US" sz="1600" dirty="0">
              <a:latin typeface="Aptos" panose="020B0004020202020204" pitchFamily="34" charset="0"/>
            </a:rPr>
            <a:t> </a:t>
          </a:r>
        </a:p>
      </dgm:t>
    </dgm:pt>
    <dgm:pt modelId="{C09ECF0A-C103-41DE-80FD-DFBDB340DFA6}" type="parTrans" cxnId="{DE41BA71-2D6F-41CF-8125-A045FF10D38E}">
      <dgm:prSet/>
      <dgm:spPr/>
      <dgm:t>
        <a:bodyPr/>
        <a:lstStyle/>
        <a:p>
          <a:endParaRPr lang="en-US"/>
        </a:p>
      </dgm:t>
    </dgm:pt>
    <dgm:pt modelId="{C5406031-299C-4FF6-A36E-1BB6A7B0E934}" type="sibTrans" cxnId="{DE41BA71-2D6F-41CF-8125-A045FF10D38E}">
      <dgm:prSet/>
      <dgm:spPr/>
      <dgm:t>
        <a:bodyPr/>
        <a:lstStyle/>
        <a:p>
          <a:endParaRPr lang="en-US"/>
        </a:p>
      </dgm:t>
    </dgm:pt>
    <dgm:pt modelId="{4D176433-AA21-4938-836A-C98AA365C373}">
      <dgm:prSet/>
      <dgm:spPr/>
      <dgm:t>
        <a:bodyPr/>
        <a:lstStyle/>
        <a:p>
          <a:r>
            <a:rPr lang="en-US" sz="2800" dirty="0">
              <a:latin typeface="Aptos" panose="020B0004020202020204" pitchFamily="34" charset="0"/>
            </a:rPr>
            <a:t>Encoding Categories</a:t>
          </a:r>
        </a:p>
      </dgm:t>
    </dgm:pt>
    <dgm:pt modelId="{6AAE02A8-B847-4EBF-B779-91CBB43F06D7}" type="parTrans" cxnId="{AEB823D7-E179-4906-960D-7718A45CAF41}">
      <dgm:prSet/>
      <dgm:spPr/>
      <dgm:t>
        <a:bodyPr/>
        <a:lstStyle/>
        <a:p>
          <a:endParaRPr lang="en-US"/>
        </a:p>
      </dgm:t>
    </dgm:pt>
    <dgm:pt modelId="{813A53F5-559F-46E0-8EE8-7D4D57A72D7A}" type="sibTrans" cxnId="{AEB823D7-E179-4906-960D-7718A45CAF41}">
      <dgm:prSet/>
      <dgm:spPr/>
      <dgm:t>
        <a:bodyPr/>
        <a:lstStyle/>
        <a:p>
          <a:endParaRPr lang="en-US"/>
        </a:p>
      </dgm:t>
    </dgm:pt>
    <dgm:pt modelId="{A1AEDE63-08EB-4EDA-900D-C1B60EC57966}">
      <dgm:prSet custT="1"/>
      <dgm:spPr/>
      <dgm:t>
        <a:bodyPr/>
        <a:lstStyle/>
        <a:p>
          <a:r>
            <a:rPr lang="en-US" sz="1600" dirty="0">
              <a:latin typeface="Aptos" panose="020B0004020202020204" pitchFamily="34" charset="0"/>
            </a:rPr>
            <a:t>One‑hot - low cardinality  </a:t>
          </a:r>
        </a:p>
      </dgm:t>
    </dgm:pt>
    <dgm:pt modelId="{8FC7FD72-6A6E-425B-B62B-D6514EA1BAE7}" type="parTrans" cxnId="{D9917D86-ACB5-4607-97DE-9C78C077D58C}">
      <dgm:prSet/>
      <dgm:spPr/>
      <dgm:t>
        <a:bodyPr/>
        <a:lstStyle/>
        <a:p>
          <a:endParaRPr lang="en-US"/>
        </a:p>
      </dgm:t>
    </dgm:pt>
    <dgm:pt modelId="{E7AA879B-04DA-4E14-8D06-53FE5C592586}" type="sibTrans" cxnId="{D9917D86-ACB5-4607-97DE-9C78C077D58C}">
      <dgm:prSet/>
      <dgm:spPr/>
      <dgm:t>
        <a:bodyPr/>
        <a:lstStyle/>
        <a:p>
          <a:endParaRPr lang="en-US"/>
        </a:p>
      </dgm:t>
    </dgm:pt>
    <dgm:pt modelId="{C9D13AF8-0051-4A42-BD5D-FF303D60F364}">
      <dgm:prSet custT="1"/>
      <dgm:spPr/>
      <dgm:t>
        <a:bodyPr/>
        <a:lstStyle/>
        <a:p>
          <a:r>
            <a:rPr lang="en-US" sz="1600" dirty="0">
              <a:latin typeface="Aptos" panose="020B0004020202020204" pitchFamily="34" charset="0"/>
            </a:rPr>
            <a:t>Embeddings - high cardinality, semantic structure  </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Problem solved: converting labels to usable numeric form  </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Example code: </a:t>
          </a:r>
          <a:br>
            <a:rPr lang="en-US" sz="1600" dirty="0">
              <a:latin typeface="Aptos" panose="020B0004020202020204" pitchFamily="34" charset="0"/>
            </a:rPr>
          </a:br>
          <a:r>
            <a:rPr lang="en-US" sz="1600" dirty="0" err="1">
              <a:latin typeface="Aptos" panose="020B0004020202020204" pitchFamily="34" charset="0"/>
            </a:rPr>
            <a:t>encoder.fit</a:t>
          </a:r>
          <a:r>
            <a:rPr lang="en-US" sz="1600" dirty="0">
              <a:latin typeface="Aptos" panose="020B0004020202020204" pitchFamily="34" charset="0"/>
            </a:rPr>
            <a:t>(</a:t>
          </a:r>
          <a:r>
            <a:rPr lang="en-US" sz="1600" dirty="0" err="1">
              <a:latin typeface="Aptos" panose="020B0004020202020204" pitchFamily="34" charset="0"/>
            </a:rPr>
            <a:t>X_train</a:t>
          </a:r>
          <a:r>
            <a:rPr lang="en-US" sz="1600" dirty="0">
              <a:latin typeface="Aptos" panose="020B0004020202020204" pitchFamily="34" charset="0"/>
            </a:rPr>
            <a:t>)</a:t>
          </a:r>
        </a:p>
      </dgm:t>
    </dgm:pt>
    <dgm:pt modelId="{9BDA24BF-61EE-423A-A36D-365B9C415A50}" type="parTrans" cxnId="{B47EB158-B984-4ECF-9B7D-71C04890DEA3}">
      <dgm:prSet/>
      <dgm:spPr/>
      <dgm:t>
        <a:bodyPr/>
        <a:lstStyle/>
        <a:p>
          <a:endParaRPr lang="en-US"/>
        </a:p>
      </dgm:t>
    </dgm:pt>
    <dgm:pt modelId="{13748727-CEEF-404C-AC1C-9B036803B128}" type="sibTrans" cxnId="{B47EB158-B984-4ECF-9B7D-71C04890DEA3}">
      <dgm:prSet/>
      <dgm:spPr/>
      <dgm:t>
        <a:bodyPr/>
        <a:lstStyle/>
        <a:p>
          <a:endParaRPr lang="en-US"/>
        </a:p>
      </dgm:t>
    </dgm:pt>
    <dgm:pt modelId="{56B4E1B6-8830-4F05-BBE7-0CFA9EACA179}">
      <dgm:prSet/>
      <dgm:spPr/>
      <dgm:t>
        <a:bodyPr/>
        <a:lstStyle/>
        <a:p>
          <a:r>
            <a:rPr lang="en-US" sz="2800" dirty="0">
              <a:latin typeface="Aptos" panose="020B0004020202020204" pitchFamily="34" charset="0"/>
            </a:rPr>
            <a:t>Avoid Data Leakage</a:t>
          </a:r>
        </a:p>
      </dgm:t>
    </dgm:pt>
    <dgm:pt modelId="{E63816AE-72D4-46E8-9F2F-7E6B76CD43CB}" type="parTrans" cxnId="{2F9FFFF3-384D-4740-BF42-AB1E7C5B4C40}">
      <dgm:prSet/>
      <dgm:spPr/>
      <dgm:t>
        <a:bodyPr/>
        <a:lstStyle/>
        <a:p>
          <a:endParaRPr lang="en-US"/>
        </a:p>
      </dgm:t>
    </dgm:pt>
    <dgm:pt modelId="{AC92D445-0198-4899-A944-50F62A497FCF}" type="sibTrans" cxnId="{2F9FFFF3-384D-4740-BF42-AB1E7C5B4C40}">
      <dgm:prSet/>
      <dgm:spPr/>
      <dgm:t>
        <a:bodyPr/>
        <a:lstStyle/>
        <a:p>
          <a:endParaRPr lang="en-US"/>
        </a:p>
      </dgm:t>
    </dgm:pt>
    <dgm:pt modelId="{B559022C-F99B-4E73-BD5D-6C2642EB6AAE}">
      <dgm:prSet custT="1"/>
      <dgm:spPr/>
      <dgm:t>
        <a:bodyPr/>
        <a:lstStyle/>
        <a:p>
          <a:r>
            <a:rPr lang="en-US" sz="1600" dirty="0">
              <a:latin typeface="Aptos" panose="020B0004020202020204" pitchFamily="34" charset="0"/>
            </a:rPr>
            <a:t>Fit all transformers only on the training data  </a:t>
          </a:r>
        </a:p>
      </dgm:t>
    </dgm:pt>
    <dgm:pt modelId="{2F403DD5-B54D-459D-BE96-44F8F5E1F63A}" type="parTrans" cxnId="{441A98D7-CE63-44C0-B33B-7BED7872D91E}">
      <dgm:prSet/>
      <dgm:spPr/>
      <dgm:t>
        <a:bodyPr/>
        <a:lstStyle/>
        <a:p>
          <a:endParaRPr lang="en-US"/>
        </a:p>
      </dgm:t>
    </dgm:pt>
    <dgm:pt modelId="{EDEA0BEC-924C-4AEE-9361-0C82F0C84DE7}" type="sibTrans" cxnId="{441A98D7-CE63-44C0-B33B-7BED7872D91E}">
      <dgm:prSet/>
      <dgm:spPr/>
      <dgm:t>
        <a:bodyPr/>
        <a:lstStyle/>
        <a:p>
          <a:endParaRPr lang="en-US"/>
        </a:p>
      </dgm:t>
    </dgm:pt>
    <dgm:pt modelId="{8FDB47FF-360B-4EF6-982E-B974338992AC}">
      <dgm:prSet custT="1"/>
      <dgm:spPr/>
      <dgm:t>
        <a:bodyPr/>
        <a:lstStyle/>
        <a:p>
          <a:r>
            <a:rPr lang="en-US" sz="1600" dirty="0">
              <a:latin typeface="Aptos" panose="020B0004020202020204" pitchFamily="34" charset="0"/>
            </a:rPr>
            <a:t>Use consistent pipelines across splits  </a:t>
          </a: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Problem solved: inflated accuracy, poor generalization </a:t>
          </a:r>
          <a:br>
            <a:rPr lang="en-US" sz="1600" dirty="0">
              <a:latin typeface="Aptos" panose="020B0004020202020204" pitchFamily="34" charset="0"/>
            </a:rPr>
          </a:br>
          <a:br>
            <a:rPr lang="en-US" sz="1600" dirty="0">
              <a:latin typeface="Aptos" panose="020B0004020202020204" pitchFamily="34" charset="0"/>
            </a:rPr>
          </a:br>
          <a:br>
            <a:rPr lang="en-US" sz="1600" dirty="0">
              <a:latin typeface="Aptos" panose="020B0004020202020204" pitchFamily="34" charset="0"/>
            </a:rPr>
          </a:br>
          <a:r>
            <a:rPr lang="en-US" sz="1600" dirty="0">
              <a:latin typeface="Aptos" panose="020B0004020202020204" pitchFamily="34" charset="0"/>
            </a:rPr>
            <a:t>Example code:</a:t>
          </a:r>
          <a:br>
            <a:rPr lang="en-US" sz="1600" dirty="0">
              <a:latin typeface="Aptos" panose="020B0004020202020204" pitchFamily="34" charset="0"/>
            </a:rPr>
          </a:br>
          <a:r>
            <a:rPr lang="fr-FR" sz="1600" dirty="0" err="1">
              <a:latin typeface="Aptos" panose="020B0004020202020204" pitchFamily="34" charset="0"/>
            </a:rPr>
            <a:t>pipeline.fit</a:t>
          </a:r>
          <a:r>
            <a:rPr lang="fr-FR" sz="1600" dirty="0">
              <a:latin typeface="Aptos" panose="020B0004020202020204" pitchFamily="34" charset="0"/>
            </a:rPr>
            <a:t>(</a:t>
          </a:r>
          <a:r>
            <a:rPr lang="fr-FR" sz="1600" dirty="0" err="1">
              <a:latin typeface="Aptos" panose="020B0004020202020204" pitchFamily="34" charset="0"/>
            </a:rPr>
            <a:t>X_train</a:t>
          </a:r>
          <a:r>
            <a:rPr lang="fr-FR" sz="1600" dirty="0">
              <a:latin typeface="Aptos" panose="020B0004020202020204" pitchFamily="34" charset="0"/>
            </a:rPr>
            <a:t>, </a:t>
          </a:r>
          <a:r>
            <a:rPr lang="fr-FR" sz="1600" dirty="0" err="1">
              <a:latin typeface="Aptos" panose="020B0004020202020204" pitchFamily="34" charset="0"/>
            </a:rPr>
            <a:t>y_train</a:t>
          </a:r>
          <a:r>
            <a:rPr lang="fr-FR" sz="1600" dirty="0">
              <a:latin typeface="Aptos" panose="020B0004020202020204" pitchFamily="34" charset="0"/>
            </a:rPr>
            <a:t>)</a:t>
          </a:r>
          <a:endParaRPr lang="en-US" sz="1600" dirty="0">
            <a:latin typeface="Aptos" panose="020B0004020202020204" pitchFamily="34" charset="0"/>
          </a:endParaRPr>
        </a:p>
      </dgm:t>
    </dgm:pt>
    <dgm:pt modelId="{E3199EF9-EA73-437C-8D3F-235AF05DA72A}" type="parTrans" cxnId="{7DBB14B7-A418-4F3C-84AF-43C93C978A97}">
      <dgm:prSet/>
      <dgm:spPr/>
      <dgm:t>
        <a:bodyPr/>
        <a:lstStyle/>
        <a:p>
          <a:endParaRPr lang="en-US"/>
        </a:p>
      </dgm:t>
    </dgm:pt>
    <dgm:pt modelId="{787C5DE2-4FEA-43D2-B5E0-222AF3E27871}" type="sibTrans" cxnId="{7DBB14B7-A418-4F3C-84AF-43C93C978A97}">
      <dgm:prSet/>
      <dgm:spPr/>
      <dgm:t>
        <a:bodyPr/>
        <a:lstStyle/>
        <a:p>
          <a:endParaRPr lang="en-US"/>
        </a:p>
      </dgm:t>
    </dgm:pt>
    <dgm:pt modelId="{8ABD41FE-843A-4C6E-A9A0-1F84F7ADDAFF}" type="pres">
      <dgm:prSet presAssocID="{0B3722E0-B687-407E-9064-3A1D8E28C427}" presName="diagram" presStyleCnt="0">
        <dgm:presLayoutVars>
          <dgm:dir/>
          <dgm:resizeHandles val="exact"/>
        </dgm:presLayoutVars>
      </dgm:prSet>
      <dgm:spPr/>
    </dgm:pt>
    <dgm:pt modelId="{823CAD10-C4AF-46DB-AD3F-7E07E872DFC5}" type="pres">
      <dgm:prSet presAssocID="{FE6EA876-3F0B-49E9-BAA8-43FCEC1DE8A5}" presName="node" presStyleLbl="node1" presStyleIdx="0" presStyleCnt="4">
        <dgm:presLayoutVars>
          <dgm:bulletEnabled val="1"/>
        </dgm:presLayoutVars>
      </dgm:prSet>
      <dgm:spPr/>
    </dgm:pt>
    <dgm:pt modelId="{38AEDE34-1B8E-4D92-B1F2-AB2A6A4E9208}" type="pres">
      <dgm:prSet presAssocID="{FB5047E8-7736-4EAD-8687-7561DD496064}" presName="sibTrans" presStyleCnt="0"/>
      <dgm:spPr/>
    </dgm:pt>
    <dgm:pt modelId="{1166998C-12AE-4614-B088-D224DC828BB5}" type="pres">
      <dgm:prSet presAssocID="{0443F8EB-5B17-4946-B49E-A6062788D899}" presName="node" presStyleLbl="node1" presStyleIdx="1" presStyleCnt="4">
        <dgm:presLayoutVars>
          <dgm:bulletEnabled val="1"/>
        </dgm:presLayoutVars>
      </dgm:prSet>
      <dgm:spPr/>
    </dgm:pt>
    <dgm:pt modelId="{68ADAA7E-0CC7-463F-B68E-7EB6505CC2A6}" type="pres">
      <dgm:prSet presAssocID="{4A6336AE-274D-498B-B501-54590890ABC4}" presName="sibTrans" presStyleCnt="0"/>
      <dgm:spPr/>
    </dgm:pt>
    <dgm:pt modelId="{4C64274E-F433-4720-A848-1EBEFACD8115}" type="pres">
      <dgm:prSet presAssocID="{4D176433-AA21-4938-836A-C98AA365C373}" presName="node" presStyleLbl="node1" presStyleIdx="2" presStyleCnt="4">
        <dgm:presLayoutVars>
          <dgm:bulletEnabled val="1"/>
        </dgm:presLayoutVars>
      </dgm:prSet>
      <dgm:spPr/>
    </dgm:pt>
    <dgm:pt modelId="{C63E6BBE-C881-43DF-8D52-050A94693F48}" type="pres">
      <dgm:prSet presAssocID="{813A53F5-559F-46E0-8EE8-7D4D57A72D7A}" presName="sibTrans" presStyleCnt="0"/>
      <dgm:spPr/>
    </dgm:pt>
    <dgm:pt modelId="{DEEC0BDB-5AE6-4BC0-B513-3FDED41E244F}" type="pres">
      <dgm:prSet presAssocID="{56B4E1B6-8830-4F05-BBE7-0CFA9EACA179}" presName="node" presStyleLbl="node1" presStyleIdx="3" presStyleCnt="4">
        <dgm:presLayoutVars>
          <dgm:bulletEnabled val="1"/>
        </dgm:presLayoutVars>
      </dgm:prSet>
      <dgm:spPr/>
    </dgm:pt>
  </dgm:ptLst>
  <dgm:cxnLst>
    <dgm:cxn modelId="{9D2FB003-C335-4DDC-94CC-4654F839B012}" srcId="{0B3722E0-B687-407E-9064-3A1D8E28C427}" destId="{0443F8EB-5B17-4946-B49E-A6062788D899}" srcOrd="1" destOrd="0" parTransId="{0ADC1E1E-7DF2-4D3B-9DBA-0C760B21F052}" sibTransId="{4A6336AE-274D-498B-B501-54590890ABC4}"/>
    <dgm:cxn modelId="{067DF311-FC30-4730-9049-5582FF709D8A}" type="presOf" srcId="{FE6EA876-3F0B-49E9-BAA8-43FCEC1DE8A5}" destId="{823CAD10-C4AF-46DB-AD3F-7E07E872DFC5}" srcOrd="0" destOrd="0" presId="urn:microsoft.com/office/officeart/2005/8/layout/default"/>
    <dgm:cxn modelId="{F2CA0320-7BC3-4C99-BA1C-C13BEE57EB08}" srcId="{FE6EA876-3F0B-49E9-BAA8-43FCEC1DE8A5}" destId="{38A0EFBB-95FA-46C3-B261-CF49F8A9752B}" srcOrd="0" destOrd="0" parTransId="{84992386-7C8D-48B7-B884-46FDF3FE23A8}" sibTransId="{05CD5624-F117-4C5E-AE0E-D072492AB155}"/>
    <dgm:cxn modelId="{86F9A529-2BE8-4728-80AD-0F58427A706D}" type="presOf" srcId="{0B3722E0-B687-407E-9064-3A1D8E28C427}" destId="{8ABD41FE-843A-4C6E-A9A0-1F84F7ADDAFF}" srcOrd="0" destOrd="0" presId="urn:microsoft.com/office/officeart/2005/8/layout/default"/>
    <dgm:cxn modelId="{57FB002E-4FA4-4B0E-BF03-DCFD203200D4}" type="presOf" srcId="{8FDB47FF-360B-4EF6-982E-B974338992AC}" destId="{DEEC0BDB-5AE6-4BC0-B513-3FDED41E244F}" srcOrd="0" destOrd="2" presId="urn:microsoft.com/office/officeart/2005/8/layout/default"/>
    <dgm:cxn modelId="{2083D33A-E1B4-422D-89D7-D8D6244D51CE}" type="presOf" srcId="{7D5D339D-CA4A-4CD0-B7FF-0A3A800F7C61}" destId="{1166998C-12AE-4614-B088-D224DC828BB5}" srcOrd="0" destOrd="1" presId="urn:microsoft.com/office/officeart/2005/8/layout/default"/>
    <dgm:cxn modelId="{041C3E61-DEE2-4172-A888-9426B7A8053B}" type="presOf" srcId="{BD20AEF0-B53C-4B20-B9DC-F32D8B422319}" destId="{1166998C-12AE-4614-B088-D224DC828BB5}" srcOrd="0" destOrd="2" presId="urn:microsoft.com/office/officeart/2005/8/layout/default"/>
    <dgm:cxn modelId="{CEFA0F69-FA45-40BC-A9F9-9B5E3E8DBF68}" type="presOf" srcId="{38A0EFBB-95FA-46C3-B261-CF49F8A9752B}" destId="{823CAD10-C4AF-46DB-AD3F-7E07E872DFC5}" srcOrd="0" destOrd="1" presId="urn:microsoft.com/office/officeart/2005/8/layout/default"/>
    <dgm:cxn modelId="{C6148F4A-5A51-44A6-91C1-CBD7FBADFE3A}" srcId="{0B3722E0-B687-407E-9064-3A1D8E28C427}" destId="{FE6EA876-3F0B-49E9-BAA8-43FCEC1DE8A5}" srcOrd="0" destOrd="0" parTransId="{BC26B032-0AFE-4563-BA90-B0F4EC1887B0}" sibTransId="{FB5047E8-7736-4EAD-8687-7561DD496064}"/>
    <dgm:cxn modelId="{8BF9D76A-06A3-4371-9F4B-84177D2F950C}" type="presOf" srcId="{56B4E1B6-8830-4F05-BBE7-0CFA9EACA179}" destId="{DEEC0BDB-5AE6-4BC0-B513-3FDED41E244F}" srcOrd="0" destOrd="0" presId="urn:microsoft.com/office/officeart/2005/8/layout/default"/>
    <dgm:cxn modelId="{0C24E86C-CD7D-42D8-826A-06AC1E1C756B}" srcId="{0443F8EB-5B17-4946-B49E-A6062788D899}" destId="{7D5D339D-CA4A-4CD0-B7FF-0A3A800F7C61}" srcOrd="0" destOrd="0" parTransId="{9A4EAE76-ABB7-4675-B137-0093FD8CFB71}" sibTransId="{0BAD344D-C54D-4492-977C-19DA4E0822B8}"/>
    <dgm:cxn modelId="{DE41BA71-2D6F-41CF-8125-A045FF10D38E}" srcId="{0443F8EB-5B17-4946-B49E-A6062788D899}" destId="{BD20AEF0-B53C-4B20-B9DC-F32D8B422319}" srcOrd="1" destOrd="0" parTransId="{C09ECF0A-C103-41DE-80FD-DFBDB340DFA6}" sibTransId="{C5406031-299C-4FF6-A36E-1BB6A7B0E934}"/>
    <dgm:cxn modelId="{9F65B052-B894-46DF-94BB-B073E504D39F}" type="presOf" srcId="{0443F8EB-5B17-4946-B49E-A6062788D899}" destId="{1166998C-12AE-4614-B088-D224DC828BB5}" srcOrd="0" destOrd="0" presId="urn:microsoft.com/office/officeart/2005/8/layout/default"/>
    <dgm:cxn modelId="{D4B0A554-935F-4005-9918-0E5CD137644F}" type="presOf" srcId="{C9D13AF8-0051-4A42-BD5D-FF303D60F364}" destId="{4C64274E-F433-4720-A848-1EBEFACD8115}" srcOrd="0" destOrd="2" presId="urn:microsoft.com/office/officeart/2005/8/layout/default"/>
    <dgm:cxn modelId="{B47EB158-B984-4ECF-9B7D-71C04890DEA3}" srcId="{4D176433-AA21-4938-836A-C98AA365C373}" destId="{C9D13AF8-0051-4A42-BD5D-FF303D60F364}" srcOrd="1" destOrd="0" parTransId="{9BDA24BF-61EE-423A-A36D-365B9C415A50}" sibTransId="{13748727-CEEF-404C-AC1C-9B036803B128}"/>
    <dgm:cxn modelId="{70758984-18F9-4905-80CA-58ECC6865D48}" type="presOf" srcId="{B559022C-F99B-4E73-BD5D-6C2642EB6AAE}" destId="{DEEC0BDB-5AE6-4BC0-B513-3FDED41E244F}" srcOrd="0" destOrd="1" presId="urn:microsoft.com/office/officeart/2005/8/layout/default"/>
    <dgm:cxn modelId="{D9917D86-ACB5-4607-97DE-9C78C077D58C}" srcId="{4D176433-AA21-4938-836A-C98AA365C373}" destId="{A1AEDE63-08EB-4EDA-900D-C1B60EC57966}" srcOrd="0" destOrd="0" parTransId="{8FC7FD72-6A6E-425B-B62B-D6514EA1BAE7}" sibTransId="{E7AA879B-04DA-4E14-8D06-53FE5C592586}"/>
    <dgm:cxn modelId="{216BC486-43FA-4609-8EBE-25AED3B16021}" type="presOf" srcId="{4D176433-AA21-4938-836A-C98AA365C373}" destId="{4C64274E-F433-4720-A848-1EBEFACD8115}" srcOrd="0" destOrd="0" presId="urn:microsoft.com/office/officeart/2005/8/layout/default"/>
    <dgm:cxn modelId="{7AB361A2-A360-4919-A903-60C91D1A546E}" type="presOf" srcId="{68A9CF37-8483-4FCD-B015-8891F06A9980}" destId="{823CAD10-C4AF-46DB-AD3F-7E07E872DFC5}" srcOrd="0" destOrd="2" presId="urn:microsoft.com/office/officeart/2005/8/layout/default"/>
    <dgm:cxn modelId="{7DBB14B7-A418-4F3C-84AF-43C93C978A97}" srcId="{56B4E1B6-8830-4F05-BBE7-0CFA9EACA179}" destId="{8FDB47FF-360B-4EF6-982E-B974338992AC}" srcOrd="1" destOrd="0" parTransId="{E3199EF9-EA73-437C-8D3F-235AF05DA72A}" sibTransId="{787C5DE2-4FEA-43D2-B5E0-222AF3E27871}"/>
    <dgm:cxn modelId="{2AEA63CF-CFDB-45F4-8D27-CC234476C628}" type="presOf" srcId="{A1AEDE63-08EB-4EDA-900D-C1B60EC57966}" destId="{4C64274E-F433-4720-A848-1EBEFACD8115}" srcOrd="0" destOrd="1" presId="urn:microsoft.com/office/officeart/2005/8/layout/default"/>
    <dgm:cxn modelId="{AEB823D7-E179-4906-960D-7718A45CAF41}" srcId="{0B3722E0-B687-407E-9064-3A1D8E28C427}" destId="{4D176433-AA21-4938-836A-C98AA365C373}" srcOrd="2" destOrd="0" parTransId="{6AAE02A8-B847-4EBF-B779-91CBB43F06D7}" sibTransId="{813A53F5-559F-46E0-8EE8-7D4D57A72D7A}"/>
    <dgm:cxn modelId="{441A98D7-CE63-44C0-B33B-7BED7872D91E}" srcId="{56B4E1B6-8830-4F05-BBE7-0CFA9EACA179}" destId="{B559022C-F99B-4E73-BD5D-6C2642EB6AAE}" srcOrd="0" destOrd="0" parTransId="{2F403DD5-B54D-459D-BE96-44F8F5E1F63A}" sibTransId="{EDEA0BEC-924C-4AEE-9361-0C82F0C84DE7}"/>
    <dgm:cxn modelId="{E9C399DE-5374-43E8-B1FA-9F4FFB3F7BEF}" srcId="{FE6EA876-3F0B-49E9-BAA8-43FCEC1DE8A5}" destId="{68A9CF37-8483-4FCD-B015-8891F06A9980}" srcOrd="1" destOrd="0" parTransId="{BEF85217-9460-479B-BB7A-C5F3F1FE20B5}" sibTransId="{7EFDF34D-FA9C-4AA2-88B7-CD9CAA5852E2}"/>
    <dgm:cxn modelId="{2F9FFFF3-384D-4740-BF42-AB1E7C5B4C40}" srcId="{0B3722E0-B687-407E-9064-3A1D8E28C427}" destId="{56B4E1B6-8830-4F05-BBE7-0CFA9EACA179}" srcOrd="3" destOrd="0" parTransId="{E63816AE-72D4-46E8-9F2F-7E6B76CD43CB}" sibTransId="{AC92D445-0198-4899-A944-50F62A497FCF}"/>
    <dgm:cxn modelId="{7D3B7859-7490-4C7B-9100-2DBBC420BE46}" type="presParOf" srcId="{8ABD41FE-843A-4C6E-A9A0-1F84F7ADDAFF}" destId="{823CAD10-C4AF-46DB-AD3F-7E07E872DFC5}" srcOrd="0" destOrd="0" presId="urn:microsoft.com/office/officeart/2005/8/layout/default"/>
    <dgm:cxn modelId="{F99A4742-194F-44C2-BC1E-7B236F9E877F}" type="presParOf" srcId="{8ABD41FE-843A-4C6E-A9A0-1F84F7ADDAFF}" destId="{38AEDE34-1B8E-4D92-B1F2-AB2A6A4E9208}" srcOrd="1" destOrd="0" presId="urn:microsoft.com/office/officeart/2005/8/layout/default"/>
    <dgm:cxn modelId="{24512BE5-D40C-4FA9-96ED-7D3480174399}" type="presParOf" srcId="{8ABD41FE-843A-4C6E-A9A0-1F84F7ADDAFF}" destId="{1166998C-12AE-4614-B088-D224DC828BB5}" srcOrd="2" destOrd="0" presId="urn:microsoft.com/office/officeart/2005/8/layout/default"/>
    <dgm:cxn modelId="{E36F04FF-BFCA-4FBF-B199-165FDDDC91E3}" type="presParOf" srcId="{8ABD41FE-843A-4C6E-A9A0-1F84F7ADDAFF}" destId="{68ADAA7E-0CC7-463F-B68E-7EB6505CC2A6}" srcOrd="3" destOrd="0" presId="urn:microsoft.com/office/officeart/2005/8/layout/default"/>
    <dgm:cxn modelId="{C33F0156-C8C2-4A63-BECC-57C0D3EFA911}" type="presParOf" srcId="{8ABD41FE-843A-4C6E-A9A0-1F84F7ADDAFF}" destId="{4C64274E-F433-4720-A848-1EBEFACD8115}" srcOrd="4" destOrd="0" presId="urn:microsoft.com/office/officeart/2005/8/layout/default"/>
    <dgm:cxn modelId="{73C8A0AD-D39A-4F7B-8A50-ED9DA6B599DA}" type="presParOf" srcId="{8ABD41FE-843A-4C6E-A9A0-1F84F7ADDAFF}" destId="{C63E6BBE-C881-43DF-8D52-050A94693F48}" srcOrd="5" destOrd="0" presId="urn:microsoft.com/office/officeart/2005/8/layout/default"/>
    <dgm:cxn modelId="{23B9A5D8-711E-4800-A332-3FE83E9F9613}" type="presParOf" srcId="{8ABD41FE-843A-4C6E-A9A0-1F84F7ADDAFF}" destId="{DEEC0BDB-5AE6-4BC0-B513-3FDED41E244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3722E0-B687-407E-9064-3A1D8E28C427}" type="doc">
      <dgm:prSet loTypeId="urn:microsoft.com/office/officeart/2005/8/layout/default" loCatId="list" qsTypeId="urn:microsoft.com/office/officeart/2005/8/quickstyle/simple2" qsCatId="simple" csTypeId="urn:microsoft.com/office/officeart/2005/8/colors/colorful4" csCatId="colorful" phldr="1"/>
      <dgm:spPr/>
      <dgm:t>
        <a:bodyPr/>
        <a:lstStyle/>
        <a:p>
          <a:endParaRPr lang="en-US"/>
        </a:p>
      </dgm:t>
    </dgm:pt>
    <dgm:pt modelId="{FE6EA876-3F0B-49E9-BAA8-43FCEC1DE8A5}">
      <dgm:prSet custT="1"/>
      <dgm:spPr/>
      <dgm:t>
        <a:bodyPr/>
        <a:lstStyle/>
        <a:p>
          <a:pPr algn="l"/>
          <a:r>
            <a:rPr lang="en-US" sz="2400" dirty="0">
              <a:latin typeface="Aptos"/>
            </a:rPr>
            <a:t>Core ML Frameworks</a:t>
          </a:r>
        </a:p>
      </dgm:t>
    </dgm:pt>
    <dgm:pt modelId="{BC26B032-0AFE-4563-BA90-B0F4EC1887B0}" type="parTrans" cxnId="{C6148F4A-5A51-44A6-91C1-CBD7FBADFE3A}">
      <dgm:prSet/>
      <dgm:spPr/>
      <dgm:t>
        <a:bodyPr/>
        <a:lstStyle/>
        <a:p>
          <a:endParaRPr lang="en-US"/>
        </a:p>
      </dgm:t>
    </dgm:pt>
    <dgm:pt modelId="{FB5047E8-7736-4EAD-8687-7561DD496064}" type="sibTrans" cxnId="{C6148F4A-5A51-44A6-91C1-CBD7FBADFE3A}">
      <dgm:prSet/>
      <dgm:spPr/>
      <dgm:t>
        <a:bodyPr/>
        <a:lstStyle/>
        <a:p>
          <a:endParaRPr lang="en-US"/>
        </a:p>
      </dgm:t>
    </dgm:pt>
    <dgm:pt modelId="{38A0EFBB-95FA-46C3-B261-CF49F8A9752B}">
      <dgm:prSet custT="1"/>
      <dgm:spPr/>
      <dgm:t>
        <a:bodyPr/>
        <a:lstStyle/>
        <a:p>
          <a:pPr algn="l" rtl="0"/>
          <a:r>
            <a:rPr lang="en-US" sz="1600" dirty="0">
              <a:latin typeface="Aptos"/>
            </a:rPr>
            <a:t> </a:t>
          </a:r>
          <a:r>
            <a:rPr lang="en-US" sz="1800" dirty="0">
              <a:latin typeface="Aptos"/>
            </a:rPr>
            <a:t>Scikit‑learn — preprocessing, pipelines, encoders, scalers</a:t>
          </a:r>
        </a:p>
      </dgm:t>
    </dgm:pt>
    <dgm:pt modelId="{84992386-7C8D-48B7-B884-46FDF3FE23A8}" type="parTrans" cxnId="{F2CA0320-7BC3-4C99-BA1C-C13BEE57EB08}">
      <dgm:prSet/>
      <dgm:spPr/>
      <dgm:t>
        <a:bodyPr/>
        <a:lstStyle/>
        <a:p>
          <a:endParaRPr lang="en-US"/>
        </a:p>
      </dgm:t>
    </dgm:pt>
    <dgm:pt modelId="{05CD5624-F117-4C5E-AE0E-D072492AB155}" type="sibTrans" cxnId="{F2CA0320-7BC3-4C99-BA1C-C13BEE57EB08}">
      <dgm:prSet/>
      <dgm:spPr/>
      <dgm:t>
        <a:bodyPr/>
        <a:lstStyle/>
        <a:p>
          <a:endParaRPr lang="en-US"/>
        </a:p>
      </dgm:t>
    </dgm:pt>
    <dgm:pt modelId="{0443F8EB-5B17-4946-B49E-A6062788D899}">
      <dgm:prSet custT="1"/>
      <dgm:spPr/>
      <dgm:t>
        <a:bodyPr/>
        <a:lstStyle/>
        <a:p>
          <a:pPr algn="l" rtl="0"/>
          <a:r>
            <a:rPr lang="en-US" sz="2400" dirty="0">
              <a:latin typeface="Aptos"/>
            </a:rPr>
            <a:t>NLP &amp; Model Hubs</a:t>
          </a:r>
        </a:p>
      </dgm:t>
    </dgm:pt>
    <dgm:pt modelId="{0ADC1E1E-7DF2-4D3B-9DBA-0C760B21F052}" type="parTrans" cxnId="{9D2FB003-C335-4DDC-94CC-4654F839B012}">
      <dgm:prSet/>
      <dgm:spPr/>
      <dgm:t>
        <a:bodyPr/>
        <a:lstStyle/>
        <a:p>
          <a:endParaRPr lang="en-US"/>
        </a:p>
      </dgm:t>
    </dgm:pt>
    <dgm:pt modelId="{4A6336AE-274D-498B-B501-54590890ABC4}" type="sibTrans" cxnId="{9D2FB003-C335-4DDC-94CC-4654F839B012}">
      <dgm:prSet/>
      <dgm:spPr/>
      <dgm:t>
        <a:bodyPr/>
        <a:lstStyle/>
        <a:p>
          <a:endParaRPr lang="en-US"/>
        </a:p>
      </dgm:t>
    </dgm:pt>
    <dgm:pt modelId="{56B4E1B6-8830-4F05-BBE7-0CFA9EACA179}">
      <dgm:prSet custT="1"/>
      <dgm:spPr/>
      <dgm:t>
        <a:bodyPr/>
        <a:lstStyle/>
        <a:p>
          <a:pPr rtl="0"/>
          <a:r>
            <a:rPr lang="en-US" sz="2400" dirty="0">
              <a:latin typeface="Aptos"/>
            </a:rPr>
            <a:t>Avoid Data Leakage</a:t>
          </a:r>
        </a:p>
      </dgm:t>
    </dgm:pt>
    <dgm:pt modelId="{E63816AE-72D4-46E8-9F2F-7E6B76CD43CB}" type="parTrans" cxnId="{2F9FFFF3-384D-4740-BF42-AB1E7C5B4C40}">
      <dgm:prSet/>
      <dgm:spPr/>
      <dgm:t>
        <a:bodyPr/>
        <a:lstStyle/>
        <a:p>
          <a:endParaRPr lang="en-US"/>
        </a:p>
      </dgm:t>
    </dgm:pt>
    <dgm:pt modelId="{AC92D445-0198-4899-A944-50F62A497FCF}" type="sibTrans" cxnId="{2F9FFFF3-384D-4740-BF42-AB1E7C5B4C40}">
      <dgm:prSet/>
      <dgm:spPr/>
      <dgm:t>
        <a:bodyPr/>
        <a:lstStyle/>
        <a:p>
          <a:endParaRPr lang="en-US"/>
        </a:p>
      </dgm:t>
    </dgm:pt>
    <dgm:pt modelId="{05800EB6-FCE4-4ED5-B374-2FEB4D04847B}">
      <dgm:prSet phldr="0"/>
      <dgm:spPr/>
      <dgm:t>
        <a:bodyPr/>
        <a:lstStyle/>
        <a:p>
          <a:pPr rtl="0"/>
          <a:r>
            <a:rPr lang="en-US" sz="1800" dirty="0">
              <a:latin typeface="Aptos"/>
            </a:rPr>
            <a:t>TensorFlow / </a:t>
          </a:r>
          <a:r>
            <a:rPr lang="en-US" sz="1800" dirty="0" err="1">
              <a:latin typeface="Aptos"/>
            </a:rPr>
            <a:t>Keras</a:t>
          </a:r>
          <a:r>
            <a:rPr lang="en-US" sz="1800" dirty="0">
              <a:latin typeface="Aptos"/>
            </a:rPr>
            <a:t> — deep learning models + data pipelines</a:t>
          </a:r>
        </a:p>
      </dgm:t>
    </dgm:pt>
    <dgm:pt modelId="{FF6DF1D6-C40C-47C7-9B83-DA9597612DB6}" type="parTrans" cxnId="{2C1F0EBC-E268-4741-A91F-6636682AA440}">
      <dgm:prSet/>
      <dgm:spPr/>
    </dgm:pt>
    <dgm:pt modelId="{A5A03BD5-CD9C-4484-AA65-1041E2012A6D}" type="sibTrans" cxnId="{2C1F0EBC-E268-4741-A91F-6636682AA440}">
      <dgm:prSet/>
      <dgm:spPr/>
    </dgm:pt>
    <dgm:pt modelId="{AD4759C1-FCB3-46C0-AC96-FFE6E9EB7A06}">
      <dgm:prSet phldr="0"/>
      <dgm:spPr/>
      <dgm:t>
        <a:bodyPr/>
        <a:lstStyle/>
        <a:p>
          <a:r>
            <a:rPr lang="en-US" sz="1800" dirty="0">
              <a:latin typeface="Aptos"/>
            </a:rPr>
            <a:t>PyTorch — flexible deep learning + custom preprocessing</a:t>
          </a:r>
          <a:endParaRPr lang="en-US" sz="1800" dirty="0"/>
        </a:p>
      </dgm:t>
    </dgm:pt>
    <dgm:pt modelId="{30879876-1665-4E6B-A902-4335BF33A48D}" type="parTrans" cxnId="{36AFE38E-5FD8-45DD-9574-8F75A61DDE83}">
      <dgm:prSet/>
      <dgm:spPr/>
    </dgm:pt>
    <dgm:pt modelId="{00CD2B61-6069-4950-BD17-9D0E437C4947}" type="sibTrans" cxnId="{36AFE38E-5FD8-45DD-9574-8F75A61DDE83}">
      <dgm:prSet/>
      <dgm:spPr/>
    </dgm:pt>
    <dgm:pt modelId="{333DD1DF-88AF-4C2F-A681-710CEE0D4286}">
      <dgm:prSet phldr="0" custT="1"/>
      <dgm:spPr/>
      <dgm:t>
        <a:bodyPr/>
        <a:lstStyle/>
        <a:p>
          <a:r>
            <a:rPr lang="en-US" sz="1800" dirty="0">
              <a:latin typeface="Aptos"/>
            </a:rPr>
            <a:t>Hugging Face Transformers — tokenizers, embeddings, pretrained models</a:t>
          </a:r>
        </a:p>
      </dgm:t>
    </dgm:pt>
    <dgm:pt modelId="{E56F28CC-3094-434A-BC2E-FB2209613518}" type="parTrans" cxnId="{5B2413B8-6BDA-435D-B299-9EEB6E6631D8}">
      <dgm:prSet/>
      <dgm:spPr/>
    </dgm:pt>
    <dgm:pt modelId="{CFC1FA64-DD52-45EE-9634-1EE23A2DAAD1}" type="sibTrans" cxnId="{5B2413B8-6BDA-435D-B299-9EEB6E6631D8}">
      <dgm:prSet/>
      <dgm:spPr/>
    </dgm:pt>
    <dgm:pt modelId="{B44589EE-E04A-44DD-A87A-7DABE4EFF3CC}">
      <dgm:prSet phldr="0" custT="1"/>
      <dgm:spPr/>
      <dgm:t>
        <a:bodyPr/>
        <a:lstStyle/>
        <a:p>
          <a:pPr algn="l" rtl="0"/>
          <a:r>
            <a:rPr lang="en-US" sz="2400" dirty="0">
              <a:latin typeface="Aptos"/>
            </a:rPr>
            <a:t>Data Engineering &amp; Pipelines:</a:t>
          </a:r>
        </a:p>
      </dgm:t>
    </dgm:pt>
    <dgm:pt modelId="{C3F93A59-8BFC-4231-B652-DA48D8348F2A}" type="parTrans" cxnId="{DC0F3501-2639-4AA0-B3FB-42DFA4232F5A}">
      <dgm:prSet/>
      <dgm:spPr/>
    </dgm:pt>
    <dgm:pt modelId="{965EFC0E-6D62-47D9-BFD0-1838A47F8184}" type="sibTrans" cxnId="{DC0F3501-2639-4AA0-B3FB-42DFA4232F5A}">
      <dgm:prSet/>
      <dgm:spPr/>
    </dgm:pt>
    <dgm:pt modelId="{44CB7DB3-1C3E-4F60-9951-6F45DDD20913}">
      <dgm:prSet phldr="0" custT="1"/>
      <dgm:spPr/>
      <dgm:t>
        <a:bodyPr/>
        <a:lstStyle/>
        <a:p>
          <a:pPr algn="l" rtl="0"/>
          <a:r>
            <a:rPr lang="en-US" sz="1800" dirty="0">
              <a:latin typeface="Aptos"/>
            </a:rPr>
            <a:t>Apache Beam / Spark — large‑scale preprocessing</a:t>
          </a:r>
        </a:p>
      </dgm:t>
    </dgm:pt>
    <dgm:pt modelId="{C9C7C210-1394-4213-BE86-B3528F73FAB3}" type="parTrans" cxnId="{1955D00F-79E2-47DE-8356-E171B2B68EB2}">
      <dgm:prSet/>
      <dgm:spPr/>
    </dgm:pt>
    <dgm:pt modelId="{0D137ECC-99FD-4263-BD7C-2C3668E611F9}" type="sibTrans" cxnId="{1955D00F-79E2-47DE-8356-E171B2B68EB2}">
      <dgm:prSet/>
      <dgm:spPr/>
    </dgm:pt>
    <dgm:pt modelId="{F167D09D-B793-4CDF-BCFD-C273B34D35E8}">
      <dgm:prSet phldr="0"/>
      <dgm:spPr/>
      <dgm:t>
        <a:bodyPr/>
        <a:lstStyle/>
        <a:p>
          <a:pPr algn="l"/>
          <a:r>
            <a:rPr lang="en-US" sz="1800" dirty="0">
              <a:latin typeface="Aptos"/>
            </a:rPr>
            <a:t>Snowflake / BigQuery — data storage + feature pipelines</a:t>
          </a:r>
        </a:p>
      </dgm:t>
    </dgm:pt>
    <dgm:pt modelId="{B8FF4125-7B69-4572-A363-67E99B5E9DCB}" type="parTrans" cxnId="{AC578B1D-B162-44D7-987A-CE03932DD00F}">
      <dgm:prSet/>
      <dgm:spPr/>
    </dgm:pt>
    <dgm:pt modelId="{79063D7A-ADE4-441C-8CCC-01D26066191A}" type="sibTrans" cxnId="{AC578B1D-B162-44D7-987A-CE03932DD00F}">
      <dgm:prSet/>
      <dgm:spPr/>
    </dgm:pt>
    <dgm:pt modelId="{E3E358FE-BD5C-4267-87A0-0221D5235AB1}">
      <dgm:prSet phldr="0"/>
      <dgm:spPr/>
      <dgm:t>
        <a:bodyPr/>
        <a:lstStyle/>
        <a:p>
          <a:pPr algn="l"/>
          <a:r>
            <a:rPr lang="en-US" sz="1800" dirty="0">
              <a:latin typeface="Aptos"/>
            </a:rPr>
            <a:t>CIFAR‑10 (images)</a:t>
          </a:r>
        </a:p>
      </dgm:t>
    </dgm:pt>
    <dgm:pt modelId="{565120F8-D799-4AE2-BAE7-F72C0A8179D0}" type="parTrans" cxnId="{6C2FBD48-3CDA-45EA-BF39-C65B423C76E7}">
      <dgm:prSet/>
      <dgm:spPr/>
    </dgm:pt>
    <dgm:pt modelId="{5573EB0E-21CD-4087-BBA4-353CE7895038}" type="sibTrans" cxnId="{6C2FBD48-3CDA-45EA-BF39-C65B423C76E7}">
      <dgm:prSet/>
      <dgm:spPr/>
    </dgm:pt>
    <dgm:pt modelId="{11215A79-14D7-4D35-9D78-7943D2374CE2}">
      <dgm:prSet phldr="0"/>
      <dgm:spPr/>
      <dgm:t>
        <a:bodyPr/>
        <a:lstStyle/>
        <a:p>
          <a:pPr algn="l"/>
          <a:r>
            <a:rPr lang="en-US" sz="1800" dirty="0">
              <a:latin typeface="Aptos"/>
            </a:rPr>
            <a:t>IMDB Reviews (text)</a:t>
          </a:r>
        </a:p>
      </dgm:t>
    </dgm:pt>
    <dgm:pt modelId="{3D10E0AF-124E-4497-9269-6F7EC3EB1CF1}" type="parTrans" cxnId="{9DF53C61-88BB-4080-B8D9-557277BEACE4}">
      <dgm:prSet/>
      <dgm:spPr/>
    </dgm:pt>
    <dgm:pt modelId="{F9136166-3CC2-47A3-9B7D-C6D96E5722AF}" type="sibTrans" cxnId="{9DF53C61-88BB-4080-B8D9-557277BEACE4}">
      <dgm:prSet/>
      <dgm:spPr/>
    </dgm:pt>
    <dgm:pt modelId="{FBFEA347-4C7D-442E-A334-0966250BACAC}">
      <dgm:prSet phldr="0"/>
      <dgm:spPr/>
      <dgm:t>
        <a:bodyPr/>
        <a:lstStyle/>
        <a:p>
          <a:pPr algn="l"/>
          <a:r>
            <a:rPr lang="en-US" sz="1800" dirty="0">
              <a:latin typeface="Aptos"/>
            </a:rPr>
            <a:t>UCI ML Repository (tabular)</a:t>
          </a:r>
          <a:endParaRPr lang="en-US" sz="1800" dirty="0"/>
        </a:p>
      </dgm:t>
    </dgm:pt>
    <dgm:pt modelId="{2DD191FE-F6FB-4DB5-A758-2FCD49B555EB}" type="parTrans" cxnId="{C4362DD8-733C-405E-9A86-6045170C2BEE}">
      <dgm:prSet/>
      <dgm:spPr/>
    </dgm:pt>
    <dgm:pt modelId="{C1AB96E3-5EAA-40E5-B294-0DF417096681}" type="sibTrans" cxnId="{C4362DD8-733C-405E-9A86-6045170C2BEE}">
      <dgm:prSet/>
      <dgm:spPr/>
    </dgm:pt>
    <dgm:pt modelId="{64015A82-D259-47E5-96EA-48E5A8224BB1}">
      <dgm:prSet phldr="0"/>
      <dgm:spPr/>
      <dgm:t>
        <a:bodyPr/>
        <a:lstStyle/>
        <a:p>
          <a:r>
            <a:rPr lang="en-US" sz="1800" dirty="0">
              <a:latin typeface="Aptos"/>
            </a:rPr>
            <a:t>MNIST (images)</a:t>
          </a:r>
        </a:p>
      </dgm:t>
    </dgm:pt>
    <dgm:pt modelId="{44CC8A16-77FD-491A-A3CC-3C5272A8E565}" type="parTrans" cxnId="{3A420031-8C7C-4CF2-968F-CC7BDA9D99E6}">
      <dgm:prSet/>
      <dgm:spPr/>
    </dgm:pt>
    <dgm:pt modelId="{7137BE78-F72E-40DD-9BDE-A03ABD83F37A}" type="sibTrans" cxnId="{3A420031-8C7C-4CF2-968F-CC7BDA9D99E6}">
      <dgm:prSet/>
      <dgm:spPr/>
    </dgm:pt>
    <dgm:pt modelId="{8ABD41FE-843A-4C6E-A9A0-1F84F7ADDAFF}" type="pres">
      <dgm:prSet presAssocID="{0B3722E0-B687-407E-9064-3A1D8E28C427}" presName="diagram" presStyleCnt="0">
        <dgm:presLayoutVars>
          <dgm:dir/>
          <dgm:resizeHandles val="exact"/>
        </dgm:presLayoutVars>
      </dgm:prSet>
      <dgm:spPr/>
    </dgm:pt>
    <dgm:pt modelId="{823CAD10-C4AF-46DB-AD3F-7E07E872DFC5}" type="pres">
      <dgm:prSet presAssocID="{FE6EA876-3F0B-49E9-BAA8-43FCEC1DE8A5}" presName="node" presStyleLbl="node1" presStyleIdx="0" presStyleCnt="4">
        <dgm:presLayoutVars>
          <dgm:bulletEnabled val="1"/>
        </dgm:presLayoutVars>
      </dgm:prSet>
      <dgm:spPr/>
    </dgm:pt>
    <dgm:pt modelId="{38AEDE34-1B8E-4D92-B1F2-AB2A6A4E9208}" type="pres">
      <dgm:prSet presAssocID="{FB5047E8-7736-4EAD-8687-7561DD496064}" presName="sibTrans" presStyleCnt="0"/>
      <dgm:spPr/>
    </dgm:pt>
    <dgm:pt modelId="{1166998C-12AE-4614-B088-D224DC828BB5}" type="pres">
      <dgm:prSet presAssocID="{0443F8EB-5B17-4946-B49E-A6062788D899}" presName="node" presStyleLbl="node1" presStyleIdx="1" presStyleCnt="4">
        <dgm:presLayoutVars>
          <dgm:bulletEnabled val="1"/>
        </dgm:presLayoutVars>
      </dgm:prSet>
      <dgm:spPr/>
    </dgm:pt>
    <dgm:pt modelId="{68ADAA7E-0CC7-463F-B68E-7EB6505CC2A6}" type="pres">
      <dgm:prSet presAssocID="{4A6336AE-274D-498B-B501-54590890ABC4}" presName="sibTrans" presStyleCnt="0"/>
      <dgm:spPr/>
    </dgm:pt>
    <dgm:pt modelId="{96E689FB-88EF-4F3B-95B2-049F54BA2218}" type="pres">
      <dgm:prSet presAssocID="{B44589EE-E04A-44DD-A87A-7DABE4EFF3CC}" presName="node" presStyleLbl="node1" presStyleIdx="2" presStyleCnt="4">
        <dgm:presLayoutVars>
          <dgm:bulletEnabled val="1"/>
        </dgm:presLayoutVars>
      </dgm:prSet>
      <dgm:spPr/>
    </dgm:pt>
    <dgm:pt modelId="{C952B244-D397-4344-8A4C-6472C04F325E}" type="pres">
      <dgm:prSet presAssocID="{965EFC0E-6D62-47D9-BFD0-1838A47F8184}" presName="sibTrans" presStyleCnt="0"/>
      <dgm:spPr/>
    </dgm:pt>
    <dgm:pt modelId="{DEEC0BDB-5AE6-4BC0-B513-3FDED41E244F}" type="pres">
      <dgm:prSet presAssocID="{56B4E1B6-8830-4F05-BBE7-0CFA9EACA179}" presName="node" presStyleLbl="node1" presStyleIdx="3" presStyleCnt="4">
        <dgm:presLayoutVars>
          <dgm:bulletEnabled val="1"/>
        </dgm:presLayoutVars>
      </dgm:prSet>
      <dgm:spPr/>
    </dgm:pt>
  </dgm:ptLst>
  <dgm:cxnLst>
    <dgm:cxn modelId="{DC0F3501-2639-4AA0-B3FB-42DFA4232F5A}" srcId="{0B3722E0-B687-407E-9064-3A1D8E28C427}" destId="{B44589EE-E04A-44DD-A87A-7DABE4EFF3CC}" srcOrd="2" destOrd="0" parTransId="{C3F93A59-8BFC-4231-B652-DA48D8348F2A}" sibTransId="{965EFC0E-6D62-47D9-BFD0-1838A47F8184}"/>
    <dgm:cxn modelId="{9D2FB003-C335-4DDC-94CC-4654F839B012}" srcId="{0B3722E0-B687-407E-9064-3A1D8E28C427}" destId="{0443F8EB-5B17-4946-B49E-A6062788D899}" srcOrd="1" destOrd="0" parTransId="{0ADC1E1E-7DF2-4D3B-9DBA-0C760B21F052}" sibTransId="{4A6336AE-274D-498B-B501-54590890ABC4}"/>
    <dgm:cxn modelId="{1955D00F-79E2-47DE-8356-E171B2B68EB2}" srcId="{B44589EE-E04A-44DD-A87A-7DABE4EFF3CC}" destId="{44CB7DB3-1C3E-4F60-9951-6F45DDD20913}" srcOrd="0" destOrd="0" parTransId="{C9C7C210-1394-4213-BE86-B3528F73FAB3}" sibTransId="{0D137ECC-99FD-4263-BD7C-2C3668E611F9}"/>
    <dgm:cxn modelId="{AC578B1D-B162-44D7-987A-CE03932DD00F}" srcId="{B44589EE-E04A-44DD-A87A-7DABE4EFF3CC}" destId="{F167D09D-B793-4CDF-BCFD-C273B34D35E8}" srcOrd="1" destOrd="0" parTransId="{B8FF4125-7B69-4572-A363-67E99B5E9DCB}" sibTransId="{79063D7A-ADE4-441C-8CCC-01D26066191A}"/>
    <dgm:cxn modelId="{F2CA0320-7BC3-4C99-BA1C-C13BEE57EB08}" srcId="{FE6EA876-3F0B-49E9-BAA8-43FCEC1DE8A5}" destId="{38A0EFBB-95FA-46C3-B261-CF49F8A9752B}" srcOrd="0" destOrd="0" parTransId="{84992386-7C8D-48B7-B884-46FDF3FE23A8}" sibTransId="{05CD5624-F117-4C5E-AE0E-D072492AB155}"/>
    <dgm:cxn modelId="{86F9A529-2BE8-4728-80AD-0F58427A706D}" type="presOf" srcId="{0B3722E0-B687-407E-9064-3A1D8E28C427}" destId="{8ABD41FE-843A-4C6E-A9A0-1F84F7ADDAFF}" srcOrd="0" destOrd="0" presId="urn:microsoft.com/office/officeart/2005/8/layout/default"/>
    <dgm:cxn modelId="{B92E2F2A-B560-4F26-B33F-E42676962F1C}" type="presOf" srcId="{38A0EFBB-95FA-46C3-B261-CF49F8A9752B}" destId="{823CAD10-C4AF-46DB-AD3F-7E07E872DFC5}" srcOrd="0" destOrd="1" presId="urn:microsoft.com/office/officeart/2005/8/layout/default"/>
    <dgm:cxn modelId="{3A420031-8C7C-4CF2-968F-CC7BDA9D99E6}" srcId="{56B4E1B6-8830-4F05-BBE7-0CFA9EACA179}" destId="{64015A82-D259-47E5-96EA-48E5A8224BB1}" srcOrd="0" destOrd="0" parTransId="{44CC8A16-77FD-491A-A3CC-3C5272A8E565}" sibTransId="{7137BE78-F72E-40DD-9BDE-A03ABD83F37A}"/>
    <dgm:cxn modelId="{9DF53C61-88BB-4080-B8D9-557277BEACE4}" srcId="{56B4E1B6-8830-4F05-BBE7-0CFA9EACA179}" destId="{11215A79-14D7-4D35-9D78-7943D2374CE2}" srcOrd="2" destOrd="0" parTransId="{3D10E0AF-124E-4497-9269-6F7EC3EB1CF1}" sibTransId="{F9136166-3CC2-47A3-9B7D-C6D96E5722AF}"/>
    <dgm:cxn modelId="{6C2FBD48-3CDA-45EA-BF39-C65B423C76E7}" srcId="{56B4E1B6-8830-4F05-BBE7-0CFA9EACA179}" destId="{E3E358FE-BD5C-4267-87A0-0221D5235AB1}" srcOrd="1" destOrd="0" parTransId="{565120F8-D799-4AE2-BAE7-F72C0A8179D0}" sibTransId="{5573EB0E-21CD-4087-BBA4-353CE7895038}"/>
    <dgm:cxn modelId="{C6148F4A-5A51-44A6-91C1-CBD7FBADFE3A}" srcId="{0B3722E0-B687-407E-9064-3A1D8E28C427}" destId="{FE6EA876-3F0B-49E9-BAA8-43FCEC1DE8A5}" srcOrd="0" destOrd="0" parTransId="{BC26B032-0AFE-4563-BA90-B0F4EC1887B0}" sibTransId="{FB5047E8-7736-4EAD-8687-7561DD496064}"/>
    <dgm:cxn modelId="{C25F6D6C-CA33-4935-8FBD-99D106BCA29B}" type="presOf" srcId="{FE6EA876-3F0B-49E9-BAA8-43FCEC1DE8A5}" destId="{823CAD10-C4AF-46DB-AD3F-7E07E872DFC5}" srcOrd="0" destOrd="0" presId="urn:microsoft.com/office/officeart/2005/8/layout/default"/>
    <dgm:cxn modelId="{6CB4ED51-AB16-4582-BAF4-B7D0118976D9}" type="presOf" srcId="{11215A79-14D7-4D35-9D78-7943D2374CE2}" destId="{DEEC0BDB-5AE6-4BC0-B513-3FDED41E244F}" srcOrd="0" destOrd="3" presId="urn:microsoft.com/office/officeart/2005/8/layout/default"/>
    <dgm:cxn modelId="{99783975-C3FA-4E90-85E5-46E035DB164D}" type="presOf" srcId="{E3E358FE-BD5C-4267-87A0-0221D5235AB1}" destId="{DEEC0BDB-5AE6-4BC0-B513-3FDED41E244F}" srcOrd="0" destOrd="2" presId="urn:microsoft.com/office/officeart/2005/8/layout/default"/>
    <dgm:cxn modelId="{E2A5A259-0771-458C-8475-44C06D846A5A}" type="presOf" srcId="{56B4E1B6-8830-4F05-BBE7-0CFA9EACA179}" destId="{DEEC0BDB-5AE6-4BC0-B513-3FDED41E244F}" srcOrd="0" destOrd="0" presId="urn:microsoft.com/office/officeart/2005/8/layout/default"/>
    <dgm:cxn modelId="{623C3C5A-426C-4144-A898-5AD8C5EC8EE9}" type="presOf" srcId="{AD4759C1-FCB3-46C0-AC96-FFE6E9EB7A06}" destId="{823CAD10-C4AF-46DB-AD3F-7E07E872DFC5}" srcOrd="0" destOrd="3" presId="urn:microsoft.com/office/officeart/2005/8/layout/default"/>
    <dgm:cxn modelId="{1F34467B-078A-4A77-B268-D454E2DDB557}" type="presOf" srcId="{F167D09D-B793-4CDF-BCFD-C273B34D35E8}" destId="{96E689FB-88EF-4F3B-95B2-049F54BA2218}" srcOrd="0" destOrd="2" presId="urn:microsoft.com/office/officeart/2005/8/layout/default"/>
    <dgm:cxn modelId="{36AFE38E-5FD8-45DD-9574-8F75A61DDE83}" srcId="{FE6EA876-3F0B-49E9-BAA8-43FCEC1DE8A5}" destId="{AD4759C1-FCB3-46C0-AC96-FFE6E9EB7A06}" srcOrd="2" destOrd="0" parTransId="{30879876-1665-4E6B-A902-4335BF33A48D}" sibTransId="{00CD2B61-6069-4950-BD17-9D0E437C4947}"/>
    <dgm:cxn modelId="{BB9CAAA7-76C3-4ACE-8914-039B74F3731D}" type="presOf" srcId="{0443F8EB-5B17-4946-B49E-A6062788D899}" destId="{1166998C-12AE-4614-B088-D224DC828BB5}" srcOrd="0" destOrd="0" presId="urn:microsoft.com/office/officeart/2005/8/layout/default"/>
    <dgm:cxn modelId="{FDC31BAF-06FF-4F0B-B51A-CC8319F11437}" type="presOf" srcId="{FBFEA347-4C7D-442E-A334-0966250BACAC}" destId="{DEEC0BDB-5AE6-4BC0-B513-3FDED41E244F}" srcOrd="0" destOrd="4" presId="urn:microsoft.com/office/officeart/2005/8/layout/default"/>
    <dgm:cxn modelId="{AFC54DAF-7295-4549-88FD-566323604E33}" type="presOf" srcId="{44CB7DB3-1C3E-4F60-9951-6F45DDD20913}" destId="{96E689FB-88EF-4F3B-95B2-049F54BA2218}" srcOrd="0" destOrd="1" presId="urn:microsoft.com/office/officeart/2005/8/layout/default"/>
    <dgm:cxn modelId="{5B2413B8-6BDA-435D-B299-9EEB6E6631D8}" srcId="{0443F8EB-5B17-4946-B49E-A6062788D899}" destId="{333DD1DF-88AF-4C2F-A681-710CEE0D4286}" srcOrd="0" destOrd="0" parTransId="{E56F28CC-3094-434A-BC2E-FB2209613518}" sibTransId="{CFC1FA64-DD52-45EE-9634-1EE23A2DAAD1}"/>
    <dgm:cxn modelId="{B7AEEEB8-BD64-4071-BF16-F1C91E2F595C}" type="presOf" srcId="{B44589EE-E04A-44DD-A87A-7DABE4EFF3CC}" destId="{96E689FB-88EF-4F3B-95B2-049F54BA2218}" srcOrd="0" destOrd="0" presId="urn:microsoft.com/office/officeart/2005/8/layout/default"/>
    <dgm:cxn modelId="{2C1F0EBC-E268-4741-A91F-6636682AA440}" srcId="{FE6EA876-3F0B-49E9-BAA8-43FCEC1DE8A5}" destId="{05800EB6-FCE4-4ED5-B374-2FEB4D04847B}" srcOrd="1" destOrd="0" parTransId="{FF6DF1D6-C40C-47C7-9B83-DA9597612DB6}" sibTransId="{A5A03BD5-CD9C-4484-AA65-1041E2012A6D}"/>
    <dgm:cxn modelId="{5C65CBC6-B340-4852-8E3B-6DDA39548FAB}" type="presOf" srcId="{05800EB6-FCE4-4ED5-B374-2FEB4D04847B}" destId="{823CAD10-C4AF-46DB-AD3F-7E07E872DFC5}" srcOrd="0" destOrd="2" presId="urn:microsoft.com/office/officeart/2005/8/layout/default"/>
    <dgm:cxn modelId="{C4362DD8-733C-405E-9A86-6045170C2BEE}" srcId="{56B4E1B6-8830-4F05-BBE7-0CFA9EACA179}" destId="{FBFEA347-4C7D-442E-A334-0966250BACAC}" srcOrd="3" destOrd="0" parTransId="{2DD191FE-F6FB-4DB5-A758-2FCD49B555EB}" sibTransId="{C1AB96E3-5EAA-40E5-B294-0DF417096681}"/>
    <dgm:cxn modelId="{C0CBAEF1-2716-4C9D-BDE9-664A1BC57EF3}" type="presOf" srcId="{64015A82-D259-47E5-96EA-48E5A8224BB1}" destId="{DEEC0BDB-5AE6-4BC0-B513-3FDED41E244F}" srcOrd="0" destOrd="1" presId="urn:microsoft.com/office/officeart/2005/8/layout/default"/>
    <dgm:cxn modelId="{2F9FFFF3-384D-4740-BF42-AB1E7C5B4C40}" srcId="{0B3722E0-B687-407E-9064-3A1D8E28C427}" destId="{56B4E1B6-8830-4F05-BBE7-0CFA9EACA179}" srcOrd="3" destOrd="0" parTransId="{E63816AE-72D4-46E8-9F2F-7E6B76CD43CB}" sibTransId="{AC92D445-0198-4899-A944-50F62A497FCF}"/>
    <dgm:cxn modelId="{69E05AF4-685D-4D73-8D15-6C075311BAFF}" type="presOf" srcId="{333DD1DF-88AF-4C2F-A681-710CEE0D4286}" destId="{1166998C-12AE-4614-B088-D224DC828BB5}" srcOrd="0" destOrd="1" presId="urn:microsoft.com/office/officeart/2005/8/layout/default"/>
    <dgm:cxn modelId="{4E7F8F7B-86BE-4DCC-A4FD-D9CF3CA4562D}" type="presParOf" srcId="{8ABD41FE-843A-4C6E-A9A0-1F84F7ADDAFF}" destId="{823CAD10-C4AF-46DB-AD3F-7E07E872DFC5}" srcOrd="0" destOrd="0" presId="urn:microsoft.com/office/officeart/2005/8/layout/default"/>
    <dgm:cxn modelId="{A54339A6-6B0F-41F5-B273-16E18AE8CA8E}" type="presParOf" srcId="{8ABD41FE-843A-4C6E-A9A0-1F84F7ADDAFF}" destId="{38AEDE34-1B8E-4D92-B1F2-AB2A6A4E9208}" srcOrd="1" destOrd="0" presId="urn:microsoft.com/office/officeart/2005/8/layout/default"/>
    <dgm:cxn modelId="{745F8E92-C441-45B8-8763-6049A330BF50}" type="presParOf" srcId="{8ABD41FE-843A-4C6E-A9A0-1F84F7ADDAFF}" destId="{1166998C-12AE-4614-B088-D224DC828BB5}" srcOrd="2" destOrd="0" presId="urn:microsoft.com/office/officeart/2005/8/layout/default"/>
    <dgm:cxn modelId="{9B3A5D62-3C13-45B2-A425-836B745E66FD}" type="presParOf" srcId="{8ABD41FE-843A-4C6E-A9A0-1F84F7ADDAFF}" destId="{68ADAA7E-0CC7-463F-B68E-7EB6505CC2A6}" srcOrd="3" destOrd="0" presId="urn:microsoft.com/office/officeart/2005/8/layout/default"/>
    <dgm:cxn modelId="{9EC648A9-B111-48D8-A21F-3956F3EDB00F}" type="presParOf" srcId="{8ABD41FE-843A-4C6E-A9A0-1F84F7ADDAFF}" destId="{96E689FB-88EF-4F3B-95B2-049F54BA2218}" srcOrd="4" destOrd="0" presId="urn:microsoft.com/office/officeart/2005/8/layout/default"/>
    <dgm:cxn modelId="{4EBA4184-FE57-4886-B488-2FCE120D9C6E}" type="presParOf" srcId="{8ABD41FE-843A-4C6E-A9A0-1F84F7ADDAFF}" destId="{C952B244-D397-4344-8A4C-6472C04F325E}" srcOrd="5" destOrd="0" presId="urn:microsoft.com/office/officeart/2005/8/layout/default"/>
    <dgm:cxn modelId="{AECF9E7F-8045-48C2-A9A9-A74E5EE848B6}" type="presParOf" srcId="{8ABD41FE-843A-4C6E-A9A0-1F84F7ADDAFF}" destId="{DEEC0BDB-5AE6-4BC0-B513-3FDED41E244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88BF2A-1125-4176-A6D7-0B9B61B5FAA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B645AFC-89EE-40B2-A003-E890FC438729}">
      <dgm:prSet/>
      <dgm:spPr/>
      <dgm:t>
        <a:bodyPr/>
        <a:lstStyle/>
        <a:p>
          <a:r>
            <a:rPr lang="en-US">
              <a:latin typeface="Aptos"/>
            </a:rPr>
            <a:t>Handling Missing Data: Requires strategies like imputation or removal to maintain dataset integrity</a:t>
          </a:r>
        </a:p>
      </dgm:t>
    </dgm:pt>
    <dgm:pt modelId="{43A79F78-0413-4974-A1A9-927D6FA9775F}" type="parTrans" cxnId="{16F93743-CF6C-4665-AD91-305470540817}">
      <dgm:prSet/>
      <dgm:spPr/>
      <dgm:t>
        <a:bodyPr/>
        <a:lstStyle/>
        <a:p>
          <a:endParaRPr lang="en-US"/>
        </a:p>
      </dgm:t>
    </dgm:pt>
    <dgm:pt modelId="{662F08F9-6825-4F03-8A77-0EA0CB980503}" type="sibTrans" cxnId="{16F93743-CF6C-4665-AD91-305470540817}">
      <dgm:prSet/>
      <dgm:spPr/>
      <dgm:t>
        <a:bodyPr/>
        <a:lstStyle/>
        <a:p>
          <a:endParaRPr lang="en-US"/>
        </a:p>
      </dgm:t>
    </dgm:pt>
    <dgm:pt modelId="{B778D7C0-05D7-4EF3-AF52-F06CA2CB7220}">
      <dgm:prSet/>
      <dgm:spPr/>
      <dgm:t>
        <a:bodyPr/>
        <a:lstStyle/>
        <a:p>
          <a:r>
            <a:rPr lang="en-US">
              <a:latin typeface="Aptos"/>
            </a:rPr>
            <a:t>Balancing Data: Avoiding class imbalances in classification problems</a:t>
          </a:r>
        </a:p>
      </dgm:t>
    </dgm:pt>
    <dgm:pt modelId="{5E73CBF4-1D25-4276-8F68-7E8243DEAE94}" type="parTrans" cxnId="{7CBB0DA1-B59B-41C4-8F5C-635D370126AE}">
      <dgm:prSet/>
      <dgm:spPr/>
      <dgm:t>
        <a:bodyPr/>
        <a:lstStyle/>
        <a:p>
          <a:endParaRPr lang="en-US"/>
        </a:p>
      </dgm:t>
    </dgm:pt>
    <dgm:pt modelId="{4B46A6CE-6217-4691-B205-A76511DBF992}" type="sibTrans" cxnId="{7CBB0DA1-B59B-41C4-8F5C-635D370126AE}">
      <dgm:prSet/>
      <dgm:spPr/>
      <dgm:t>
        <a:bodyPr/>
        <a:lstStyle/>
        <a:p>
          <a:endParaRPr lang="en-US"/>
        </a:p>
      </dgm:t>
    </dgm:pt>
    <dgm:pt modelId="{A6A443CE-C0A1-47C2-8FB7-CE98866ADEBC}">
      <dgm:prSet/>
      <dgm:spPr/>
      <dgm:t>
        <a:bodyPr/>
        <a:lstStyle/>
        <a:p>
          <a:r>
            <a:rPr lang="en-US">
              <a:latin typeface="Aptos"/>
            </a:rPr>
            <a:t>Scaling Large Datasets: Efficiently managing extensive, high-dimensional data</a:t>
          </a:r>
        </a:p>
      </dgm:t>
    </dgm:pt>
    <dgm:pt modelId="{5F5ED20A-593E-404F-8D16-B3674E98CB14}" type="parTrans" cxnId="{1D58B451-B2B9-4914-B873-9EEDFADFE4CF}">
      <dgm:prSet/>
      <dgm:spPr/>
      <dgm:t>
        <a:bodyPr/>
        <a:lstStyle/>
        <a:p>
          <a:endParaRPr lang="en-US"/>
        </a:p>
      </dgm:t>
    </dgm:pt>
    <dgm:pt modelId="{2C64205D-45BA-45BB-A5CE-2ED96F278E89}" type="sibTrans" cxnId="{1D58B451-B2B9-4914-B873-9EEDFADFE4CF}">
      <dgm:prSet/>
      <dgm:spPr/>
      <dgm:t>
        <a:bodyPr/>
        <a:lstStyle/>
        <a:p>
          <a:endParaRPr lang="en-US"/>
        </a:p>
      </dgm:t>
    </dgm:pt>
    <dgm:pt modelId="{0A6D0DCC-65C7-4811-90EA-CC3E1EE6E697}">
      <dgm:prSet/>
      <dgm:spPr/>
      <dgm:t>
        <a:bodyPr/>
        <a:lstStyle/>
        <a:p>
          <a:r>
            <a:rPr lang="en-US">
              <a:latin typeface="Aptos"/>
            </a:rPr>
            <a:t>Data Privacy Concerns: Complying with data protection regulations like GDPR and CCPA</a:t>
          </a:r>
        </a:p>
      </dgm:t>
    </dgm:pt>
    <dgm:pt modelId="{FE79C54E-CC86-44A7-8B93-03D1D24599E8}" type="parTrans" cxnId="{FAA3A72B-FB1B-494E-A944-3DC027038D01}">
      <dgm:prSet/>
      <dgm:spPr/>
      <dgm:t>
        <a:bodyPr/>
        <a:lstStyle/>
        <a:p>
          <a:endParaRPr lang="en-US"/>
        </a:p>
      </dgm:t>
    </dgm:pt>
    <dgm:pt modelId="{E9008554-5A68-4109-9CE9-E35457682394}" type="sibTrans" cxnId="{FAA3A72B-FB1B-494E-A944-3DC027038D01}">
      <dgm:prSet/>
      <dgm:spPr/>
      <dgm:t>
        <a:bodyPr/>
        <a:lstStyle/>
        <a:p>
          <a:endParaRPr lang="en-US"/>
        </a:p>
      </dgm:t>
    </dgm:pt>
    <dgm:pt modelId="{5753911E-FE5B-452C-B498-6C8867DE1FB7}" type="pres">
      <dgm:prSet presAssocID="{8788BF2A-1125-4176-A6D7-0B9B61B5FAAE}" presName="root" presStyleCnt="0">
        <dgm:presLayoutVars>
          <dgm:dir/>
          <dgm:resizeHandles val="exact"/>
        </dgm:presLayoutVars>
      </dgm:prSet>
      <dgm:spPr/>
    </dgm:pt>
    <dgm:pt modelId="{D39EF156-3735-4187-8648-979BEBC5EE85}" type="pres">
      <dgm:prSet presAssocID="{AB645AFC-89EE-40B2-A003-E890FC438729}" presName="compNode" presStyleCnt="0"/>
      <dgm:spPr/>
    </dgm:pt>
    <dgm:pt modelId="{B86CC2BB-5219-42C8-B0CA-38B0C7970BCB}" type="pres">
      <dgm:prSet presAssocID="{AB645AFC-89EE-40B2-A003-E890FC438729}" presName="bgRect" presStyleLbl="bgShp" presStyleIdx="0" presStyleCnt="4"/>
      <dgm:spPr/>
    </dgm:pt>
    <dgm:pt modelId="{B9A6E7CA-6044-4677-B5D4-33111917AE20}" type="pres">
      <dgm:prSet presAssocID="{AB645AFC-89EE-40B2-A003-E890FC43872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F293BA7-292B-4017-AA74-5ECFD2CDACD1}" type="pres">
      <dgm:prSet presAssocID="{AB645AFC-89EE-40B2-A003-E890FC438729}" presName="spaceRect" presStyleCnt="0"/>
      <dgm:spPr/>
    </dgm:pt>
    <dgm:pt modelId="{36621203-37CF-4D7B-BBA8-2EBA6FD45748}" type="pres">
      <dgm:prSet presAssocID="{AB645AFC-89EE-40B2-A003-E890FC438729}" presName="parTx" presStyleLbl="revTx" presStyleIdx="0" presStyleCnt="4">
        <dgm:presLayoutVars>
          <dgm:chMax val="0"/>
          <dgm:chPref val="0"/>
        </dgm:presLayoutVars>
      </dgm:prSet>
      <dgm:spPr/>
    </dgm:pt>
    <dgm:pt modelId="{CDF3D0B4-B42F-4852-9D57-C39DA60F9BB5}" type="pres">
      <dgm:prSet presAssocID="{662F08F9-6825-4F03-8A77-0EA0CB980503}" presName="sibTrans" presStyleCnt="0"/>
      <dgm:spPr/>
    </dgm:pt>
    <dgm:pt modelId="{809F9BD3-530F-4B1D-81A1-DCCBFCA130CE}" type="pres">
      <dgm:prSet presAssocID="{B778D7C0-05D7-4EF3-AF52-F06CA2CB7220}" presName="compNode" presStyleCnt="0"/>
      <dgm:spPr/>
    </dgm:pt>
    <dgm:pt modelId="{F54303A6-EF94-45CC-A108-C3FA3C64160D}" type="pres">
      <dgm:prSet presAssocID="{B778D7C0-05D7-4EF3-AF52-F06CA2CB7220}" presName="bgRect" presStyleLbl="bgShp" presStyleIdx="1" presStyleCnt="4"/>
      <dgm:spPr/>
    </dgm:pt>
    <dgm:pt modelId="{7364FC19-36C6-4376-9C03-256F6AE2590C}" type="pres">
      <dgm:prSet presAssocID="{B778D7C0-05D7-4EF3-AF52-F06CA2CB722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C39EACF0-705B-4FF3-9824-45E283E18B65}" type="pres">
      <dgm:prSet presAssocID="{B778D7C0-05D7-4EF3-AF52-F06CA2CB7220}" presName="spaceRect" presStyleCnt="0"/>
      <dgm:spPr/>
    </dgm:pt>
    <dgm:pt modelId="{7D1DF3C0-5D66-42F3-978F-8932CA6AA3EF}" type="pres">
      <dgm:prSet presAssocID="{B778D7C0-05D7-4EF3-AF52-F06CA2CB7220}" presName="parTx" presStyleLbl="revTx" presStyleIdx="1" presStyleCnt="4">
        <dgm:presLayoutVars>
          <dgm:chMax val="0"/>
          <dgm:chPref val="0"/>
        </dgm:presLayoutVars>
      </dgm:prSet>
      <dgm:spPr/>
    </dgm:pt>
    <dgm:pt modelId="{4996774D-F4FC-4C84-8A5A-7E8F84B412E4}" type="pres">
      <dgm:prSet presAssocID="{4B46A6CE-6217-4691-B205-A76511DBF992}" presName="sibTrans" presStyleCnt="0"/>
      <dgm:spPr/>
    </dgm:pt>
    <dgm:pt modelId="{62656B8E-3012-428F-A339-EB752E89E9E3}" type="pres">
      <dgm:prSet presAssocID="{A6A443CE-C0A1-47C2-8FB7-CE98866ADEBC}" presName="compNode" presStyleCnt="0"/>
      <dgm:spPr/>
    </dgm:pt>
    <dgm:pt modelId="{41F7A329-348E-4F5D-920E-F7964271AEA1}" type="pres">
      <dgm:prSet presAssocID="{A6A443CE-C0A1-47C2-8FB7-CE98866ADEBC}" presName="bgRect" presStyleLbl="bgShp" presStyleIdx="2" presStyleCnt="4"/>
      <dgm:spPr/>
    </dgm:pt>
    <dgm:pt modelId="{8DAAB0C0-E9A8-4DF5-A068-76FC956367D3}" type="pres">
      <dgm:prSet presAssocID="{A6A443CE-C0A1-47C2-8FB7-CE98866ADEB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805D7A62-92DB-44C2-8AA8-77BE0BF0F017}" type="pres">
      <dgm:prSet presAssocID="{A6A443CE-C0A1-47C2-8FB7-CE98866ADEBC}" presName="spaceRect" presStyleCnt="0"/>
      <dgm:spPr/>
    </dgm:pt>
    <dgm:pt modelId="{B4CCE37A-747F-4DAD-8052-27984D20D446}" type="pres">
      <dgm:prSet presAssocID="{A6A443CE-C0A1-47C2-8FB7-CE98866ADEBC}" presName="parTx" presStyleLbl="revTx" presStyleIdx="2" presStyleCnt="4">
        <dgm:presLayoutVars>
          <dgm:chMax val="0"/>
          <dgm:chPref val="0"/>
        </dgm:presLayoutVars>
      </dgm:prSet>
      <dgm:spPr/>
    </dgm:pt>
    <dgm:pt modelId="{EF210356-2817-4518-9540-2AA7F707C728}" type="pres">
      <dgm:prSet presAssocID="{2C64205D-45BA-45BB-A5CE-2ED96F278E89}" presName="sibTrans" presStyleCnt="0"/>
      <dgm:spPr/>
    </dgm:pt>
    <dgm:pt modelId="{7963B71E-7759-413F-A0C9-58BA66AD5B83}" type="pres">
      <dgm:prSet presAssocID="{0A6D0DCC-65C7-4811-90EA-CC3E1EE6E697}" presName="compNode" presStyleCnt="0"/>
      <dgm:spPr/>
    </dgm:pt>
    <dgm:pt modelId="{4E105FE1-B62F-4158-A2B5-FB6C5E72ECA8}" type="pres">
      <dgm:prSet presAssocID="{0A6D0DCC-65C7-4811-90EA-CC3E1EE6E697}" presName="bgRect" presStyleLbl="bgShp" presStyleIdx="3" presStyleCnt="4"/>
      <dgm:spPr/>
    </dgm:pt>
    <dgm:pt modelId="{3E996F3C-FB30-4DEE-923E-FF473350D792}" type="pres">
      <dgm:prSet presAssocID="{0A6D0DCC-65C7-4811-90EA-CC3E1EE6E69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B57E188A-363B-4ECF-B011-85F121182F4B}" type="pres">
      <dgm:prSet presAssocID="{0A6D0DCC-65C7-4811-90EA-CC3E1EE6E697}" presName="spaceRect" presStyleCnt="0"/>
      <dgm:spPr/>
    </dgm:pt>
    <dgm:pt modelId="{1BFF5349-48B9-45D0-8947-01840B006FFC}" type="pres">
      <dgm:prSet presAssocID="{0A6D0DCC-65C7-4811-90EA-CC3E1EE6E697}" presName="parTx" presStyleLbl="revTx" presStyleIdx="3" presStyleCnt="4">
        <dgm:presLayoutVars>
          <dgm:chMax val="0"/>
          <dgm:chPref val="0"/>
        </dgm:presLayoutVars>
      </dgm:prSet>
      <dgm:spPr/>
    </dgm:pt>
  </dgm:ptLst>
  <dgm:cxnLst>
    <dgm:cxn modelId="{CA26FA0C-FE66-4177-8A94-78BA419E9752}" type="presOf" srcId="{0A6D0DCC-65C7-4811-90EA-CC3E1EE6E697}" destId="{1BFF5349-48B9-45D0-8947-01840B006FFC}" srcOrd="0" destOrd="0" presId="urn:microsoft.com/office/officeart/2018/2/layout/IconVerticalSolidList"/>
    <dgm:cxn modelId="{FAA3A72B-FB1B-494E-A944-3DC027038D01}" srcId="{8788BF2A-1125-4176-A6D7-0B9B61B5FAAE}" destId="{0A6D0DCC-65C7-4811-90EA-CC3E1EE6E697}" srcOrd="3" destOrd="0" parTransId="{FE79C54E-CC86-44A7-8B93-03D1D24599E8}" sibTransId="{E9008554-5A68-4109-9CE9-E35457682394}"/>
    <dgm:cxn modelId="{7F354B39-07D5-4A05-B92E-22A823D6E8A9}" type="presOf" srcId="{8788BF2A-1125-4176-A6D7-0B9B61B5FAAE}" destId="{5753911E-FE5B-452C-B498-6C8867DE1FB7}" srcOrd="0" destOrd="0" presId="urn:microsoft.com/office/officeart/2018/2/layout/IconVerticalSolidList"/>
    <dgm:cxn modelId="{16F93743-CF6C-4665-AD91-305470540817}" srcId="{8788BF2A-1125-4176-A6D7-0B9B61B5FAAE}" destId="{AB645AFC-89EE-40B2-A003-E890FC438729}" srcOrd="0" destOrd="0" parTransId="{43A79F78-0413-4974-A1A9-927D6FA9775F}" sibTransId="{662F08F9-6825-4F03-8A77-0EA0CB980503}"/>
    <dgm:cxn modelId="{1D58B451-B2B9-4914-B873-9EEDFADFE4CF}" srcId="{8788BF2A-1125-4176-A6D7-0B9B61B5FAAE}" destId="{A6A443CE-C0A1-47C2-8FB7-CE98866ADEBC}" srcOrd="2" destOrd="0" parTransId="{5F5ED20A-593E-404F-8D16-B3674E98CB14}" sibTransId="{2C64205D-45BA-45BB-A5CE-2ED96F278E89}"/>
    <dgm:cxn modelId="{0AA1449C-92AC-4C35-970E-FEAC33E45B8C}" type="presOf" srcId="{A6A443CE-C0A1-47C2-8FB7-CE98866ADEBC}" destId="{B4CCE37A-747F-4DAD-8052-27984D20D446}" srcOrd="0" destOrd="0" presId="urn:microsoft.com/office/officeart/2018/2/layout/IconVerticalSolidList"/>
    <dgm:cxn modelId="{7CBB0DA1-B59B-41C4-8F5C-635D370126AE}" srcId="{8788BF2A-1125-4176-A6D7-0B9B61B5FAAE}" destId="{B778D7C0-05D7-4EF3-AF52-F06CA2CB7220}" srcOrd="1" destOrd="0" parTransId="{5E73CBF4-1D25-4276-8F68-7E8243DEAE94}" sibTransId="{4B46A6CE-6217-4691-B205-A76511DBF992}"/>
    <dgm:cxn modelId="{585488D8-B720-4C27-9DB0-8DA26556E619}" type="presOf" srcId="{AB645AFC-89EE-40B2-A003-E890FC438729}" destId="{36621203-37CF-4D7B-BBA8-2EBA6FD45748}" srcOrd="0" destOrd="0" presId="urn:microsoft.com/office/officeart/2018/2/layout/IconVerticalSolidList"/>
    <dgm:cxn modelId="{C146CFEF-5C61-4FB2-A0BB-80894945419C}" type="presOf" srcId="{B778D7C0-05D7-4EF3-AF52-F06CA2CB7220}" destId="{7D1DF3C0-5D66-42F3-978F-8932CA6AA3EF}" srcOrd="0" destOrd="0" presId="urn:microsoft.com/office/officeart/2018/2/layout/IconVerticalSolidList"/>
    <dgm:cxn modelId="{953287C1-2CCC-4917-85B5-A97B861DF003}" type="presParOf" srcId="{5753911E-FE5B-452C-B498-6C8867DE1FB7}" destId="{D39EF156-3735-4187-8648-979BEBC5EE85}" srcOrd="0" destOrd="0" presId="urn:microsoft.com/office/officeart/2018/2/layout/IconVerticalSolidList"/>
    <dgm:cxn modelId="{6458C5F8-7F9E-43DF-B898-208BCD0503A9}" type="presParOf" srcId="{D39EF156-3735-4187-8648-979BEBC5EE85}" destId="{B86CC2BB-5219-42C8-B0CA-38B0C7970BCB}" srcOrd="0" destOrd="0" presId="urn:microsoft.com/office/officeart/2018/2/layout/IconVerticalSolidList"/>
    <dgm:cxn modelId="{D4B72C85-1A4E-4C76-8256-4DBF24D37967}" type="presParOf" srcId="{D39EF156-3735-4187-8648-979BEBC5EE85}" destId="{B9A6E7CA-6044-4677-B5D4-33111917AE20}" srcOrd="1" destOrd="0" presId="urn:microsoft.com/office/officeart/2018/2/layout/IconVerticalSolidList"/>
    <dgm:cxn modelId="{42075E33-80BA-4D34-B704-A10BF939E82F}" type="presParOf" srcId="{D39EF156-3735-4187-8648-979BEBC5EE85}" destId="{0F293BA7-292B-4017-AA74-5ECFD2CDACD1}" srcOrd="2" destOrd="0" presId="urn:microsoft.com/office/officeart/2018/2/layout/IconVerticalSolidList"/>
    <dgm:cxn modelId="{247DB6B5-C509-477C-B8BB-9C1A4C145FBB}" type="presParOf" srcId="{D39EF156-3735-4187-8648-979BEBC5EE85}" destId="{36621203-37CF-4D7B-BBA8-2EBA6FD45748}" srcOrd="3" destOrd="0" presId="urn:microsoft.com/office/officeart/2018/2/layout/IconVerticalSolidList"/>
    <dgm:cxn modelId="{10E29AF1-762D-402B-A179-D2D8F51E8F4F}" type="presParOf" srcId="{5753911E-FE5B-452C-B498-6C8867DE1FB7}" destId="{CDF3D0B4-B42F-4852-9D57-C39DA60F9BB5}" srcOrd="1" destOrd="0" presId="urn:microsoft.com/office/officeart/2018/2/layout/IconVerticalSolidList"/>
    <dgm:cxn modelId="{87FC2555-788B-417D-8A5B-F8182EAFF7ED}" type="presParOf" srcId="{5753911E-FE5B-452C-B498-6C8867DE1FB7}" destId="{809F9BD3-530F-4B1D-81A1-DCCBFCA130CE}" srcOrd="2" destOrd="0" presId="urn:microsoft.com/office/officeart/2018/2/layout/IconVerticalSolidList"/>
    <dgm:cxn modelId="{62F36639-7EF3-4BF6-8A11-1DA4CE63BDC7}" type="presParOf" srcId="{809F9BD3-530F-4B1D-81A1-DCCBFCA130CE}" destId="{F54303A6-EF94-45CC-A108-C3FA3C64160D}" srcOrd="0" destOrd="0" presId="urn:microsoft.com/office/officeart/2018/2/layout/IconVerticalSolidList"/>
    <dgm:cxn modelId="{AF6131D0-3311-402D-BE9D-1F1B4F34F67F}" type="presParOf" srcId="{809F9BD3-530F-4B1D-81A1-DCCBFCA130CE}" destId="{7364FC19-36C6-4376-9C03-256F6AE2590C}" srcOrd="1" destOrd="0" presId="urn:microsoft.com/office/officeart/2018/2/layout/IconVerticalSolidList"/>
    <dgm:cxn modelId="{3D3EC07A-8B16-4B28-96F3-3D2C4B29DDD9}" type="presParOf" srcId="{809F9BD3-530F-4B1D-81A1-DCCBFCA130CE}" destId="{C39EACF0-705B-4FF3-9824-45E283E18B65}" srcOrd="2" destOrd="0" presId="urn:microsoft.com/office/officeart/2018/2/layout/IconVerticalSolidList"/>
    <dgm:cxn modelId="{B166A09F-7C6A-4477-B70A-09AF4841A84C}" type="presParOf" srcId="{809F9BD3-530F-4B1D-81A1-DCCBFCA130CE}" destId="{7D1DF3C0-5D66-42F3-978F-8932CA6AA3EF}" srcOrd="3" destOrd="0" presId="urn:microsoft.com/office/officeart/2018/2/layout/IconVerticalSolidList"/>
    <dgm:cxn modelId="{93A23E4F-F650-47FE-AFC6-D3242A9E0247}" type="presParOf" srcId="{5753911E-FE5B-452C-B498-6C8867DE1FB7}" destId="{4996774D-F4FC-4C84-8A5A-7E8F84B412E4}" srcOrd="3" destOrd="0" presId="urn:microsoft.com/office/officeart/2018/2/layout/IconVerticalSolidList"/>
    <dgm:cxn modelId="{D92AEC20-FD09-407A-A9A2-7EEAC2408210}" type="presParOf" srcId="{5753911E-FE5B-452C-B498-6C8867DE1FB7}" destId="{62656B8E-3012-428F-A339-EB752E89E9E3}" srcOrd="4" destOrd="0" presId="urn:microsoft.com/office/officeart/2018/2/layout/IconVerticalSolidList"/>
    <dgm:cxn modelId="{03D497FD-9751-4536-998D-A973ACC3FDF0}" type="presParOf" srcId="{62656B8E-3012-428F-A339-EB752E89E9E3}" destId="{41F7A329-348E-4F5D-920E-F7964271AEA1}" srcOrd="0" destOrd="0" presId="urn:microsoft.com/office/officeart/2018/2/layout/IconVerticalSolidList"/>
    <dgm:cxn modelId="{03821445-CCC5-4453-849D-04BEC493718E}" type="presParOf" srcId="{62656B8E-3012-428F-A339-EB752E89E9E3}" destId="{8DAAB0C0-E9A8-4DF5-A068-76FC956367D3}" srcOrd="1" destOrd="0" presId="urn:microsoft.com/office/officeart/2018/2/layout/IconVerticalSolidList"/>
    <dgm:cxn modelId="{B248090D-9DD2-4A3D-A636-A87AA6B3FD13}" type="presParOf" srcId="{62656B8E-3012-428F-A339-EB752E89E9E3}" destId="{805D7A62-92DB-44C2-8AA8-77BE0BF0F017}" srcOrd="2" destOrd="0" presId="urn:microsoft.com/office/officeart/2018/2/layout/IconVerticalSolidList"/>
    <dgm:cxn modelId="{268A7386-BCC0-45C6-BC7C-A11A1D8BF441}" type="presParOf" srcId="{62656B8E-3012-428F-A339-EB752E89E9E3}" destId="{B4CCE37A-747F-4DAD-8052-27984D20D446}" srcOrd="3" destOrd="0" presId="urn:microsoft.com/office/officeart/2018/2/layout/IconVerticalSolidList"/>
    <dgm:cxn modelId="{E1D37E19-77F7-4EB1-8796-BA446E9C2C39}" type="presParOf" srcId="{5753911E-FE5B-452C-B498-6C8867DE1FB7}" destId="{EF210356-2817-4518-9540-2AA7F707C728}" srcOrd="5" destOrd="0" presId="urn:microsoft.com/office/officeart/2018/2/layout/IconVerticalSolidList"/>
    <dgm:cxn modelId="{3845FBCE-031D-4246-ABE9-86A354D55301}" type="presParOf" srcId="{5753911E-FE5B-452C-B498-6C8867DE1FB7}" destId="{7963B71E-7759-413F-A0C9-58BA66AD5B83}" srcOrd="6" destOrd="0" presId="urn:microsoft.com/office/officeart/2018/2/layout/IconVerticalSolidList"/>
    <dgm:cxn modelId="{2AF914FA-4EB7-488E-80F6-129695993BEE}" type="presParOf" srcId="{7963B71E-7759-413F-A0C9-58BA66AD5B83}" destId="{4E105FE1-B62F-4158-A2B5-FB6C5E72ECA8}" srcOrd="0" destOrd="0" presId="urn:microsoft.com/office/officeart/2018/2/layout/IconVerticalSolidList"/>
    <dgm:cxn modelId="{097A175A-267C-48DF-B3EB-DD51231E74EE}" type="presParOf" srcId="{7963B71E-7759-413F-A0C9-58BA66AD5B83}" destId="{3E996F3C-FB30-4DEE-923E-FF473350D792}" srcOrd="1" destOrd="0" presId="urn:microsoft.com/office/officeart/2018/2/layout/IconVerticalSolidList"/>
    <dgm:cxn modelId="{08E60067-95B4-47DE-8907-9FB12FCB5165}" type="presParOf" srcId="{7963B71E-7759-413F-A0C9-58BA66AD5B83}" destId="{B57E188A-363B-4ECF-B011-85F121182F4B}" srcOrd="2" destOrd="0" presId="urn:microsoft.com/office/officeart/2018/2/layout/IconVerticalSolidList"/>
    <dgm:cxn modelId="{96DFD752-922D-427F-A2F2-8BAEB76BF184}" type="presParOf" srcId="{7963B71E-7759-413F-A0C9-58BA66AD5B83}" destId="{1BFF5349-48B9-45D0-8947-01840B006FF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1D302D3-79B9-415D-AD46-D36C4F65D284}"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1336B5BC-4006-4ADC-A129-FFE6A79D8716}">
      <dgm:prSet/>
      <dgm:spPr/>
      <dgm:t>
        <a:bodyPr/>
        <a:lstStyle/>
        <a:p>
          <a:pPr>
            <a:lnSpc>
              <a:spcPct val="100000"/>
            </a:lnSpc>
          </a:pPr>
          <a:r>
            <a:rPr lang="en-US"/>
            <a:t>Preprocessing is essential for deep learning success  </a:t>
          </a:r>
        </a:p>
      </dgm:t>
    </dgm:pt>
    <dgm:pt modelId="{54CF3F22-9075-4383-9E8F-FE8FD5F2FD86}" type="parTrans" cxnId="{3C7E3C7C-BFF2-4825-96D7-EB1DEC7CF5C3}">
      <dgm:prSet/>
      <dgm:spPr/>
      <dgm:t>
        <a:bodyPr/>
        <a:lstStyle/>
        <a:p>
          <a:endParaRPr lang="en-US"/>
        </a:p>
      </dgm:t>
    </dgm:pt>
    <dgm:pt modelId="{C2DB10BC-13F4-4C6B-8B25-8709CC3EF62C}" type="sibTrans" cxnId="{3C7E3C7C-BFF2-4825-96D7-EB1DEC7CF5C3}">
      <dgm:prSet phldrT="01"/>
      <dgm:spPr/>
      <dgm:t>
        <a:bodyPr/>
        <a:lstStyle/>
        <a:p>
          <a:endParaRPr lang="en-US"/>
        </a:p>
      </dgm:t>
    </dgm:pt>
    <dgm:pt modelId="{9236A208-17AE-4590-9239-6C8F2B6C0D13}">
      <dgm:prSet/>
      <dgm:spPr/>
      <dgm:t>
        <a:bodyPr/>
        <a:lstStyle/>
        <a:p>
          <a:pPr>
            <a:lnSpc>
              <a:spcPct val="100000"/>
            </a:lnSpc>
          </a:pPr>
          <a:r>
            <a:rPr lang="en-US"/>
            <a:t>Different data types require different strategies  </a:t>
          </a:r>
        </a:p>
      </dgm:t>
    </dgm:pt>
    <dgm:pt modelId="{7167DB19-CEF4-44D2-9D27-A132BDDE0F9D}" type="parTrans" cxnId="{60574CDC-49D5-48DA-91E1-C75CBC0A0D3D}">
      <dgm:prSet/>
      <dgm:spPr/>
      <dgm:t>
        <a:bodyPr/>
        <a:lstStyle/>
        <a:p>
          <a:endParaRPr lang="en-US"/>
        </a:p>
      </dgm:t>
    </dgm:pt>
    <dgm:pt modelId="{89C41669-4CB0-46C3-92A3-6EE7F2CA995A}" type="sibTrans" cxnId="{60574CDC-49D5-48DA-91E1-C75CBC0A0D3D}">
      <dgm:prSet phldrT="02"/>
      <dgm:spPr/>
      <dgm:t>
        <a:bodyPr/>
        <a:lstStyle/>
        <a:p>
          <a:endParaRPr lang="en-US"/>
        </a:p>
      </dgm:t>
    </dgm:pt>
    <dgm:pt modelId="{893CFBCE-C5AA-46CA-BCE0-5217C4117AE8}">
      <dgm:prSet/>
      <dgm:spPr/>
      <dgm:t>
        <a:bodyPr/>
        <a:lstStyle/>
        <a:p>
          <a:pPr>
            <a:lnSpc>
              <a:spcPct val="100000"/>
            </a:lnSpc>
          </a:pPr>
          <a:r>
            <a:rPr lang="en-US"/>
            <a:t>Tools streamline workflows  </a:t>
          </a:r>
        </a:p>
      </dgm:t>
    </dgm:pt>
    <dgm:pt modelId="{C28F5A2E-1A98-446C-BD2B-7A2E76F9B9A9}" type="parTrans" cxnId="{AAE69AC2-6ABE-4DC1-A9FA-ABC34750BF85}">
      <dgm:prSet/>
      <dgm:spPr/>
      <dgm:t>
        <a:bodyPr/>
        <a:lstStyle/>
        <a:p>
          <a:endParaRPr lang="en-US"/>
        </a:p>
      </dgm:t>
    </dgm:pt>
    <dgm:pt modelId="{F90C6E71-8517-44C9-B864-8A0F8E7D09FF}" type="sibTrans" cxnId="{AAE69AC2-6ABE-4DC1-A9FA-ABC34750BF85}">
      <dgm:prSet phldrT="03"/>
      <dgm:spPr/>
      <dgm:t>
        <a:bodyPr/>
        <a:lstStyle/>
        <a:p>
          <a:endParaRPr lang="en-US"/>
        </a:p>
      </dgm:t>
    </dgm:pt>
    <dgm:pt modelId="{167AD034-6A60-4D9E-A275-A52208322002}">
      <dgm:prSet/>
      <dgm:spPr/>
      <dgm:t>
        <a:bodyPr/>
        <a:lstStyle/>
        <a:p>
          <a:pPr>
            <a:lnSpc>
              <a:spcPct val="100000"/>
            </a:lnSpc>
          </a:pPr>
          <a:r>
            <a:rPr lang="en-US"/>
            <a:t>Best practices prevent instability  </a:t>
          </a:r>
        </a:p>
      </dgm:t>
    </dgm:pt>
    <dgm:pt modelId="{A01A982D-1FFA-4EF4-BC7D-693DCF44FA85}" type="parTrans" cxnId="{E23C1A66-7568-403D-94E1-6A8516A2721E}">
      <dgm:prSet/>
      <dgm:spPr/>
      <dgm:t>
        <a:bodyPr/>
        <a:lstStyle/>
        <a:p>
          <a:endParaRPr lang="en-US"/>
        </a:p>
      </dgm:t>
    </dgm:pt>
    <dgm:pt modelId="{C662BF81-E032-4C8E-8950-15DFF1C0DED7}" type="sibTrans" cxnId="{E23C1A66-7568-403D-94E1-6A8516A2721E}">
      <dgm:prSet phldrT="04"/>
      <dgm:spPr/>
      <dgm:t>
        <a:bodyPr/>
        <a:lstStyle/>
        <a:p>
          <a:endParaRPr lang="en-US"/>
        </a:p>
      </dgm:t>
    </dgm:pt>
    <dgm:pt modelId="{715A7258-F7CC-4453-8F60-E86F7BAB2BC4}">
      <dgm:prSet/>
      <dgm:spPr/>
      <dgm:t>
        <a:bodyPr/>
        <a:lstStyle/>
        <a:p>
          <a:pPr>
            <a:lnSpc>
              <a:spcPct val="100000"/>
            </a:lnSpc>
          </a:pPr>
          <a:r>
            <a:rPr lang="en-US"/>
            <a:t>Trends point toward automation  </a:t>
          </a:r>
        </a:p>
      </dgm:t>
    </dgm:pt>
    <dgm:pt modelId="{E05BDA13-A7BF-414E-A150-1E51FF46ECB6}" type="parTrans" cxnId="{4FA7332C-4649-4A3F-B3A7-1B6D7D232AF5}">
      <dgm:prSet/>
      <dgm:spPr/>
      <dgm:t>
        <a:bodyPr/>
        <a:lstStyle/>
        <a:p>
          <a:endParaRPr lang="en-US"/>
        </a:p>
      </dgm:t>
    </dgm:pt>
    <dgm:pt modelId="{AAC108FC-8233-484D-9B47-D30E16A76400}" type="sibTrans" cxnId="{4FA7332C-4649-4A3F-B3A7-1B6D7D232AF5}">
      <dgm:prSet phldrT="05"/>
      <dgm:spPr/>
      <dgm:t>
        <a:bodyPr/>
        <a:lstStyle/>
        <a:p>
          <a:endParaRPr lang="en-US"/>
        </a:p>
      </dgm:t>
    </dgm:pt>
    <dgm:pt modelId="{7D981979-A982-4CEF-A2BF-A7CFDE94BE44}" type="pres">
      <dgm:prSet presAssocID="{51D302D3-79B9-415D-AD46-D36C4F65D284}" presName="root" presStyleCnt="0">
        <dgm:presLayoutVars>
          <dgm:dir/>
          <dgm:resizeHandles val="exact"/>
        </dgm:presLayoutVars>
      </dgm:prSet>
      <dgm:spPr/>
    </dgm:pt>
    <dgm:pt modelId="{92EF633C-36A5-4EC6-96CD-925C3880D126}" type="pres">
      <dgm:prSet presAssocID="{1336B5BC-4006-4ADC-A129-FFE6A79D8716}" presName="compNode" presStyleCnt="0"/>
      <dgm:spPr/>
    </dgm:pt>
    <dgm:pt modelId="{DF841A0C-36E0-421C-97FC-49DEBBCFE75A}" type="pres">
      <dgm:prSet presAssocID="{1336B5BC-4006-4ADC-A129-FFE6A79D871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47148A38-1C55-431D-B10A-C8B10199BBDB}" type="pres">
      <dgm:prSet presAssocID="{1336B5BC-4006-4ADC-A129-FFE6A79D8716}" presName="spaceRect" presStyleCnt="0"/>
      <dgm:spPr/>
    </dgm:pt>
    <dgm:pt modelId="{7A9401E6-97A9-4B67-84F3-C9AA3BA25798}" type="pres">
      <dgm:prSet presAssocID="{1336B5BC-4006-4ADC-A129-FFE6A79D8716}" presName="textRect" presStyleLbl="revTx" presStyleIdx="0" presStyleCnt="5">
        <dgm:presLayoutVars>
          <dgm:chMax val="1"/>
          <dgm:chPref val="1"/>
        </dgm:presLayoutVars>
      </dgm:prSet>
      <dgm:spPr/>
    </dgm:pt>
    <dgm:pt modelId="{B81D72BA-2B81-4D73-A8CE-8D40F8F3E9DE}" type="pres">
      <dgm:prSet presAssocID="{C2DB10BC-13F4-4C6B-8B25-8709CC3EF62C}" presName="sibTrans" presStyleCnt="0"/>
      <dgm:spPr/>
    </dgm:pt>
    <dgm:pt modelId="{34E70EC8-2612-44A9-B1C4-6DF4CF531F8B}" type="pres">
      <dgm:prSet presAssocID="{9236A208-17AE-4590-9239-6C8F2B6C0D13}" presName="compNode" presStyleCnt="0"/>
      <dgm:spPr/>
    </dgm:pt>
    <dgm:pt modelId="{26DDA3E8-79EE-4446-9CD4-2ED65346A19D}" type="pres">
      <dgm:prSet presAssocID="{9236A208-17AE-4590-9239-6C8F2B6C0D1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463BB6A-57D0-4E69-9FEC-1B4B90F3F447}" type="pres">
      <dgm:prSet presAssocID="{9236A208-17AE-4590-9239-6C8F2B6C0D13}" presName="spaceRect" presStyleCnt="0"/>
      <dgm:spPr/>
    </dgm:pt>
    <dgm:pt modelId="{61EBE2D3-9A7B-4058-9F1B-AF66CA23497B}" type="pres">
      <dgm:prSet presAssocID="{9236A208-17AE-4590-9239-6C8F2B6C0D13}" presName="textRect" presStyleLbl="revTx" presStyleIdx="1" presStyleCnt="5">
        <dgm:presLayoutVars>
          <dgm:chMax val="1"/>
          <dgm:chPref val="1"/>
        </dgm:presLayoutVars>
      </dgm:prSet>
      <dgm:spPr/>
    </dgm:pt>
    <dgm:pt modelId="{E9EB8C14-6AB9-4DD4-9391-ED67A950EABB}" type="pres">
      <dgm:prSet presAssocID="{89C41669-4CB0-46C3-92A3-6EE7F2CA995A}" presName="sibTrans" presStyleCnt="0"/>
      <dgm:spPr/>
    </dgm:pt>
    <dgm:pt modelId="{9617F3AC-A030-412A-AC8E-DC9D25E65E1A}" type="pres">
      <dgm:prSet presAssocID="{893CFBCE-C5AA-46CA-BCE0-5217C4117AE8}" presName="compNode" presStyleCnt="0"/>
      <dgm:spPr/>
    </dgm:pt>
    <dgm:pt modelId="{3D9DDF19-D3C4-4BF6-A7D2-C1CB40C056AF}" type="pres">
      <dgm:prSet presAssocID="{893CFBCE-C5AA-46CA-BCE0-5217C4117AE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3C923146-9BEF-47C7-9541-DEF338C590AA}" type="pres">
      <dgm:prSet presAssocID="{893CFBCE-C5AA-46CA-BCE0-5217C4117AE8}" presName="spaceRect" presStyleCnt="0"/>
      <dgm:spPr/>
    </dgm:pt>
    <dgm:pt modelId="{712A6010-D0C4-4F36-B215-187FC3AC2A76}" type="pres">
      <dgm:prSet presAssocID="{893CFBCE-C5AA-46CA-BCE0-5217C4117AE8}" presName="textRect" presStyleLbl="revTx" presStyleIdx="2" presStyleCnt="5">
        <dgm:presLayoutVars>
          <dgm:chMax val="1"/>
          <dgm:chPref val="1"/>
        </dgm:presLayoutVars>
      </dgm:prSet>
      <dgm:spPr/>
    </dgm:pt>
    <dgm:pt modelId="{BBB87EE7-A3D6-499B-BFC1-3532040D703E}" type="pres">
      <dgm:prSet presAssocID="{F90C6E71-8517-44C9-B864-8A0F8E7D09FF}" presName="sibTrans" presStyleCnt="0"/>
      <dgm:spPr/>
    </dgm:pt>
    <dgm:pt modelId="{3B66B115-08EA-4D78-84DE-2B8D2E431AF1}" type="pres">
      <dgm:prSet presAssocID="{167AD034-6A60-4D9E-A275-A52208322002}" presName="compNode" presStyleCnt="0"/>
      <dgm:spPr/>
    </dgm:pt>
    <dgm:pt modelId="{D8E2F37C-A821-4F6A-BC44-C7C84AAE5713}" type="pres">
      <dgm:prSet presAssocID="{167AD034-6A60-4D9E-A275-A5220832200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D5C1D476-25D5-4E59-A278-31F49F03745B}" type="pres">
      <dgm:prSet presAssocID="{167AD034-6A60-4D9E-A275-A52208322002}" presName="spaceRect" presStyleCnt="0"/>
      <dgm:spPr/>
    </dgm:pt>
    <dgm:pt modelId="{5B5243E4-9BB3-4E06-A139-88E5A311FADE}" type="pres">
      <dgm:prSet presAssocID="{167AD034-6A60-4D9E-A275-A52208322002}" presName="textRect" presStyleLbl="revTx" presStyleIdx="3" presStyleCnt="5">
        <dgm:presLayoutVars>
          <dgm:chMax val="1"/>
          <dgm:chPref val="1"/>
        </dgm:presLayoutVars>
      </dgm:prSet>
      <dgm:spPr/>
    </dgm:pt>
    <dgm:pt modelId="{32188600-9CA3-463A-8388-CECD2CA06C39}" type="pres">
      <dgm:prSet presAssocID="{C662BF81-E032-4C8E-8950-15DFF1C0DED7}" presName="sibTrans" presStyleCnt="0"/>
      <dgm:spPr/>
    </dgm:pt>
    <dgm:pt modelId="{610D34F2-B7B4-4943-9FB2-138A60A0C40C}" type="pres">
      <dgm:prSet presAssocID="{715A7258-F7CC-4453-8F60-E86F7BAB2BC4}" presName="compNode" presStyleCnt="0"/>
      <dgm:spPr/>
    </dgm:pt>
    <dgm:pt modelId="{3BA58360-FB3F-409E-ADDA-A8DB4CC26EA4}" type="pres">
      <dgm:prSet presAssocID="{715A7258-F7CC-4453-8F60-E86F7BAB2BC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2979FF56-947F-4F6B-B7DD-DC92181DC6DA}" type="pres">
      <dgm:prSet presAssocID="{715A7258-F7CC-4453-8F60-E86F7BAB2BC4}" presName="spaceRect" presStyleCnt="0"/>
      <dgm:spPr/>
    </dgm:pt>
    <dgm:pt modelId="{769ACEE4-5022-4C8F-858F-A239500C5202}" type="pres">
      <dgm:prSet presAssocID="{715A7258-F7CC-4453-8F60-E86F7BAB2BC4}" presName="textRect" presStyleLbl="revTx" presStyleIdx="4" presStyleCnt="5">
        <dgm:presLayoutVars>
          <dgm:chMax val="1"/>
          <dgm:chPref val="1"/>
        </dgm:presLayoutVars>
      </dgm:prSet>
      <dgm:spPr/>
    </dgm:pt>
  </dgm:ptLst>
  <dgm:cxnLst>
    <dgm:cxn modelId="{AB6C1D0C-FB79-4206-953F-6442AC03C8A1}" type="presOf" srcId="{9236A208-17AE-4590-9239-6C8F2B6C0D13}" destId="{61EBE2D3-9A7B-4058-9F1B-AF66CA23497B}" srcOrd="0" destOrd="0" presId="urn:microsoft.com/office/officeart/2018/2/layout/IconLabelList"/>
    <dgm:cxn modelId="{4FA7332C-4649-4A3F-B3A7-1B6D7D232AF5}" srcId="{51D302D3-79B9-415D-AD46-D36C4F65D284}" destId="{715A7258-F7CC-4453-8F60-E86F7BAB2BC4}" srcOrd="4" destOrd="0" parTransId="{E05BDA13-A7BF-414E-A150-1E51FF46ECB6}" sibTransId="{AAC108FC-8233-484D-9B47-D30E16A76400}"/>
    <dgm:cxn modelId="{E23C1A66-7568-403D-94E1-6A8516A2721E}" srcId="{51D302D3-79B9-415D-AD46-D36C4F65D284}" destId="{167AD034-6A60-4D9E-A275-A52208322002}" srcOrd="3" destOrd="0" parTransId="{A01A982D-1FFA-4EF4-BC7D-693DCF44FA85}" sibTransId="{C662BF81-E032-4C8E-8950-15DFF1C0DED7}"/>
    <dgm:cxn modelId="{A8918B67-8A33-4081-A05E-F5225F574B65}" type="presOf" srcId="{1336B5BC-4006-4ADC-A129-FFE6A79D8716}" destId="{7A9401E6-97A9-4B67-84F3-C9AA3BA25798}" srcOrd="0" destOrd="0" presId="urn:microsoft.com/office/officeart/2018/2/layout/IconLabelList"/>
    <dgm:cxn modelId="{B2372448-E991-4AC7-8D20-E41E644278C9}" type="presOf" srcId="{715A7258-F7CC-4453-8F60-E86F7BAB2BC4}" destId="{769ACEE4-5022-4C8F-858F-A239500C5202}" srcOrd="0" destOrd="0" presId="urn:microsoft.com/office/officeart/2018/2/layout/IconLabelList"/>
    <dgm:cxn modelId="{3C7E3C7C-BFF2-4825-96D7-EB1DEC7CF5C3}" srcId="{51D302D3-79B9-415D-AD46-D36C4F65D284}" destId="{1336B5BC-4006-4ADC-A129-FFE6A79D8716}" srcOrd="0" destOrd="0" parTransId="{54CF3F22-9075-4383-9E8F-FE8FD5F2FD86}" sibTransId="{C2DB10BC-13F4-4C6B-8B25-8709CC3EF62C}"/>
    <dgm:cxn modelId="{AA65949D-EE1D-44C3-9930-8A5F090418F1}" type="presOf" srcId="{167AD034-6A60-4D9E-A275-A52208322002}" destId="{5B5243E4-9BB3-4E06-A139-88E5A311FADE}" srcOrd="0" destOrd="0" presId="urn:microsoft.com/office/officeart/2018/2/layout/IconLabelList"/>
    <dgm:cxn modelId="{23E9E3A8-2260-41EF-BE6B-7D0B5D03FED0}" type="presOf" srcId="{51D302D3-79B9-415D-AD46-D36C4F65D284}" destId="{7D981979-A982-4CEF-A2BF-A7CFDE94BE44}" srcOrd="0" destOrd="0" presId="urn:microsoft.com/office/officeart/2018/2/layout/IconLabelList"/>
    <dgm:cxn modelId="{AAE69AC2-6ABE-4DC1-A9FA-ABC34750BF85}" srcId="{51D302D3-79B9-415D-AD46-D36C4F65D284}" destId="{893CFBCE-C5AA-46CA-BCE0-5217C4117AE8}" srcOrd="2" destOrd="0" parTransId="{C28F5A2E-1A98-446C-BD2B-7A2E76F9B9A9}" sibTransId="{F90C6E71-8517-44C9-B864-8A0F8E7D09FF}"/>
    <dgm:cxn modelId="{60574CDC-49D5-48DA-91E1-C75CBC0A0D3D}" srcId="{51D302D3-79B9-415D-AD46-D36C4F65D284}" destId="{9236A208-17AE-4590-9239-6C8F2B6C0D13}" srcOrd="1" destOrd="0" parTransId="{7167DB19-CEF4-44D2-9D27-A132BDDE0F9D}" sibTransId="{89C41669-4CB0-46C3-92A3-6EE7F2CA995A}"/>
    <dgm:cxn modelId="{6B649FFA-9D42-4EF7-843E-DF1D48173746}" type="presOf" srcId="{893CFBCE-C5AA-46CA-BCE0-5217C4117AE8}" destId="{712A6010-D0C4-4F36-B215-187FC3AC2A76}" srcOrd="0" destOrd="0" presId="urn:microsoft.com/office/officeart/2018/2/layout/IconLabelList"/>
    <dgm:cxn modelId="{C8676E5E-4106-4E2D-89F8-32E7B7830D05}" type="presParOf" srcId="{7D981979-A982-4CEF-A2BF-A7CFDE94BE44}" destId="{92EF633C-36A5-4EC6-96CD-925C3880D126}" srcOrd="0" destOrd="0" presId="urn:microsoft.com/office/officeart/2018/2/layout/IconLabelList"/>
    <dgm:cxn modelId="{51FE4F89-5E4A-4E87-A45E-741C0CD49F57}" type="presParOf" srcId="{92EF633C-36A5-4EC6-96CD-925C3880D126}" destId="{DF841A0C-36E0-421C-97FC-49DEBBCFE75A}" srcOrd="0" destOrd="0" presId="urn:microsoft.com/office/officeart/2018/2/layout/IconLabelList"/>
    <dgm:cxn modelId="{F1AF7EE0-CB79-4831-B65E-51331DC24936}" type="presParOf" srcId="{92EF633C-36A5-4EC6-96CD-925C3880D126}" destId="{47148A38-1C55-431D-B10A-C8B10199BBDB}" srcOrd="1" destOrd="0" presId="urn:microsoft.com/office/officeart/2018/2/layout/IconLabelList"/>
    <dgm:cxn modelId="{74C53901-8E59-48C6-B89F-A3B74935AF27}" type="presParOf" srcId="{92EF633C-36A5-4EC6-96CD-925C3880D126}" destId="{7A9401E6-97A9-4B67-84F3-C9AA3BA25798}" srcOrd="2" destOrd="0" presId="urn:microsoft.com/office/officeart/2018/2/layout/IconLabelList"/>
    <dgm:cxn modelId="{FA761FB0-CD6E-447B-B400-AE176F7D6A71}" type="presParOf" srcId="{7D981979-A982-4CEF-A2BF-A7CFDE94BE44}" destId="{B81D72BA-2B81-4D73-A8CE-8D40F8F3E9DE}" srcOrd="1" destOrd="0" presId="urn:microsoft.com/office/officeart/2018/2/layout/IconLabelList"/>
    <dgm:cxn modelId="{B08371B8-BDA0-40E6-978F-142A43E4A395}" type="presParOf" srcId="{7D981979-A982-4CEF-A2BF-A7CFDE94BE44}" destId="{34E70EC8-2612-44A9-B1C4-6DF4CF531F8B}" srcOrd="2" destOrd="0" presId="urn:microsoft.com/office/officeart/2018/2/layout/IconLabelList"/>
    <dgm:cxn modelId="{70F44DB6-AE85-4F81-A601-6F7975066624}" type="presParOf" srcId="{34E70EC8-2612-44A9-B1C4-6DF4CF531F8B}" destId="{26DDA3E8-79EE-4446-9CD4-2ED65346A19D}" srcOrd="0" destOrd="0" presId="urn:microsoft.com/office/officeart/2018/2/layout/IconLabelList"/>
    <dgm:cxn modelId="{E8EF3236-AD52-4FCA-B922-02ED7FBBB3AE}" type="presParOf" srcId="{34E70EC8-2612-44A9-B1C4-6DF4CF531F8B}" destId="{A463BB6A-57D0-4E69-9FEC-1B4B90F3F447}" srcOrd="1" destOrd="0" presId="urn:microsoft.com/office/officeart/2018/2/layout/IconLabelList"/>
    <dgm:cxn modelId="{53DE4944-EA6E-4CAB-8F17-DA8B498A13C1}" type="presParOf" srcId="{34E70EC8-2612-44A9-B1C4-6DF4CF531F8B}" destId="{61EBE2D3-9A7B-4058-9F1B-AF66CA23497B}" srcOrd="2" destOrd="0" presId="urn:microsoft.com/office/officeart/2018/2/layout/IconLabelList"/>
    <dgm:cxn modelId="{B091F091-F3AD-42F0-A8BC-AB44F3E077D2}" type="presParOf" srcId="{7D981979-A982-4CEF-A2BF-A7CFDE94BE44}" destId="{E9EB8C14-6AB9-4DD4-9391-ED67A950EABB}" srcOrd="3" destOrd="0" presId="urn:microsoft.com/office/officeart/2018/2/layout/IconLabelList"/>
    <dgm:cxn modelId="{6BE815C0-E008-45D0-937E-7AC71D63B185}" type="presParOf" srcId="{7D981979-A982-4CEF-A2BF-A7CFDE94BE44}" destId="{9617F3AC-A030-412A-AC8E-DC9D25E65E1A}" srcOrd="4" destOrd="0" presId="urn:microsoft.com/office/officeart/2018/2/layout/IconLabelList"/>
    <dgm:cxn modelId="{963D7583-AD0E-433B-9A56-1DB23568E81F}" type="presParOf" srcId="{9617F3AC-A030-412A-AC8E-DC9D25E65E1A}" destId="{3D9DDF19-D3C4-4BF6-A7D2-C1CB40C056AF}" srcOrd="0" destOrd="0" presId="urn:microsoft.com/office/officeart/2018/2/layout/IconLabelList"/>
    <dgm:cxn modelId="{7F7A34E3-E8D3-47A3-87D2-273DF4BD49C8}" type="presParOf" srcId="{9617F3AC-A030-412A-AC8E-DC9D25E65E1A}" destId="{3C923146-9BEF-47C7-9541-DEF338C590AA}" srcOrd="1" destOrd="0" presId="urn:microsoft.com/office/officeart/2018/2/layout/IconLabelList"/>
    <dgm:cxn modelId="{E2FB1261-DF1A-452E-97C5-CD2DEBBC0C25}" type="presParOf" srcId="{9617F3AC-A030-412A-AC8E-DC9D25E65E1A}" destId="{712A6010-D0C4-4F36-B215-187FC3AC2A76}" srcOrd="2" destOrd="0" presId="urn:microsoft.com/office/officeart/2018/2/layout/IconLabelList"/>
    <dgm:cxn modelId="{46A6877C-CFE6-482F-93C6-319C92A90B4D}" type="presParOf" srcId="{7D981979-A982-4CEF-A2BF-A7CFDE94BE44}" destId="{BBB87EE7-A3D6-499B-BFC1-3532040D703E}" srcOrd="5" destOrd="0" presId="urn:microsoft.com/office/officeart/2018/2/layout/IconLabelList"/>
    <dgm:cxn modelId="{7A75ED1A-9E7E-45DD-BF32-05A4D32BFED4}" type="presParOf" srcId="{7D981979-A982-4CEF-A2BF-A7CFDE94BE44}" destId="{3B66B115-08EA-4D78-84DE-2B8D2E431AF1}" srcOrd="6" destOrd="0" presId="urn:microsoft.com/office/officeart/2018/2/layout/IconLabelList"/>
    <dgm:cxn modelId="{9AABC782-9565-4EBE-8C6F-37A2C6558DA2}" type="presParOf" srcId="{3B66B115-08EA-4D78-84DE-2B8D2E431AF1}" destId="{D8E2F37C-A821-4F6A-BC44-C7C84AAE5713}" srcOrd="0" destOrd="0" presId="urn:microsoft.com/office/officeart/2018/2/layout/IconLabelList"/>
    <dgm:cxn modelId="{4832C5B4-60E9-4EB6-845E-F3093FAA1CB2}" type="presParOf" srcId="{3B66B115-08EA-4D78-84DE-2B8D2E431AF1}" destId="{D5C1D476-25D5-4E59-A278-31F49F03745B}" srcOrd="1" destOrd="0" presId="urn:microsoft.com/office/officeart/2018/2/layout/IconLabelList"/>
    <dgm:cxn modelId="{2712A608-7BB1-482E-991D-6850F709E773}" type="presParOf" srcId="{3B66B115-08EA-4D78-84DE-2B8D2E431AF1}" destId="{5B5243E4-9BB3-4E06-A139-88E5A311FADE}" srcOrd="2" destOrd="0" presId="urn:microsoft.com/office/officeart/2018/2/layout/IconLabelList"/>
    <dgm:cxn modelId="{975142B3-01B4-44A7-964A-F2834BDB3044}" type="presParOf" srcId="{7D981979-A982-4CEF-A2BF-A7CFDE94BE44}" destId="{32188600-9CA3-463A-8388-CECD2CA06C39}" srcOrd="7" destOrd="0" presId="urn:microsoft.com/office/officeart/2018/2/layout/IconLabelList"/>
    <dgm:cxn modelId="{F6962D7E-5CB9-4F57-9499-C8F71D606DF9}" type="presParOf" srcId="{7D981979-A982-4CEF-A2BF-A7CFDE94BE44}" destId="{610D34F2-B7B4-4943-9FB2-138A60A0C40C}" srcOrd="8" destOrd="0" presId="urn:microsoft.com/office/officeart/2018/2/layout/IconLabelList"/>
    <dgm:cxn modelId="{4A8EE0CE-62B4-4848-8B94-850DE3D6F436}" type="presParOf" srcId="{610D34F2-B7B4-4943-9FB2-138A60A0C40C}" destId="{3BA58360-FB3F-409E-ADDA-A8DB4CC26EA4}" srcOrd="0" destOrd="0" presId="urn:microsoft.com/office/officeart/2018/2/layout/IconLabelList"/>
    <dgm:cxn modelId="{1E791290-4A58-41A5-B8EA-FD2CFC83F44D}" type="presParOf" srcId="{610D34F2-B7B4-4943-9FB2-138A60A0C40C}" destId="{2979FF56-947F-4F6B-B7DD-DC92181DC6DA}" srcOrd="1" destOrd="0" presId="urn:microsoft.com/office/officeart/2018/2/layout/IconLabelList"/>
    <dgm:cxn modelId="{C0EC0AB0-DDE4-4B4F-ADBA-42FB9B427E67}" type="presParOf" srcId="{610D34F2-B7B4-4943-9FB2-138A60A0C40C}" destId="{769ACEE4-5022-4C8F-858F-A239500C520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5469C4-3720-4F14-9361-BD88E55B789A}">
      <dsp:nvSpPr>
        <dsp:cNvPr id="0" name=""/>
        <dsp:cNvSpPr/>
      </dsp:nvSpPr>
      <dsp:spPr>
        <a:xfrm>
          <a:off x="0" y="331819"/>
          <a:ext cx="3567120" cy="21402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latin typeface="Aptos" panose="020B0004020202020204" pitchFamily="34" charset="0"/>
            </a:rPr>
            <a:t>Normalization and Standardization:</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Techniques that scale numerical features to a consistent range</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Helps stabilize training and prevents features with large values from dominating</a:t>
          </a:r>
        </a:p>
      </dsp:txBody>
      <dsp:txXfrm>
        <a:off x="0" y="331819"/>
        <a:ext cx="3567120" cy="2140272"/>
      </dsp:txXfrm>
    </dsp:sp>
    <dsp:sp modelId="{1464C187-7B9F-462A-B94D-95C0B6EC1B3B}">
      <dsp:nvSpPr>
        <dsp:cNvPr id="0" name=""/>
        <dsp:cNvSpPr/>
      </dsp:nvSpPr>
      <dsp:spPr>
        <a:xfrm>
          <a:off x="3923832" y="331819"/>
          <a:ext cx="3567120" cy="21402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latin typeface="Aptos" panose="020B0004020202020204" pitchFamily="34" charset="0"/>
            </a:rPr>
            <a:t>Tokenization:</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Converts text into smaller units (words, </a:t>
          </a:r>
          <a:r>
            <a:rPr lang="en-US" sz="1700" kern="1200" dirty="0" err="1">
              <a:latin typeface="Aptos" panose="020B0004020202020204" pitchFamily="34" charset="0"/>
            </a:rPr>
            <a:t>subwords</a:t>
          </a:r>
          <a:r>
            <a:rPr lang="en-US" sz="1700" kern="1200" dirty="0">
              <a:latin typeface="Aptos" panose="020B0004020202020204" pitchFamily="34" charset="0"/>
            </a:rPr>
            <a:t>, or characters)</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Allows models to process language as numerical sequences</a:t>
          </a:r>
        </a:p>
      </dsp:txBody>
      <dsp:txXfrm>
        <a:off x="3923832" y="331819"/>
        <a:ext cx="3567120" cy="2140272"/>
      </dsp:txXfrm>
    </dsp:sp>
    <dsp:sp modelId="{06DC3041-6599-4208-A030-9737887C6BA5}">
      <dsp:nvSpPr>
        <dsp:cNvPr id="0" name=""/>
        <dsp:cNvSpPr/>
      </dsp:nvSpPr>
      <dsp:spPr>
        <a:xfrm>
          <a:off x="7847664" y="331819"/>
          <a:ext cx="3567120" cy="21402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latin typeface="Aptos" panose="020B0004020202020204" pitchFamily="34" charset="0"/>
            </a:rPr>
            <a:t>One‑Hot Encoding:</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Represents categorical variables as binary vectors</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Ensures categories are treated as distinct, non‑ordered values</a:t>
          </a:r>
        </a:p>
      </dsp:txBody>
      <dsp:txXfrm>
        <a:off x="7847664" y="331819"/>
        <a:ext cx="3567120" cy="2140272"/>
      </dsp:txXfrm>
    </dsp:sp>
    <dsp:sp modelId="{D0AFC124-63A8-467D-9857-A46D96E8E760}">
      <dsp:nvSpPr>
        <dsp:cNvPr id="0" name=""/>
        <dsp:cNvSpPr/>
      </dsp:nvSpPr>
      <dsp:spPr>
        <a:xfrm>
          <a:off x="26575" y="2902107"/>
          <a:ext cx="3567120" cy="21402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latin typeface="Aptos" panose="020B0004020202020204" pitchFamily="34" charset="0"/>
            </a:rPr>
            <a:t>Data Augmentation:</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Creates modified versions of existing data (e.g., flips, rotations, noise)</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Increases dataset diversity and reduces overfitting</a:t>
          </a:r>
        </a:p>
      </dsp:txBody>
      <dsp:txXfrm>
        <a:off x="26575" y="2902107"/>
        <a:ext cx="3567120" cy="2140272"/>
      </dsp:txXfrm>
    </dsp:sp>
    <dsp:sp modelId="{9ED6A967-EAE4-4702-BA31-9864869CC821}">
      <dsp:nvSpPr>
        <dsp:cNvPr id="0" name=""/>
        <dsp:cNvSpPr/>
      </dsp:nvSpPr>
      <dsp:spPr>
        <a:xfrm>
          <a:off x="7817344" y="2902107"/>
          <a:ext cx="3567120" cy="21402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latin typeface="Aptos" panose="020B0004020202020204" pitchFamily="34" charset="0"/>
            </a:rPr>
            <a:t>Train/Validation/Test Splits</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Divides data into separate sets for training, tuning, and evaluating</a:t>
          </a:r>
        </a:p>
        <a:p>
          <a:pPr marL="171450" lvl="1" indent="-171450" algn="l" defTabSz="755650">
            <a:lnSpc>
              <a:spcPct val="90000"/>
            </a:lnSpc>
            <a:spcBef>
              <a:spcPct val="0"/>
            </a:spcBef>
            <a:spcAft>
              <a:spcPct val="15000"/>
            </a:spcAft>
            <a:buChar char="•"/>
          </a:pPr>
          <a:r>
            <a:rPr lang="en-US" sz="1700" kern="1200" dirty="0">
              <a:latin typeface="Aptos" panose="020B0004020202020204" pitchFamily="34" charset="0"/>
            </a:rPr>
            <a:t>Ensures fair performance measurement and prevents data leakage</a:t>
          </a:r>
        </a:p>
      </dsp:txBody>
      <dsp:txXfrm>
        <a:off x="7817344" y="2902107"/>
        <a:ext cx="3567120" cy="21402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CAD10-C4AF-46DB-AD3F-7E07E872DFC5}">
      <dsp:nvSpPr>
        <dsp:cNvPr id="0" name=""/>
        <dsp:cNvSpPr/>
      </dsp:nvSpPr>
      <dsp:spPr>
        <a:xfrm>
          <a:off x="366236" y="2675"/>
          <a:ext cx="4564102" cy="273846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1022350">
            <a:lnSpc>
              <a:spcPct val="90000"/>
            </a:lnSpc>
            <a:spcBef>
              <a:spcPct val="0"/>
            </a:spcBef>
            <a:spcAft>
              <a:spcPct val="35000"/>
            </a:spcAft>
            <a:buNone/>
          </a:pPr>
          <a:r>
            <a:rPr lang="en-US" sz="2300" kern="1200" dirty="0">
              <a:latin typeface="Aptos" panose="020B0004020202020204" pitchFamily="34" charset="0"/>
            </a:rPr>
            <a:t>Missing Values</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Mean/median (numeric) - stable, random missingness  </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Mode/“Unknown” (categorical) - avoids invalid categories  </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Problem solved: Missing values breaking training  </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Example code:</a:t>
          </a:r>
          <a:br>
            <a:rPr lang="en-US" sz="1600" kern="1200" dirty="0">
              <a:latin typeface="Aptos" panose="020B0004020202020204" pitchFamily="34" charset="0"/>
            </a:rPr>
          </a:br>
          <a:r>
            <a:rPr lang="en-US" sz="1600" kern="1200" dirty="0" err="1">
              <a:latin typeface="Aptos" panose="020B0004020202020204" pitchFamily="34" charset="0"/>
            </a:rPr>
            <a:t>imputer.fit</a:t>
          </a:r>
          <a:r>
            <a:rPr lang="en-US" sz="1600" kern="1200" dirty="0">
              <a:latin typeface="Aptos" panose="020B0004020202020204" pitchFamily="34" charset="0"/>
            </a:rPr>
            <a:t>(</a:t>
          </a:r>
          <a:r>
            <a:rPr lang="en-US" sz="1600" kern="1200" dirty="0" err="1">
              <a:latin typeface="Aptos" panose="020B0004020202020204" pitchFamily="34" charset="0"/>
            </a:rPr>
            <a:t>X_train</a:t>
          </a:r>
          <a:r>
            <a:rPr lang="en-US" sz="1600" kern="1200" dirty="0">
              <a:latin typeface="Aptos" panose="020B0004020202020204" pitchFamily="34" charset="0"/>
            </a:rPr>
            <a:t>); </a:t>
          </a:r>
          <a:r>
            <a:rPr lang="en-US" sz="1600" kern="1200" dirty="0" err="1">
              <a:latin typeface="Aptos" panose="020B0004020202020204" pitchFamily="34" charset="0"/>
            </a:rPr>
            <a:t>imputer.transform</a:t>
          </a:r>
          <a:r>
            <a:rPr lang="en-US" sz="1600" kern="1200" dirty="0">
              <a:latin typeface="Aptos" panose="020B0004020202020204" pitchFamily="34" charset="0"/>
            </a:rPr>
            <a:t>(</a:t>
          </a:r>
          <a:r>
            <a:rPr lang="en-US" sz="1600" kern="1200" dirty="0" err="1">
              <a:latin typeface="Aptos" panose="020B0004020202020204" pitchFamily="34" charset="0"/>
            </a:rPr>
            <a:t>X_test</a:t>
          </a:r>
          <a:r>
            <a:rPr lang="en-US" sz="1600" kern="1200" dirty="0">
              <a:latin typeface="Aptos" panose="020B0004020202020204" pitchFamily="34" charset="0"/>
            </a:rPr>
            <a:t>)</a:t>
          </a:r>
        </a:p>
      </dsp:txBody>
      <dsp:txXfrm>
        <a:off x="366236" y="2675"/>
        <a:ext cx="4564102" cy="2738461"/>
      </dsp:txXfrm>
    </dsp:sp>
    <dsp:sp modelId="{1166998C-12AE-4614-B088-D224DC828BB5}">
      <dsp:nvSpPr>
        <dsp:cNvPr id="0" name=""/>
        <dsp:cNvSpPr/>
      </dsp:nvSpPr>
      <dsp:spPr>
        <a:xfrm>
          <a:off x="5386749" y="2675"/>
          <a:ext cx="4564102" cy="273846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1244600">
            <a:lnSpc>
              <a:spcPct val="90000"/>
            </a:lnSpc>
            <a:spcBef>
              <a:spcPct val="0"/>
            </a:spcBef>
            <a:spcAft>
              <a:spcPct val="35000"/>
            </a:spcAft>
            <a:buNone/>
          </a:pPr>
          <a:r>
            <a:rPr lang="en-US" sz="2800" kern="1200" dirty="0">
              <a:latin typeface="Aptos" panose="020B0004020202020204" pitchFamily="34" charset="0"/>
            </a:rPr>
            <a:t>Scaling Numerical Features</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Standardize - good for linear models, neural nets  </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Min‑Max - good for bounded activations  </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Problem solved: Large‑magnitude features dominating</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Example code: </a:t>
          </a:r>
          <a:br>
            <a:rPr lang="en-US" sz="1600" kern="1200" dirty="0">
              <a:latin typeface="Aptos" panose="020B0004020202020204" pitchFamily="34" charset="0"/>
            </a:rPr>
          </a:br>
          <a:r>
            <a:rPr lang="fr-FR" sz="1600" kern="1200" dirty="0" err="1">
              <a:latin typeface="Aptos" panose="020B0004020202020204" pitchFamily="34" charset="0"/>
            </a:rPr>
            <a:t>scaler.fit</a:t>
          </a:r>
          <a:r>
            <a:rPr lang="fr-FR" sz="1600" kern="1200" dirty="0">
              <a:latin typeface="Aptos" panose="020B0004020202020204" pitchFamily="34" charset="0"/>
            </a:rPr>
            <a:t>(</a:t>
          </a:r>
          <a:r>
            <a:rPr lang="fr-FR" sz="1600" kern="1200" dirty="0" err="1">
              <a:latin typeface="Aptos" panose="020B0004020202020204" pitchFamily="34" charset="0"/>
            </a:rPr>
            <a:t>X_train</a:t>
          </a:r>
          <a:r>
            <a:rPr lang="fr-FR" sz="1600" kern="1200" dirty="0">
              <a:latin typeface="Aptos" panose="020B0004020202020204" pitchFamily="34" charset="0"/>
            </a:rPr>
            <a:t>); </a:t>
          </a:r>
          <a:r>
            <a:rPr lang="fr-FR" sz="1600" kern="1200" dirty="0" err="1">
              <a:latin typeface="Aptos" panose="020B0004020202020204" pitchFamily="34" charset="0"/>
            </a:rPr>
            <a:t>scaler.transform</a:t>
          </a:r>
          <a:r>
            <a:rPr lang="fr-FR" sz="1600" kern="1200" dirty="0">
              <a:latin typeface="Aptos" panose="020B0004020202020204" pitchFamily="34" charset="0"/>
            </a:rPr>
            <a:t>(</a:t>
          </a:r>
          <a:r>
            <a:rPr lang="fr-FR" sz="1600" kern="1200" dirty="0" err="1">
              <a:latin typeface="Aptos" panose="020B0004020202020204" pitchFamily="34" charset="0"/>
            </a:rPr>
            <a:t>X_val</a:t>
          </a:r>
          <a:r>
            <a:rPr lang="fr-FR" sz="1600" kern="1200" dirty="0">
              <a:latin typeface="Aptos" panose="020B0004020202020204" pitchFamily="34" charset="0"/>
            </a:rPr>
            <a:t>)</a:t>
          </a:r>
          <a:r>
            <a:rPr lang="en-US" sz="1600" kern="1200" dirty="0">
              <a:latin typeface="Aptos" panose="020B0004020202020204" pitchFamily="34" charset="0"/>
            </a:rPr>
            <a:t> </a:t>
          </a:r>
        </a:p>
      </dsp:txBody>
      <dsp:txXfrm>
        <a:off x="5386749" y="2675"/>
        <a:ext cx="4564102" cy="2738461"/>
      </dsp:txXfrm>
    </dsp:sp>
    <dsp:sp modelId="{4C64274E-F433-4720-A848-1EBEFACD8115}">
      <dsp:nvSpPr>
        <dsp:cNvPr id="0" name=""/>
        <dsp:cNvSpPr/>
      </dsp:nvSpPr>
      <dsp:spPr>
        <a:xfrm>
          <a:off x="366236" y="3197547"/>
          <a:ext cx="4564102" cy="273846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1244600">
            <a:lnSpc>
              <a:spcPct val="90000"/>
            </a:lnSpc>
            <a:spcBef>
              <a:spcPct val="0"/>
            </a:spcBef>
            <a:spcAft>
              <a:spcPct val="35000"/>
            </a:spcAft>
            <a:buNone/>
          </a:pPr>
          <a:r>
            <a:rPr lang="en-US" sz="2800" kern="1200" dirty="0">
              <a:latin typeface="Aptos" panose="020B0004020202020204" pitchFamily="34" charset="0"/>
            </a:rPr>
            <a:t>Encoding Categories</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One‑hot - low cardinality  </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Embeddings - high cardinality, semantic structure  </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Problem solved: converting labels to usable numeric form  </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Example code: </a:t>
          </a:r>
          <a:br>
            <a:rPr lang="en-US" sz="1600" kern="1200" dirty="0">
              <a:latin typeface="Aptos" panose="020B0004020202020204" pitchFamily="34" charset="0"/>
            </a:rPr>
          </a:br>
          <a:r>
            <a:rPr lang="en-US" sz="1600" kern="1200" dirty="0" err="1">
              <a:latin typeface="Aptos" panose="020B0004020202020204" pitchFamily="34" charset="0"/>
            </a:rPr>
            <a:t>encoder.fit</a:t>
          </a:r>
          <a:r>
            <a:rPr lang="en-US" sz="1600" kern="1200" dirty="0">
              <a:latin typeface="Aptos" panose="020B0004020202020204" pitchFamily="34" charset="0"/>
            </a:rPr>
            <a:t>(</a:t>
          </a:r>
          <a:r>
            <a:rPr lang="en-US" sz="1600" kern="1200" dirty="0" err="1">
              <a:latin typeface="Aptos" panose="020B0004020202020204" pitchFamily="34" charset="0"/>
            </a:rPr>
            <a:t>X_train</a:t>
          </a:r>
          <a:r>
            <a:rPr lang="en-US" sz="1600" kern="1200" dirty="0">
              <a:latin typeface="Aptos" panose="020B0004020202020204" pitchFamily="34" charset="0"/>
            </a:rPr>
            <a:t>)</a:t>
          </a:r>
        </a:p>
      </dsp:txBody>
      <dsp:txXfrm>
        <a:off x="366236" y="3197547"/>
        <a:ext cx="4564102" cy="2738461"/>
      </dsp:txXfrm>
    </dsp:sp>
    <dsp:sp modelId="{DEEC0BDB-5AE6-4BC0-B513-3FDED41E244F}">
      <dsp:nvSpPr>
        <dsp:cNvPr id="0" name=""/>
        <dsp:cNvSpPr/>
      </dsp:nvSpPr>
      <dsp:spPr>
        <a:xfrm>
          <a:off x="5386749" y="3197547"/>
          <a:ext cx="4564102" cy="273846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1244600">
            <a:lnSpc>
              <a:spcPct val="90000"/>
            </a:lnSpc>
            <a:spcBef>
              <a:spcPct val="0"/>
            </a:spcBef>
            <a:spcAft>
              <a:spcPct val="35000"/>
            </a:spcAft>
            <a:buNone/>
          </a:pPr>
          <a:r>
            <a:rPr lang="en-US" sz="2800" kern="1200" dirty="0">
              <a:latin typeface="Aptos" panose="020B0004020202020204" pitchFamily="34" charset="0"/>
            </a:rPr>
            <a:t>Avoid Data Leakage</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Fit all transformers only on the training data  </a:t>
          </a:r>
        </a:p>
        <a:p>
          <a:pPr marL="171450" lvl="1" indent="-171450" algn="l" defTabSz="711200">
            <a:lnSpc>
              <a:spcPct val="90000"/>
            </a:lnSpc>
            <a:spcBef>
              <a:spcPct val="0"/>
            </a:spcBef>
            <a:spcAft>
              <a:spcPct val="15000"/>
            </a:spcAft>
            <a:buChar char="•"/>
          </a:pPr>
          <a:r>
            <a:rPr lang="en-US" sz="1600" kern="1200" dirty="0">
              <a:latin typeface="Aptos" panose="020B0004020202020204" pitchFamily="34" charset="0"/>
            </a:rPr>
            <a:t>Use consistent pipelines across splits  </a:t>
          </a: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Problem solved: inflated accuracy, poor generalization </a:t>
          </a:r>
          <a:br>
            <a:rPr lang="en-US" sz="1600" kern="1200" dirty="0">
              <a:latin typeface="Aptos" panose="020B0004020202020204" pitchFamily="34" charset="0"/>
            </a:rPr>
          </a:br>
          <a:br>
            <a:rPr lang="en-US" sz="1600" kern="1200" dirty="0">
              <a:latin typeface="Aptos" panose="020B0004020202020204" pitchFamily="34" charset="0"/>
            </a:rPr>
          </a:br>
          <a:br>
            <a:rPr lang="en-US" sz="1600" kern="1200" dirty="0">
              <a:latin typeface="Aptos" panose="020B0004020202020204" pitchFamily="34" charset="0"/>
            </a:rPr>
          </a:br>
          <a:r>
            <a:rPr lang="en-US" sz="1600" kern="1200" dirty="0">
              <a:latin typeface="Aptos" panose="020B0004020202020204" pitchFamily="34" charset="0"/>
            </a:rPr>
            <a:t>Example code:</a:t>
          </a:r>
          <a:br>
            <a:rPr lang="en-US" sz="1600" kern="1200" dirty="0">
              <a:latin typeface="Aptos" panose="020B0004020202020204" pitchFamily="34" charset="0"/>
            </a:rPr>
          </a:br>
          <a:r>
            <a:rPr lang="fr-FR" sz="1600" kern="1200" dirty="0" err="1">
              <a:latin typeface="Aptos" panose="020B0004020202020204" pitchFamily="34" charset="0"/>
            </a:rPr>
            <a:t>pipeline.fit</a:t>
          </a:r>
          <a:r>
            <a:rPr lang="fr-FR" sz="1600" kern="1200" dirty="0">
              <a:latin typeface="Aptos" panose="020B0004020202020204" pitchFamily="34" charset="0"/>
            </a:rPr>
            <a:t>(</a:t>
          </a:r>
          <a:r>
            <a:rPr lang="fr-FR" sz="1600" kern="1200" dirty="0" err="1">
              <a:latin typeface="Aptos" panose="020B0004020202020204" pitchFamily="34" charset="0"/>
            </a:rPr>
            <a:t>X_train</a:t>
          </a:r>
          <a:r>
            <a:rPr lang="fr-FR" sz="1600" kern="1200" dirty="0">
              <a:latin typeface="Aptos" panose="020B0004020202020204" pitchFamily="34" charset="0"/>
            </a:rPr>
            <a:t>, </a:t>
          </a:r>
          <a:r>
            <a:rPr lang="fr-FR" sz="1600" kern="1200" dirty="0" err="1">
              <a:latin typeface="Aptos" panose="020B0004020202020204" pitchFamily="34" charset="0"/>
            </a:rPr>
            <a:t>y_train</a:t>
          </a:r>
          <a:r>
            <a:rPr lang="fr-FR" sz="1600" kern="1200" dirty="0">
              <a:latin typeface="Aptos" panose="020B0004020202020204" pitchFamily="34" charset="0"/>
            </a:rPr>
            <a:t>)</a:t>
          </a:r>
          <a:endParaRPr lang="en-US" sz="1600" kern="1200" dirty="0">
            <a:latin typeface="Aptos" panose="020B0004020202020204" pitchFamily="34" charset="0"/>
          </a:endParaRPr>
        </a:p>
      </dsp:txBody>
      <dsp:txXfrm>
        <a:off x="5386749" y="3197547"/>
        <a:ext cx="4564102" cy="27384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CAD10-C4AF-46DB-AD3F-7E07E872DFC5}">
      <dsp:nvSpPr>
        <dsp:cNvPr id="0" name=""/>
        <dsp:cNvSpPr/>
      </dsp:nvSpPr>
      <dsp:spPr>
        <a:xfrm>
          <a:off x="557174" y="2203"/>
          <a:ext cx="4632091" cy="277925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latin typeface="Aptos"/>
            </a:rPr>
            <a:t>Core ML Frameworks</a:t>
          </a:r>
        </a:p>
        <a:p>
          <a:pPr marL="171450" lvl="1" indent="-171450" algn="l" defTabSz="711200" rtl="0">
            <a:lnSpc>
              <a:spcPct val="90000"/>
            </a:lnSpc>
            <a:spcBef>
              <a:spcPct val="0"/>
            </a:spcBef>
            <a:spcAft>
              <a:spcPct val="15000"/>
            </a:spcAft>
            <a:buChar char="•"/>
          </a:pPr>
          <a:r>
            <a:rPr lang="en-US" sz="1600" kern="1200" dirty="0">
              <a:latin typeface="Aptos"/>
            </a:rPr>
            <a:t> </a:t>
          </a:r>
          <a:r>
            <a:rPr lang="en-US" sz="1800" kern="1200" dirty="0">
              <a:latin typeface="Aptos"/>
            </a:rPr>
            <a:t>Scikit‑learn — preprocessing, pipelines, encoders, scalers</a:t>
          </a:r>
        </a:p>
        <a:p>
          <a:pPr marL="171450" lvl="1" indent="-171450" algn="l" defTabSz="800100" rtl="0">
            <a:lnSpc>
              <a:spcPct val="90000"/>
            </a:lnSpc>
            <a:spcBef>
              <a:spcPct val="0"/>
            </a:spcBef>
            <a:spcAft>
              <a:spcPct val="15000"/>
            </a:spcAft>
            <a:buChar char="•"/>
          </a:pPr>
          <a:r>
            <a:rPr lang="en-US" sz="1800" kern="1200" dirty="0">
              <a:latin typeface="Aptos"/>
            </a:rPr>
            <a:t>TensorFlow / </a:t>
          </a:r>
          <a:r>
            <a:rPr lang="en-US" sz="1800" kern="1200" dirty="0" err="1">
              <a:latin typeface="Aptos"/>
            </a:rPr>
            <a:t>Keras</a:t>
          </a:r>
          <a:r>
            <a:rPr lang="en-US" sz="1800" kern="1200" dirty="0">
              <a:latin typeface="Aptos"/>
            </a:rPr>
            <a:t> — deep learning models + data pipelines</a:t>
          </a:r>
        </a:p>
        <a:p>
          <a:pPr marL="171450" lvl="1" indent="-171450" algn="l" defTabSz="800100">
            <a:lnSpc>
              <a:spcPct val="90000"/>
            </a:lnSpc>
            <a:spcBef>
              <a:spcPct val="0"/>
            </a:spcBef>
            <a:spcAft>
              <a:spcPct val="15000"/>
            </a:spcAft>
            <a:buChar char="•"/>
          </a:pPr>
          <a:r>
            <a:rPr lang="en-US" sz="1800" kern="1200" dirty="0">
              <a:latin typeface="Aptos"/>
            </a:rPr>
            <a:t>PyTorch — flexible deep learning + custom preprocessing</a:t>
          </a:r>
          <a:endParaRPr lang="en-US" sz="1800" kern="1200" dirty="0"/>
        </a:p>
      </dsp:txBody>
      <dsp:txXfrm>
        <a:off x="557174" y="2203"/>
        <a:ext cx="4632091" cy="2779255"/>
      </dsp:txXfrm>
    </dsp:sp>
    <dsp:sp modelId="{1166998C-12AE-4614-B088-D224DC828BB5}">
      <dsp:nvSpPr>
        <dsp:cNvPr id="0" name=""/>
        <dsp:cNvSpPr/>
      </dsp:nvSpPr>
      <dsp:spPr>
        <a:xfrm>
          <a:off x="5652475" y="2203"/>
          <a:ext cx="4632091" cy="2779255"/>
        </a:xfrm>
        <a:prstGeom prst="rect">
          <a:avLst/>
        </a:prstGeom>
        <a:solidFill>
          <a:schemeClr val="accent4">
            <a:hueOff val="-709485"/>
            <a:satOff val="11900"/>
            <a:lumOff val="444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latin typeface="Aptos"/>
            </a:rPr>
            <a:t>NLP &amp; Model Hubs</a:t>
          </a:r>
        </a:p>
        <a:p>
          <a:pPr marL="171450" lvl="1" indent="-171450" algn="l" defTabSz="800100">
            <a:lnSpc>
              <a:spcPct val="90000"/>
            </a:lnSpc>
            <a:spcBef>
              <a:spcPct val="0"/>
            </a:spcBef>
            <a:spcAft>
              <a:spcPct val="15000"/>
            </a:spcAft>
            <a:buChar char="•"/>
          </a:pPr>
          <a:r>
            <a:rPr lang="en-US" sz="1800" kern="1200" dirty="0">
              <a:latin typeface="Aptos"/>
            </a:rPr>
            <a:t>Hugging Face Transformers — tokenizers, embeddings, pretrained models</a:t>
          </a:r>
        </a:p>
      </dsp:txBody>
      <dsp:txXfrm>
        <a:off x="5652475" y="2203"/>
        <a:ext cx="4632091" cy="2779255"/>
      </dsp:txXfrm>
    </dsp:sp>
    <dsp:sp modelId="{96E689FB-88EF-4F3B-95B2-049F54BA2218}">
      <dsp:nvSpPr>
        <dsp:cNvPr id="0" name=""/>
        <dsp:cNvSpPr/>
      </dsp:nvSpPr>
      <dsp:spPr>
        <a:xfrm>
          <a:off x="557174" y="3244667"/>
          <a:ext cx="4632091" cy="2779255"/>
        </a:xfrm>
        <a:prstGeom prst="rect">
          <a:avLst/>
        </a:prstGeom>
        <a:solidFill>
          <a:schemeClr val="accent4">
            <a:hueOff val="-1418970"/>
            <a:satOff val="23800"/>
            <a:lumOff val="888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latin typeface="Aptos"/>
            </a:rPr>
            <a:t>Data Engineering &amp; Pipelines:</a:t>
          </a:r>
        </a:p>
        <a:p>
          <a:pPr marL="171450" lvl="1" indent="-171450" algn="l" defTabSz="800100" rtl="0">
            <a:lnSpc>
              <a:spcPct val="90000"/>
            </a:lnSpc>
            <a:spcBef>
              <a:spcPct val="0"/>
            </a:spcBef>
            <a:spcAft>
              <a:spcPct val="15000"/>
            </a:spcAft>
            <a:buChar char="•"/>
          </a:pPr>
          <a:r>
            <a:rPr lang="en-US" sz="1800" kern="1200" dirty="0">
              <a:latin typeface="Aptos"/>
            </a:rPr>
            <a:t>Apache Beam / Spark — large‑scale preprocessing</a:t>
          </a:r>
        </a:p>
        <a:p>
          <a:pPr marL="171450" lvl="1" indent="-171450" algn="l" defTabSz="800100">
            <a:lnSpc>
              <a:spcPct val="90000"/>
            </a:lnSpc>
            <a:spcBef>
              <a:spcPct val="0"/>
            </a:spcBef>
            <a:spcAft>
              <a:spcPct val="15000"/>
            </a:spcAft>
            <a:buChar char="•"/>
          </a:pPr>
          <a:r>
            <a:rPr lang="en-US" sz="1800" kern="1200" dirty="0">
              <a:latin typeface="Aptos"/>
            </a:rPr>
            <a:t>Snowflake / BigQuery — data storage + feature pipelines</a:t>
          </a:r>
        </a:p>
      </dsp:txBody>
      <dsp:txXfrm>
        <a:off x="557174" y="3244667"/>
        <a:ext cx="4632091" cy="2779255"/>
      </dsp:txXfrm>
    </dsp:sp>
    <dsp:sp modelId="{DEEC0BDB-5AE6-4BC0-B513-3FDED41E244F}">
      <dsp:nvSpPr>
        <dsp:cNvPr id="0" name=""/>
        <dsp:cNvSpPr/>
      </dsp:nvSpPr>
      <dsp:spPr>
        <a:xfrm>
          <a:off x="5652475" y="3244667"/>
          <a:ext cx="4632091" cy="2779255"/>
        </a:xfrm>
        <a:prstGeom prst="rect">
          <a:avLst/>
        </a:prstGeom>
        <a:solidFill>
          <a:schemeClr val="accent4">
            <a:hueOff val="-2128456"/>
            <a:satOff val="35700"/>
            <a:lumOff val="1333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latin typeface="Aptos"/>
            </a:rPr>
            <a:t>Avoid Data Leakage</a:t>
          </a:r>
        </a:p>
        <a:p>
          <a:pPr marL="171450" lvl="1" indent="-171450" algn="l" defTabSz="800100">
            <a:lnSpc>
              <a:spcPct val="90000"/>
            </a:lnSpc>
            <a:spcBef>
              <a:spcPct val="0"/>
            </a:spcBef>
            <a:spcAft>
              <a:spcPct val="15000"/>
            </a:spcAft>
            <a:buChar char="•"/>
          </a:pPr>
          <a:r>
            <a:rPr lang="en-US" sz="1800" kern="1200" dirty="0">
              <a:latin typeface="Aptos"/>
            </a:rPr>
            <a:t>MNIST (images)</a:t>
          </a:r>
        </a:p>
        <a:p>
          <a:pPr marL="171450" lvl="1" indent="-171450" algn="l" defTabSz="800100">
            <a:lnSpc>
              <a:spcPct val="90000"/>
            </a:lnSpc>
            <a:spcBef>
              <a:spcPct val="0"/>
            </a:spcBef>
            <a:spcAft>
              <a:spcPct val="15000"/>
            </a:spcAft>
            <a:buChar char="•"/>
          </a:pPr>
          <a:r>
            <a:rPr lang="en-US" sz="1800" kern="1200" dirty="0">
              <a:latin typeface="Aptos"/>
            </a:rPr>
            <a:t>CIFAR‑10 (images)</a:t>
          </a:r>
        </a:p>
        <a:p>
          <a:pPr marL="171450" lvl="1" indent="-171450" algn="l" defTabSz="800100">
            <a:lnSpc>
              <a:spcPct val="90000"/>
            </a:lnSpc>
            <a:spcBef>
              <a:spcPct val="0"/>
            </a:spcBef>
            <a:spcAft>
              <a:spcPct val="15000"/>
            </a:spcAft>
            <a:buChar char="•"/>
          </a:pPr>
          <a:r>
            <a:rPr lang="en-US" sz="1800" kern="1200" dirty="0">
              <a:latin typeface="Aptos"/>
            </a:rPr>
            <a:t>IMDB Reviews (text)</a:t>
          </a:r>
        </a:p>
        <a:p>
          <a:pPr marL="171450" lvl="1" indent="-171450" algn="l" defTabSz="800100">
            <a:lnSpc>
              <a:spcPct val="90000"/>
            </a:lnSpc>
            <a:spcBef>
              <a:spcPct val="0"/>
            </a:spcBef>
            <a:spcAft>
              <a:spcPct val="15000"/>
            </a:spcAft>
            <a:buChar char="•"/>
          </a:pPr>
          <a:r>
            <a:rPr lang="en-US" sz="1800" kern="1200" dirty="0">
              <a:latin typeface="Aptos"/>
            </a:rPr>
            <a:t>UCI ML Repository (tabular)</a:t>
          </a:r>
          <a:endParaRPr lang="en-US" sz="1800" kern="1200" dirty="0"/>
        </a:p>
      </dsp:txBody>
      <dsp:txXfrm>
        <a:off x="5652475" y="3244667"/>
        <a:ext cx="4632091" cy="27792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6CC2BB-5219-42C8-B0CA-38B0C7970BCB}">
      <dsp:nvSpPr>
        <dsp:cNvPr id="0" name=""/>
        <dsp:cNvSpPr/>
      </dsp:nvSpPr>
      <dsp:spPr>
        <a:xfrm>
          <a:off x="0" y="1821"/>
          <a:ext cx="11612880" cy="92325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A6E7CA-6044-4677-B5D4-33111917AE20}">
      <dsp:nvSpPr>
        <dsp:cNvPr id="0" name=""/>
        <dsp:cNvSpPr/>
      </dsp:nvSpPr>
      <dsp:spPr>
        <a:xfrm>
          <a:off x="279285" y="209554"/>
          <a:ext cx="507792" cy="5077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21203-37CF-4D7B-BBA8-2EBA6FD45748}">
      <dsp:nvSpPr>
        <dsp:cNvPr id="0" name=""/>
        <dsp:cNvSpPr/>
      </dsp:nvSpPr>
      <dsp:spPr>
        <a:xfrm>
          <a:off x="1066363" y="1821"/>
          <a:ext cx="10546516" cy="923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711" tIns="97711" rIns="97711" bIns="97711" numCol="1" spcCol="1270" anchor="ctr" anchorCtr="0">
          <a:noAutofit/>
        </a:bodyPr>
        <a:lstStyle/>
        <a:p>
          <a:pPr marL="0" lvl="0" indent="0" algn="l" defTabSz="977900">
            <a:lnSpc>
              <a:spcPct val="90000"/>
            </a:lnSpc>
            <a:spcBef>
              <a:spcPct val="0"/>
            </a:spcBef>
            <a:spcAft>
              <a:spcPct val="35000"/>
            </a:spcAft>
            <a:buNone/>
          </a:pPr>
          <a:r>
            <a:rPr lang="en-US" sz="2200" kern="1200">
              <a:latin typeface="Aptos"/>
            </a:rPr>
            <a:t>Handling Missing Data: Requires strategies like imputation or removal to maintain dataset integrity</a:t>
          </a:r>
        </a:p>
      </dsp:txBody>
      <dsp:txXfrm>
        <a:off x="1066363" y="1821"/>
        <a:ext cx="10546516" cy="923258"/>
      </dsp:txXfrm>
    </dsp:sp>
    <dsp:sp modelId="{F54303A6-EF94-45CC-A108-C3FA3C64160D}">
      <dsp:nvSpPr>
        <dsp:cNvPr id="0" name=""/>
        <dsp:cNvSpPr/>
      </dsp:nvSpPr>
      <dsp:spPr>
        <a:xfrm>
          <a:off x="0" y="1155894"/>
          <a:ext cx="11612880" cy="92325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64FC19-36C6-4376-9C03-256F6AE2590C}">
      <dsp:nvSpPr>
        <dsp:cNvPr id="0" name=""/>
        <dsp:cNvSpPr/>
      </dsp:nvSpPr>
      <dsp:spPr>
        <a:xfrm>
          <a:off x="279285" y="1363627"/>
          <a:ext cx="507792" cy="5077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1DF3C0-5D66-42F3-978F-8932CA6AA3EF}">
      <dsp:nvSpPr>
        <dsp:cNvPr id="0" name=""/>
        <dsp:cNvSpPr/>
      </dsp:nvSpPr>
      <dsp:spPr>
        <a:xfrm>
          <a:off x="1066363" y="1155894"/>
          <a:ext cx="10546516" cy="923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711" tIns="97711" rIns="97711" bIns="97711" numCol="1" spcCol="1270" anchor="ctr" anchorCtr="0">
          <a:noAutofit/>
        </a:bodyPr>
        <a:lstStyle/>
        <a:p>
          <a:pPr marL="0" lvl="0" indent="0" algn="l" defTabSz="977900">
            <a:lnSpc>
              <a:spcPct val="90000"/>
            </a:lnSpc>
            <a:spcBef>
              <a:spcPct val="0"/>
            </a:spcBef>
            <a:spcAft>
              <a:spcPct val="35000"/>
            </a:spcAft>
            <a:buNone/>
          </a:pPr>
          <a:r>
            <a:rPr lang="en-US" sz="2200" kern="1200">
              <a:latin typeface="Aptos"/>
            </a:rPr>
            <a:t>Balancing Data: Avoiding class imbalances in classification problems</a:t>
          </a:r>
        </a:p>
      </dsp:txBody>
      <dsp:txXfrm>
        <a:off x="1066363" y="1155894"/>
        <a:ext cx="10546516" cy="923258"/>
      </dsp:txXfrm>
    </dsp:sp>
    <dsp:sp modelId="{41F7A329-348E-4F5D-920E-F7964271AEA1}">
      <dsp:nvSpPr>
        <dsp:cNvPr id="0" name=""/>
        <dsp:cNvSpPr/>
      </dsp:nvSpPr>
      <dsp:spPr>
        <a:xfrm>
          <a:off x="0" y="2309967"/>
          <a:ext cx="11612880" cy="92325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AAB0C0-E9A8-4DF5-A068-76FC956367D3}">
      <dsp:nvSpPr>
        <dsp:cNvPr id="0" name=""/>
        <dsp:cNvSpPr/>
      </dsp:nvSpPr>
      <dsp:spPr>
        <a:xfrm>
          <a:off x="279285" y="2517700"/>
          <a:ext cx="507792" cy="5077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CCE37A-747F-4DAD-8052-27984D20D446}">
      <dsp:nvSpPr>
        <dsp:cNvPr id="0" name=""/>
        <dsp:cNvSpPr/>
      </dsp:nvSpPr>
      <dsp:spPr>
        <a:xfrm>
          <a:off x="1066363" y="2309967"/>
          <a:ext cx="10546516" cy="923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711" tIns="97711" rIns="97711" bIns="97711" numCol="1" spcCol="1270" anchor="ctr" anchorCtr="0">
          <a:noAutofit/>
        </a:bodyPr>
        <a:lstStyle/>
        <a:p>
          <a:pPr marL="0" lvl="0" indent="0" algn="l" defTabSz="977900">
            <a:lnSpc>
              <a:spcPct val="90000"/>
            </a:lnSpc>
            <a:spcBef>
              <a:spcPct val="0"/>
            </a:spcBef>
            <a:spcAft>
              <a:spcPct val="35000"/>
            </a:spcAft>
            <a:buNone/>
          </a:pPr>
          <a:r>
            <a:rPr lang="en-US" sz="2200" kern="1200">
              <a:latin typeface="Aptos"/>
            </a:rPr>
            <a:t>Scaling Large Datasets: Efficiently managing extensive, high-dimensional data</a:t>
          </a:r>
        </a:p>
      </dsp:txBody>
      <dsp:txXfrm>
        <a:off x="1066363" y="2309967"/>
        <a:ext cx="10546516" cy="923258"/>
      </dsp:txXfrm>
    </dsp:sp>
    <dsp:sp modelId="{4E105FE1-B62F-4158-A2B5-FB6C5E72ECA8}">
      <dsp:nvSpPr>
        <dsp:cNvPr id="0" name=""/>
        <dsp:cNvSpPr/>
      </dsp:nvSpPr>
      <dsp:spPr>
        <a:xfrm>
          <a:off x="0" y="3464040"/>
          <a:ext cx="11612880" cy="92325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996F3C-FB30-4DEE-923E-FF473350D792}">
      <dsp:nvSpPr>
        <dsp:cNvPr id="0" name=""/>
        <dsp:cNvSpPr/>
      </dsp:nvSpPr>
      <dsp:spPr>
        <a:xfrm>
          <a:off x="279285" y="3671773"/>
          <a:ext cx="507792" cy="5077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FF5349-48B9-45D0-8947-01840B006FFC}">
      <dsp:nvSpPr>
        <dsp:cNvPr id="0" name=""/>
        <dsp:cNvSpPr/>
      </dsp:nvSpPr>
      <dsp:spPr>
        <a:xfrm>
          <a:off x="1066363" y="3464040"/>
          <a:ext cx="10546516" cy="923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711" tIns="97711" rIns="97711" bIns="97711" numCol="1" spcCol="1270" anchor="ctr" anchorCtr="0">
          <a:noAutofit/>
        </a:bodyPr>
        <a:lstStyle/>
        <a:p>
          <a:pPr marL="0" lvl="0" indent="0" algn="l" defTabSz="977900">
            <a:lnSpc>
              <a:spcPct val="90000"/>
            </a:lnSpc>
            <a:spcBef>
              <a:spcPct val="0"/>
            </a:spcBef>
            <a:spcAft>
              <a:spcPct val="35000"/>
            </a:spcAft>
            <a:buNone/>
          </a:pPr>
          <a:r>
            <a:rPr lang="en-US" sz="2200" kern="1200">
              <a:latin typeface="Aptos"/>
            </a:rPr>
            <a:t>Data Privacy Concerns: Complying with data protection regulations like GDPR and CCPA</a:t>
          </a:r>
        </a:p>
      </dsp:txBody>
      <dsp:txXfrm>
        <a:off x="1066363" y="3464040"/>
        <a:ext cx="10546516" cy="9232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41A0C-36E0-421C-97FC-49DEBBCFE75A}">
      <dsp:nvSpPr>
        <dsp:cNvPr id="0" name=""/>
        <dsp:cNvSpPr/>
      </dsp:nvSpPr>
      <dsp:spPr>
        <a:xfrm>
          <a:off x="1066284" y="1294543"/>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9401E6-97A9-4B67-84F3-C9AA3BA25798}">
      <dsp:nvSpPr>
        <dsp:cNvPr id="0" name=""/>
        <dsp:cNvSpPr/>
      </dsp:nvSpPr>
      <dsp:spPr>
        <a:xfrm>
          <a:off x="571284" y="237457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Preprocessing is essential for deep learning success  </a:t>
          </a:r>
        </a:p>
      </dsp:txBody>
      <dsp:txXfrm>
        <a:off x="571284" y="2374576"/>
        <a:ext cx="1800000" cy="720000"/>
      </dsp:txXfrm>
    </dsp:sp>
    <dsp:sp modelId="{26DDA3E8-79EE-4446-9CD4-2ED65346A19D}">
      <dsp:nvSpPr>
        <dsp:cNvPr id="0" name=""/>
        <dsp:cNvSpPr/>
      </dsp:nvSpPr>
      <dsp:spPr>
        <a:xfrm>
          <a:off x="3181284" y="1294543"/>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EBE2D3-9A7B-4058-9F1B-AF66CA23497B}">
      <dsp:nvSpPr>
        <dsp:cNvPr id="0" name=""/>
        <dsp:cNvSpPr/>
      </dsp:nvSpPr>
      <dsp:spPr>
        <a:xfrm>
          <a:off x="2686284" y="237457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Different data types require different strategies  </a:t>
          </a:r>
        </a:p>
      </dsp:txBody>
      <dsp:txXfrm>
        <a:off x="2686284" y="2374576"/>
        <a:ext cx="1800000" cy="720000"/>
      </dsp:txXfrm>
    </dsp:sp>
    <dsp:sp modelId="{3D9DDF19-D3C4-4BF6-A7D2-C1CB40C056AF}">
      <dsp:nvSpPr>
        <dsp:cNvPr id="0" name=""/>
        <dsp:cNvSpPr/>
      </dsp:nvSpPr>
      <dsp:spPr>
        <a:xfrm>
          <a:off x="5296284" y="1294543"/>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2A6010-D0C4-4F36-B215-187FC3AC2A76}">
      <dsp:nvSpPr>
        <dsp:cNvPr id="0" name=""/>
        <dsp:cNvSpPr/>
      </dsp:nvSpPr>
      <dsp:spPr>
        <a:xfrm>
          <a:off x="4801284" y="237457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Tools streamline workflows  </a:t>
          </a:r>
        </a:p>
      </dsp:txBody>
      <dsp:txXfrm>
        <a:off x="4801284" y="2374576"/>
        <a:ext cx="1800000" cy="720000"/>
      </dsp:txXfrm>
    </dsp:sp>
    <dsp:sp modelId="{D8E2F37C-A821-4F6A-BC44-C7C84AAE5713}">
      <dsp:nvSpPr>
        <dsp:cNvPr id="0" name=""/>
        <dsp:cNvSpPr/>
      </dsp:nvSpPr>
      <dsp:spPr>
        <a:xfrm>
          <a:off x="7411284" y="1294543"/>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5243E4-9BB3-4E06-A139-88E5A311FADE}">
      <dsp:nvSpPr>
        <dsp:cNvPr id="0" name=""/>
        <dsp:cNvSpPr/>
      </dsp:nvSpPr>
      <dsp:spPr>
        <a:xfrm>
          <a:off x="6916284" y="237457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Best practices prevent instability  </a:t>
          </a:r>
        </a:p>
      </dsp:txBody>
      <dsp:txXfrm>
        <a:off x="6916284" y="2374576"/>
        <a:ext cx="1800000" cy="720000"/>
      </dsp:txXfrm>
    </dsp:sp>
    <dsp:sp modelId="{3BA58360-FB3F-409E-ADDA-A8DB4CC26EA4}">
      <dsp:nvSpPr>
        <dsp:cNvPr id="0" name=""/>
        <dsp:cNvSpPr/>
      </dsp:nvSpPr>
      <dsp:spPr>
        <a:xfrm>
          <a:off x="9526284" y="1294543"/>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9ACEE4-5022-4C8F-858F-A239500C5202}">
      <dsp:nvSpPr>
        <dsp:cNvPr id="0" name=""/>
        <dsp:cNvSpPr/>
      </dsp:nvSpPr>
      <dsp:spPr>
        <a:xfrm>
          <a:off x="9031284" y="2374576"/>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Trends point toward automation  </a:t>
          </a:r>
        </a:p>
      </dsp:txBody>
      <dsp:txXfrm>
        <a:off x="9031284" y="2374576"/>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66C81F-43B6-46C5-A617-BE06B87FB64D}"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6BE066-5316-4ACB-94BF-355E0BD42F3B}" type="slidenum">
              <a:rPr lang="en-US" smtClean="0"/>
              <a:t>‹#›</a:t>
            </a:fld>
            <a:endParaRPr lang="en-US"/>
          </a:p>
        </p:txBody>
      </p:sp>
    </p:spTree>
    <p:extLst>
      <p:ext uri="{BB962C8B-B14F-4D97-AF65-F5344CB8AC3E}">
        <p14:creationId xmlns:p14="http://schemas.microsoft.com/office/powerpoint/2010/main" val="2659787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25A8099-D9D4-49D2-B264-FB84118B2254}" type="slidenum">
              <a:rPr lang="en-US" smtClean="0"/>
              <a:t>1</a:t>
            </a:fld>
            <a:endParaRPr lang="en-US"/>
          </a:p>
        </p:txBody>
      </p:sp>
    </p:spTree>
    <p:extLst>
      <p:ext uri="{BB962C8B-B14F-4D97-AF65-F5344CB8AC3E}">
        <p14:creationId xmlns:p14="http://schemas.microsoft.com/office/powerpoint/2010/main" val="1335641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In the early stages of machine learning, data cleaning was a largely manual and ad hoc process focused on removing duplicates, handling missing values, and correcting obvious errors. Techniques such as simple imputation, outlier detection, and basic normalization were implemented without automation. The lack of standardization often led to inconsistent data quality, impacting model outcomes. These foundational practices set the stage for more sophisticated automated preprocessing as data complexity increased.
Image source: AI-generated
</a:t>
            </a:r>
          </a:p>
        </p:txBody>
      </p:sp>
      <p:sp>
        <p:nvSpPr>
          <p:cNvPr id="4" name="Slide Number Placeholder 3"/>
          <p:cNvSpPr>
            <a:spLocks noGrp="1"/>
          </p:cNvSpPr>
          <p:nvPr>
            <p:ph type="sldNum" sz="quarter" idx="5"/>
          </p:nvPr>
        </p:nvSpPr>
        <p:spPr/>
        <p:txBody>
          <a:bodyPr/>
          <a:lstStyle/>
          <a:p>
            <a:fld id="{725A8099-D9D4-49D2-B264-FB84118B2254}" type="slidenum">
              <a:rPr lang="en-US" smtClean="0"/>
              <a:t>2</a:t>
            </a:fld>
            <a:endParaRPr lang="en-US"/>
          </a:p>
        </p:txBody>
      </p:sp>
    </p:spTree>
    <p:extLst>
      <p:ext uri="{BB962C8B-B14F-4D97-AF65-F5344CB8AC3E}">
        <p14:creationId xmlns:p14="http://schemas.microsoft.com/office/powerpoint/2010/main" val="3163683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References provide credibility to your work by citing reliable sources. They allow readers to verify information and explore topics further. Properly formatted references demonstrate academic integrity and help avoid plagiarism, ensuring transparency in research and presentations.</a:t>
            </a:r>
          </a:p>
        </p:txBody>
      </p:sp>
      <p:sp>
        <p:nvSpPr>
          <p:cNvPr id="4" name="Slide Number Placeholder 3"/>
          <p:cNvSpPr>
            <a:spLocks noGrp="1"/>
          </p:cNvSpPr>
          <p:nvPr>
            <p:ph type="sldNum" sz="quarter" idx="5"/>
          </p:nvPr>
        </p:nvSpPr>
        <p:spPr/>
        <p:txBody>
          <a:bodyPr/>
          <a:lstStyle/>
          <a:p>
            <a:fld id="{326BE066-5316-4ACB-94BF-355E0BD42F3B}" type="slidenum">
              <a:rPr lang="en-US" smtClean="0"/>
              <a:t>10</a:t>
            </a:fld>
            <a:endParaRPr lang="en-US"/>
          </a:p>
        </p:txBody>
      </p:sp>
    </p:spTree>
    <p:extLst>
      <p:ext uri="{BB962C8B-B14F-4D97-AF65-F5344CB8AC3E}">
        <p14:creationId xmlns:p14="http://schemas.microsoft.com/office/powerpoint/2010/main" val="17115273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dirty="0"/>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2/1/2026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56536785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3596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dirty="0"/>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dirty="0"/>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03079061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dirty="0"/>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04256502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dirty="0"/>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2/1/2026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9729498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2/1/2026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118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223576291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2/1/2026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760242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2/1/2026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20884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2/1/2026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502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2/1/2026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98392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2/1/2026</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779428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dirty="0"/>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2/1/2026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167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2/1/2026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9645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dirty="0"/>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2/1/2026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466025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5560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2/1/2026</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47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2/1/2026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72056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2/1/2026</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1987091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2/1/2026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8352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59462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2275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34190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2/1/2026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25636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2245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8472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66293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3249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2337024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4875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2/1/2026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9155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2/1/2026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1712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dirty="0"/>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2/1/2026</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9960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2/1/2026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02327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2/1/2026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6000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2/1/2026</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40134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2/1/2026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79074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2/1/2026</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52827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37814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10939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2/1/2026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1178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2/1/2026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6246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dirty="0"/>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2/1/2026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8640046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dirty="0"/>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dirty="0"/>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2/1/2026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2916818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78846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80490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708127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60227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2/1/2026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18623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2/1/2026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13404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2/1/2026</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97157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2/1/2026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92171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2/1/2026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5013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2/1/2026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90908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2/1/2026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3625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2/1/2026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5502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25278741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934803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2/1/2026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88105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2/1/2026</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10472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2/1/2026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8443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3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dfTgPCb4FPg" TargetMode="Externa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hyperlink" Target="https://research.aimultiple.com/deep-learning-applications/" TargetMode="External"/><Relationship Id="rId7" Type="http://schemas.openxmlformats.org/officeDocument/2006/relationships/hyperlink" Target="https://www.youtube.com/watch?v=dfTgPCb4FPg" TargetMode="Externa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hyperlink" Target="https://www.denodo.com/en/glossary/data-preprocessing-definition-importance-key-techniques?gad_source" TargetMode="External"/><Relationship Id="rId5" Type="http://schemas.openxmlformats.org/officeDocument/2006/relationships/hyperlink" Target="https://digitaldefynd.com/IQ/deep-learning-case-studies/" TargetMode="External"/><Relationship Id="rId4" Type="http://schemas.openxmlformats.org/officeDocument/2006/relationships/hyperlink" Target="https://moldstud.com/articles/p-how-data-preprocessing-impacts-ai-model-training-and-performance-key-insights-for-succes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A89785-2B2C-53BF-0677-26A3EF283DDB}"/>
              </a:ext>
            </a:extLst>
          </p:cNvPr>
          <p:cNvSpPr>
            <a:spLocks noGrp="1"/>
          </p:cNvSpPr>
          <p:nvPr>
            <p:ph type="title"/>
          </p:nvPr>
        </p:nvSpPr>
        <p:spPr>
          <a:xfrm>
            <a:off x="301752" y="506691"/>
            <a:ext cx="11516622" cy="1548251"/>
          </a:xfrm>
        </p:spPr>
        <p:txBody>
          <a:bodyPr anchor="t">
            <a:normAutofit/>
          </a:bodyPr>
          <a:lstStyle/>
          <a:p>
            <a:r>
              <a:rPr lang="en-US" sz="5400" dirty="0">
                <a:latin typeface="Aptos" panose="020B0004020202020204" pitchFamily="34" charset="0"/>
              </a:rPr>
              <a:t>Preprocessing Data for Deep Learning</a:t>
            </a:r>
          </a:p>
        </p:txBody>
      </p:sp>
      <p:sp>
        <p:nvSpPr>
          <p:cNvPr id="4" name="Subtitle 3">
            <a:extLst>
              <a:ext uri="{FF2B5EF4-FFF2-40B4-BE49-F238E27FC236}">
                <a16:creationId xmlns:a16="http://schemas.microsoft.com/office/drawing/2014/main" id="{949DA2A8-5A4F-17EE-F366-B0D825C9A697}"/>
              </a:ext>
            </a:extLst>
          </p:cNvPr>
          <p:cNvSpPr>
            <a:spLocks noGrp="1"/>
          </p:cNvSpPr>
          <p:nvPr>
            <p:ph type="subTitle" idx="1"/>
          </p:nvPr>
        </p:nvSpPr>
        <p:spPr>
          <a:xfrm>
            <a:off x="2012037" y="5310026"/>
            <a:ext cx="8108220" cy="997525"/>
          </a:xfrm>
        </p:spPr>
        <p:txBody>
          <a:bodyPr anchor="t">
            <a:normAutofit/>
          </a:bodyPr>
          <a:lstStyle/>
          <a:p>
            <a:r>
              <a:rPr lang="en-US" dirty="0">
                <a:latin typeface="Aptos"/>
              </a:rPr>
              <a:t>Group Members: Juphens Cherfils, Yoana Cook, Kaden Glover, Richard Rodriguez</a:t>
            </a:r>
          </a:p>
          <a:p>
            <a:endParaRPr lang="en-US" dirty="0">
              <a:latin typeface="Aptos" panose="020B0004020202020204" pitchFamily="34" charset="0"/>
            </a:endParaRPr>
          </a:p>
        </p:txBody>
      </p:sp>
      <p:sp>
        <p:nvSpPr>
          <p:cNvPr id="5" name="Date Placeholder 4">
            <a:extLst>
              <a:ext uri="{FF2B5EF4-FFF2-40B4-BE49-F238E27FC236}">
                <a16:creationId xmlns:a16="http://schemas.microsoft.com/office/drawing/2014/main" id="{0D815FE0-510D-F534-A3C3-9B0F7B51412E}"/>
              </a:ext>
            </a:extLst>
          </p:cNvPr>
          <p:cNvSpPr>
            <a:spLocks noGrp="1"/>
          </p:cNvSpPr>
          <p:nvPr>
            <p:ph type="dt" sz="half" idx="10"/>
          </p:nvPr>
        </p:nvSpPr>
        <p:spPr>
          <a:xfrm>
            <a:off x="301752" y="6304985"/>
            <a:ext cx="2218156" cy="365760"/>
          </a:xfrm>
        </p:spPr>
        <p:txBody>
          <a:bodyPr anchor="ctr">
            <a:normAutofit/>
          </a:bodyPr>
          <a:lstStyle/>
          <a:p>
            <a:pPr>
              <a:spcAft>
                <a:spcPts val="600"/>
              </a:spcAft>
            </a:pPr>
            <a:fld id="{7DA2CEDE-2AB4-4FB8-9551-E0AA4222B1A3}" type="datetime1">
              <a:rPr lang="en-US" smtClean="0"/>
              <a:pPr>
                <a:spcAft>
                  <a:spcPts val="600"/>
                </a:spcAft>
              </a:pPr>
              <a:t>2/1/2026</a:t>
            </a:fld>
            <a:endParaRPr lang="en-US"/>
          </a:p>
        </p:txBody>
      </p:sp>
      <p:sp>
        <p:nvSpPr>
          <p:cNvPr id="7" name="Slide Number Placeholder 6">
            <a:extLst>
              <a:ext uri="{FF2B5EF4-FFF2-40B4-BE49-F238E27FC236}">
                <a16:creationId xmlns:a16="http://schemas.microsoft.com/office/drawing/2014/main" id="{D372EDC7-CFEE-0311-E3A7-CFFC9AB58951}"/>
              </a:ext>
            </a:extLst>
          </p:cNvPr>
          <p:cNvSpPr>
            <a:spLocks noGrp="1"/>
          </p:cNvSpPr>
          <p:nvPr>
            <p:ph type="sldNum" sz="quarter" idx="12"/>
          </p:nvPr>
        </p:nvSpPr>
        <p:spPr>
          <a:xfrm>
            <a:off x="11407526" y="6304985"/>
            <a:ext cx="493776" cy="365760"/>
          </a:xfrm>
        </p:spPr>
        <p:txBody>
          <a:bodyPr anchor="ctr">
            <a:normAutofit/>
          </a:bodyPr>
          <a:lstStyle/>
          <a:p>
            <a:pPr>
              <a:spcAft>
                <a:spcPts val="600"/>
              </a:spcAft>
            </a:pPr>
            <a:fld id="{5E0677F5-4A8A-4BF1-96BE-3BAE8FBAFE2E}" type="slidenum">
              <a:rPr lang="en-US" smtClean="0"/>
              <a:pPr>
                <a:spcAft>
                  <a:spcPts val="600"/>
                </a:spcAft>
              </a:pPr>
              <a:t>1</a:t>
            </a:fld>
            <a:endParaRPr lang="en-US"/>
          </a:p>
        </p:txBody>
      </p:sp>
      <p:sp>
        <p:nvSpPr>
          <p:cNvPr id="2" name="TextBox 1">
            <a:extLst>
              <a:ext uri="{FF2B5EF4-FFF2-40B4-BE49-F238E27FC236}">
                <a16:creationId xmlns:a16="http://schemas.microsoft.com/office/drawing/2014/main" id="{994F56F1-40B6-1CE7-4371-361CE2DE58D6}"/>
              </a:ext>
            </a:extLst>
          </p:cNvPr>
          <p:cNvSpPr txBox="1"/>
          <p:nvPr/>
        </p:nvSpPr>
        <p:spPr>
          <a:xfrm>
            <a:off x="3897058" y="2236801"/>
            <a:ext cx="440787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Aptos"/>
              </a:rPr>
              <a:t>Department of Computer </a:t>
            </a:r>
            <a:r>
              <a:rPr lang="en-US">
                <a:latin typeface="Aptos"/>
              </a:rPr>
              <a:t>Science</a:t>
            </a:r>
            <a:endParaRPr lang="en-US" dirty="0">
              <a:latin typeface="Aptos"/>
            </a:endParaRPr>
          </a:p>
          <a:p>
            <a:pPr algn="ctr"/>
            <a:r>
              <a:rPr lang="en-US">
                <a:latin typeface="Aptos"/>
              </a:rPr>
              <a:t>Houston City College</a:t>
            </a:r>
            <a:endParaRPr lang="en-US" dirty="0">
              <a:latin typeface="Aptos"/>
            </a:endParaRPr>
          </a:p>
          <a:p>
            <a:pPr algn="ctr"/>
            <a:r>
              <a:rPr lang="en-US" dirty="0">
                <a:latin typeface="Aptos"/>
              </a:rPr>
              <a:t>Data Science in </a:t>
            </a:r>
            <a:r>
              <a:rPr lang="en-US">
                <a:solidFill>
                  <a:srgbClr val="FFFFFF"/>
                </a:solidFill>
                <a:latin typeface="Aptos"/>
                <a:ea typeface="Roboto"/>
                <a:cs typeface="Roboto"/>
              </a:rPr>
              <a:t>Artificial Intel </a:t>
            </a:r>
            <a:r>
              <a:rPr lang="en-US">
                <a:latin typeface="Aptos"/>
              </a:rPr>
              <a:t>- ITAI-2376</a:t>
            </a:r>
          </a:p>
          <a:p>
            <a:pPr algn="ctr"/>
            <a:r>
              <a:rPr lang="en-US">
                <a:latin typeface="Aptos"/>
              </a:rPr>
              <a:t>Professor: Sitaram Ayyagari</a:t>
            </a:r>
            <a:endParaRPr lang="en-US"/>
          </a:p>
        </p:txBody>
      </p:sp>
    </p:spTree>
    <p:extLst>
      <p:ext uri="{BB962C8B-B14F-4D97-AF65-F5344CB8AC3E}">
        <p14:creationId xmlns:p14="http://schemas.microsoft.com/office/powerpoint/2010/main" val="92185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250"/>
                                        <p:tgtEl>
                                          <p:spTgt spid="4"/>
                                        </p:tgtEl>
                                      </p:cBhvr>
                                    </p:animEffect>
                                    <p:anim calcmode="lin" valueType="num">
                                      <p:cBhvr>
                                        <p:cTn id="14" dur="250" fill="hold"/>
                                        <p:tgtEl>
                                          <p:spTgt spid="4"/>
                                        </p:tgtEl>
                                        <p:attrNameLst>
                                          <p:attrName>ppt_x</p:attrName>
                                        </p:attrNameLst>
                                      </p:cBhvr>
                                      <p:tavLst>
                                        <p:tav tm="0">
                                          <p:val>
                                            <p:strVal val="#ppt_x"/>
                                          </p:val>
                                        </p:tav>
                                        <p:tav tm="100000">
                                          <p:val>
                                            <p:strVal val="#ppt_x"/>
                                          </p:val>
                                        </p:tav>
                                      </p:tavLst>
                                    </p:anim>
                                    <p:anim calcmode="lin" valueType="num">
                                      <p:cBhvr>
                                        <p:cTn id="15"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8BB9-08F9-AFE3-8682-3FFC17EBDE5E}"/>
              </a:ext>
            </a:extLst>
          </p:cNvPr>
          <p:cNvSpPr>
            <a:spLocks noGrp="1"/>
          </p:cNvSpPr>
          <p:nvPr>
            <p:ph type="title"/>
          </p:nvPr>
        </p:nvSpPr>
        <p:spPr>
          <a:xfrm>
            <a:off x="3903406" y="178708"/>
            <a:ext cx="5240594" cy="794332"/>
          </a:xfrm>
        </p:spPr>
        <p:txBody>
          <a:bodyPr anchor="b">
            <a:normAutofit/>
          </a:bodyPr>
          <a:lstStyle/>
          <a:p>
            <a:r>
              <a:rPr lang="en-US" sz="3200" dirty="0">
                <a:latin typeface="Aptos" panose="020B0004020202020204" pitchFamily="34" charset="0"/>
              </a:rPr>
              <a:t>Intro to Preprocessing Data</a:t>
            </a:r>
          </a:p>
        </p:txBody>
      </p:sp>
      <p:pic>
        <p:nvPicPr>
          <p:cNvPr id="8" name="Content Placeholder 7" descr="Manual data cleaning processes with spreadsheets, charts showing missing data and error correction">
            <a:extLst>
              <a:ext uri="{FF2B5EF4-FFF2-40B4-BE49-F238E27FC236}">
                <a16:creationId xmlns:a16="http://schemas.microsoft.com/office/drawing/2014/main" id="{84F3623D-9AB3-4E76-B52D-1EAEC6B864CC}"/>
              </a:ext>
            </a:extLst>
          </p:cNvPr>
          <p:cNvPicPr>
            <a:picLocks noGrp="1" noChangeAspect="1"/>
          </p:cNvPicPr>
          <p:nvPr>
            <p:ph type="pic" sz="quarter" idx="15"/>
          </p:nvPr>
        </p:nvPicPr>
        <p:blipFill>
          <a:blip r:embed="rId3"/>
          <a:srcRect l="30348" r="1912" b="-2"/>
          <a:stretch>
            <a:fillRect/>
          </a:stretch>
        </p:blipFill>
        <p:spPr>
          <a:xfrm>
            <a:off x="7885471" y="2641877"/>
            <a:ext cx="3618276" cy="3565465"/>
          </a:xfrm>
        </p:spPr>
      </p:pic>
      <p:sp>
        <p:nvSpPr>
          <p:cNvPr id="7" name="Content Placeholder 6">
            <a:extLst>
              <a:ext uri="{FF2B5EF4-FFF2-40B4-BE49-F238E27FC236}">
                <a16:creationId xmlns:a16="http://schemas.microsoft.com/office/drawing/2014/main" id="{20C510D4-B3C8-B1F6-EE53-E7F84C05F18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4464" y="1248696"/>
            <a:ext cx="6528620" cy="4847303"/>
          </a:xfrm>
        </p:spPr>
        <p:txBody>
          <a:bodyPr>
            <a:normAutofit/>
          </a:bodyPr>
          <a:lstStyle/>
          <a:p>
            <a:pPr>
              <a:lnSpc>
                <a:spcPct val="110000"/>
              </a:lnSpc>
              <a:spcBef>
                <a:spcPts val="2500"/>
              </a:spcBef>
            </a:pPr>
            <a:r>
              <a:rPr lang="en-US" sz="1800" b="1" dirty="0">
                <a:latin typeface="Aptos" panose="020B0004020202020204" pitchFamily="34" charset="0"/>
              </a:rPr>
              <a:t>• Preprocessing prepares raw data for neural networks</a:t>
            </a:r>
          </a:p>
          <a:p>
            <a:pPr>
              <a:lnSpc>
                <a:spcPct val="110000"/>
              </a:lnSpc>
              <a:spcBef>
                <a:spcPts val="2500"/>
              </a:spcBef>
            </a:pPr>
            <a:r>
              <a:rPr lang="en-US" sz="1800" b="1" dirty="0">
                <a:latin typeface="Aptos" panose="020B0004020202020204" pitchFamily="34" charset="0"/>
              </a:rPr>
              <a:t>• Happens before model training</a:t>
            </a:r>
          </a:p>
          <a:p>
            <a:pPr>
              <a:lnSpc>
                <a:spcPct val="110000"/>
              </a:lnSpc>
              <a:spcBef>
                <a:spcPts val="2500"/>
              </a:spcBef>
            </a:pPr>
            <a:r>
              <a:rPr lang="en-US" sz="1800" b="1" dirty="0">
                <a:latin typeface="Aptos" panose="020B0004020202020204" pitchFamily="34" charset="0"/>
              </a:rPr>
              <a:t>• Ensures consistency and quality</a:t>
            </a:r>
          </a:p>
          <a:p>
            <a:pPr>
              <a:lnSpc>
                <a:spcPct val="110000"/>
              </a:lnSpc>
              <a:spcBef>
                <a:spcPts val="2500"/>
              </a:spcBef>
            </a:pPr>
            <a:r>
              <a:rPr lang="en-US" sz="1800" b="1" dirty="0">
                <a:latin typeface="Aptos" panose="020B0004020202020204" pitchFamily="34" charset="0"/>
              </a:rPr>
              <a:t>• Reduces noise and improves generalization</a:t>
            </a:r>
          </a:p>
          <a:p>
            <a:pPr>
              <a:lnSpc>
                <a:spcPct val="110000"/>
              </a:lnSpc>
              <a:spcBef>
                <a:spcPts val="2500"/>
              </a:spcBef>
            </a:pPr>
            <a:r>
              <a:rPr lang="en-US" sz="1800" b="1" dirty="0">
                <a:latin typeface="Aptos" panose="020B0004020202020204" pitchFamily="34" charset="0"/>
              </a:rPr>
              <a:t>• Impacts accuracy and training stability</a:t>
            </a:r>
          </a:p>
          <a:p>
            <a:pPr>
              <a:lnSpc>
                <a:spcPct val="110000"/>
              </a:lnSpc>
              <a:spcBef>
                <a:spcPts val="2500"/>
              </a:spcBef>
            </a:pPr>
            <a:r>
              <a:rPr lang="en-US" sz="1800" b="1" dirty="0">
                <a:latin typeface="Aptos" panose="020B0004020202020204" pitchFamily="34" charset="0"/>
              </a:rPr>
              <a:t>• Reduces bias and unintended patterns in the data</a:t>
            </a:r>
          </a:p>
        </p:txBody>
      </p:sp>
      <p:sp>
        <p:nvSpPr>
          <p:cNvPr id="10" name="TextBox 9">
            <a:extLst>
              <a:ext uri="{FF2B5EF4-FFF2-40B4-BE49-F238E27FC236}">
                <a16:creationId xmlns:a16="http://schemas.microsoft.com/office/drawing/2014/main" id="{9DD2953B-55E2-0BB2-0F5C-2DD3A3F005DA}"/>
              </a:ext>
            </a:extLst>
          </p:cNvPr>
          <p:cNvSpPr txBox="1"/>
          <p:nvPr/>
        </p:nvSpPr>
        <p:spPr>
          <a:xfrm>
            <a:off x="7403693" y="1248696"/>
            <a:ext cx="4581832" cy="923330"/>
          </a:xfrm>
          <a:prstGeom prst="rect">
            <a:avLst/>
          </a:prstGeom>
          <a:noFill/>
        </p:spPr>
        <p:txBody>
          <a:bodyPr wrap="square">
            <a:spAutoFit/>
          </a:bodyPr>
          <a:lstStyle/>
          <a:p>
            <a:r>
              <a:rPr lang="en-US" dirty="0">
                <a:latin typeface="Aptos" panose="020B0004020202020204" pitchFamily="34" charset="0"/>
              </a:rPr>
              <a:t>Deep learning models are sensitive to messy data, so preprocessing is essential for stable and accurate learning.</a:t>
            </a:r>
          </a:p>
        </p:txBody>
      </p:sp>
    </p:spTree>
    <p:extLst>
      <p:ext uri="{BB962C8B-B14F-4D97-AF65-F5344CB8AC3E}">
        <p14:creationId xmlns:p14="http://schemas.microsoft.com/office/powerpoint/2010/main" val="40771736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99AC9-8A60-2104-2209-8BD793A2A338}"/>
              </a:ext>
            </a:extLst>
          </p:cNvPr>
          <p:cNvSpPr>
            <a:spLocks noGrp="1"/>
          </p:cNvSpPr>
          <p:nvPr>
            <p:ph type="title"/>
          </p:nvPr>
        </p:nvSpPr>
        <p:spPr>
          <a:xfrm>
            <a:off x="3558609" y="171173"/>
            <a:ext cx="5188052" cy="568138"/>
          </a:xfrm>
        </p:spPr>
        <p:txBody>
          <a:bodyPr vert="horz" lIns="91440" tIns="45720" rIns="91440" bIns="45720" rtlCol="0" anchor="b">
            <a:normAutofit/>
          </a:bodyPr>
          <a:lstStyle/>
          <a:p>
            <a:r>
              <a:rPr lang="en-US" sz="3200" b="0" kern="1200" spc="0" baseline="0" dirty="0">
                <a:latin typeface="+mj-lt"/>
                <a:ea typeface="+mj-ea"/>
                <a:cs typeface="+mj-cs"/>
              </a:rPr>
              <a:t>Key Concepts &amp; Terminology</a:t>
            </a:r>
          </a:p>
        </p:txBody>
      </p:sp>
      <p:graphicFrame>
        <p:nvGraphicFramePr>
          <p:cNvPr id="11" name="TextBox 8">
            <a:extLst>
              <a:ext uri="{FF2B5EF4-FFF2-40B4-BE49-F238E27FC236}">
                <a16:creationId xmlns:a16="http://schemas.microsoft.com/office/drawing/2014/main" id="{DAC4C036-5947-303D-D9FF-C5A44145E230}"/>
              </a:ext>
            </a:extLst>
          </p:cNvPr>
          <p:cNvGraphicFramePr/>
          <p:nvPr>
            <p:extLst>
              <p:ext uri="{D42A27DB-BD31-4B8C-83A1-F6EECF244321}">
                <p14:modId xmlns:p14="http://schemas.microsoft.com/office/powerpoint/2010/main" val="3283887"/>
              </p:ext>
            </p:extLst>
          </p:nvPr>
        </p:nvGraphicFramePr>
        <p:xfrm>
          <a:off x="442451" y="647621"/>
          <a:ext cx="11414785" cy="53008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11">
            <a:extLst>
              <a:ext uri="{FF2B5EF4-FFF2-40B4-BE49-F238E27FC236}">
                <a16:creationId xmlns:a16="http://schemas.microsoft.com/office/drawing/2014/main" id="{89ECBAF2-AE6A-07F4-C20E-E56230ABB32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76656" y="3537158"/>
            <a:ext cx="3546373" cy="2175386"/>
          </a:xfrm>
          <a:prstGeom prst="rect">
            <a:avLst/>
          </a:prstGeom>
        </p:spPr>
      </p:pic>
    </p:spTree>
    <p:extLst>
      <p:ext uri="{BB962C8B-B14F-4D97-AF65-F5344CB8AC3E}">
        <p14:creationId xmlns:p14="http://schemas.microsoft.com/office/powerpoint/2010/main" val="335769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BFF590-7952-861B-8F42-D9DEE0DED1E1}"/>
              </a:ext>
            </a:extLst>
          </p:cNvPr>
          <p:cNvSpPr txBox="1"/>
          <p:nvPr/>
        </p:nvSpPr>
        <p:spPr>
          <a:xfrm>
            <a:off x="3593690" y="78702"/>
            <a:ext cx="5004620" cy="619345"/>
          </a:xfrm>
          <a:prstGeom prst="rect">
            <a:avLst/>
          </a:prstGeom>
        </p:spPr>
        <p:txBody>
          <a:bodyPr vert="horz" lIns="91440" tIns="45720" rIns="91440" bIns="45720" rtlCol="0" anchor="b">
            <a:noAutofit/>
          </a:bodyPr>
          <a:lstStyle/>
          <a:p>
            <a:pPr>
              <a:lnSpc>
                <a:spcPct val="85000"/>
              </a:lnSpc>
              <a:spcBef>
                <a:spcPct val="0"/>
              </a:spcBef>
              <a:spcAft>
                <a:spcPts val="600"/>
              </a:spcAft>
            </a:pPr>
            <a:r>
              <a:rPr lang="en-US" sz="3200" b="0" kern="1200" spc="0" baseline="0" dirty="0">
                <a:latin typeface="Aptos" panose="020B0004020202020204" pitchFamily="34" charset="0"/>
                <a:ea typeface="+mj-ea"/>
                <a:cs typeface="+mj-cs"/>
              </a:rPr>
              <a:t>Techniques &amp; Approaches</a:t>
            </a:r>
          </a:p>
        </p:txBody>
      </p:sp>
      <p:graphicFrame>
        <p:nvGraphicFramePr>
          <p:cNvPr id="10" name="TextBox 7">
            <a:extLst>
              <a:ext uri="{FF2B5EF4-FFF2-40B4-BE49-F238E27FC236}">
                <a16:creationId xmlns:a16="http://schemas.microsoft.com/office/drawing/2014/main" id="{38EB3F48-A595-F831-FA92-CF7765CF069B}"/>
              </a:ext>
            </a:extLst>
          </p:cNvPr>
          <p:cNvGraphicFramePr/>
          <p:nvPr>
            <p:extLst>
              <p:ext uri="{D42A27DB-BD31-4B8C-83A1-F6EECF244321}">
                <p14:modId xmlns:p14="http://schemas.microsoft.com/office/powerpoint/2010/main" val="1129115294"/>
              </p:ext>
            </p:extLst>
          </p:nvPr>
        </p:nvGraphicFramePr>
        <p:xfrm>
          <a:off x="937456" y="840614"/>
          <a:ext cx="10317088" cy="5938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9412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E6A6C-1C19-CB79-79F1-5C41D7A0D633}"/>
              </a:ext>
            </a:extLst>
          </p:cNvPr>
          <p:cNvSpPr>
            <a:spLocks noGrp="1"/>
          </p:cNvSpPr>
          <p:nvPr>
            <p:ph type="title"/>
          </p:nvPr>
        </p:nvSpPr>
        <p:spPr>
          <a:xfrm>
            <a:off x="3839688" y="0"/>
            <a:ext cx="4512623" cy="678425"/>
          </a:xfrm>
        </p:spPr>
        <p:txBody>
          <a:bodyPr>
            <a:normAutofit/>
          </a:bodyPr>
          <a:lstStyle/>
          <a:p>
            <a:r>
              <a:rPr lang="en-US" sz="3200" b="1" dirty="0">
                <a:latin typeface="Aptos" panose="020B0004020202020204" pitchFamily="34" charset="0"/>
              </a:rPr>
              <a:t>Real-World Examples</a:t>
            </a:r>
            <a:endParaRPr lang="en-US" sz="3200" dirty="0">
              <a:latin typeface="Aptos" panose="020B0004020202020204" pitchFamily="34" charset="0"/>
            </a:endParaRPr>
          </a:p>
        </p:txBody>
      </p:sp>
      <p:sp>
        <p:nvSpPr>
          <p:cNvPr id="6" name="Content Placeholder 5">
            <a:extLst>
              <a:ext uri="{FF2B5EF4-FFF2-40B4-BE49-F238E27FC236}">
                <a16:creationId xmlns:a16="http://schemas.microsoft.com/office/drawing/2014/main" id="{DE2DF608-9863-D44C-744E-A75C5BE4D92F}"/>
              </a:ext>
            </a:extLst>
          </p:cNvPr>
          <p:cNvSpPr>
            <a:spLocks noGrp="1"/>
          </p:cNvSpPr>
          <p:nvPr>
            <p:ph sz="quarter" idx="4294967295"/>
          </p:nvPr>
        </p:nvSpPr>
        <p:spPr>
          <a:xfrm>
            <a:off x="0" y="884749"/>
            <a:ext cx="5919788" cy="5791354"/>
          </a:xfrm>
        </p:spPr>
        <p:txBody>
          <a:bodyPr>
            <a:noAutofit/>
          </a:bodyPr>
          <a:lstStyle/>
          <a:p>
            <a:pPr>
              <a:lnSpc>
                <a:spcPct val="100000"/>
              </a:lnSpc>
            </a:pPr>
            <a:r>
              <a:rPr lang="en-US" sz="2000" b="1" dirty="0">
                <a:latin typeface="Aptos" panose="020B0004020202020204" pitchFamily="34" charset="0"/>
              </a:rPr>
              <a:t>Healthcare Medical Imaging Tumor Detection </a:t>
            </a:r>
          </a:p>
          <a:p>
            <a:pPr>
              <a:lnSpc>
                <a:spcPct val="100000"/>
              </a:lnSpc>
              <a:spcBef>
                <a:spcPts val="0"/>
              </a:spcBef>
            </a:pPr>
            <a:r>
              <a:rPr lang="en-US" sz="1600" b="1" i="1" dirty="0">
                <a:latin typeface="Aptos" panose="020B0004020202020204" pitchFamily="34" charset="0"/>
              </a:rPr>
              <a:t>(Based on industry applications such as MRI/X‑ray preprocessing in medical AI)</a:t>
            </a:r>
          </a:p>
          <a:p>
            <a:pPr>
              <a:lnSpc>
                <a:spcPct val="100000"/>
              </a:lnSpc>
              <a:spcBef>
                <a:spcPts val="0"/>
              </a:spcBef>
            </a:pPr>
            <a:endParaRPr lang="en-US" sz="1600" b="1" dirty="0">
              <a:latin typeface="Aptos" panose="020B0004020202020204" pitchFamily="34" charset="0"/>
            </a:endParaRPr>
          </a:p>
          <a:p>
            <a:pPr>
              <a:lnSpc>
                <a:spcPct val="100000"/>
              </a:lnSpc>
              <a:spcBef>
                <a:spcPts val="0"/>
              </a:spcBef>
            </a:pPr>
            <a:r>
              <a:rPr lang="en-US" sz="2000" b="1" u="sng" dirty="0">
                <a:latin typeface="Aptos" panose="020B0004020202020204" pitchFamily="34" charset="0"/>
              </a:rPr>
              <a:t>What Was Done:</a:t>
            </a:r>
          </a:p>
          <a:p>
            <a:pPr>
              <a:lnSpc>
                <a:spcPct val="100000"/>
              </a:lnSpc>
              <a:spcBef>
                <a:spcPts val="0"/>
              </a:spcBef>
            </a:pPr>
            <a:r>
              <a:rPr lang="en-US" sz="1600" dirty="0">
                <a:latin typeface="Aptos" panose="020B0004020202020204" pitchFamily="34" charset="0"/>
              </a:rPr>
              <a:t>Hospitals used deep learning models to detect tumors in MRI and X‑ray scans.</a:t>
            </a:r>
          </a:p>
          <a:p>
            <a:pPr>
              <a:lnSpc>
                <a:spcPct val="100000"/>
              </a:lnSpc>
              <a:spcBef>
                <a:spcPts val="0"/>
              </a:spcBef>
            </a:pPr>
            <a:endParaRPr lang="en-US" sz="1600" dirty="0">
              <a:latin typeface="Aptos" panose="020B0004020202020204" pitchFamily="34" charset="0"/>
            </a:endParaRPr>
          </a:p>
          <a:p>
            <a:pPr>
              <a:lnSpc>
                <a:spcPct val="100000"/>
              </a:lnSpc>
              <a:spcBef>
                <a:spcPts val="0"/>
              </a:spcBef>
            </a:pPr>
            <a:r>
              <a:rPr lang="en-US" sz="2000" b="1" u="sng" dirty="0">
                <a:latin typeface="Aptos" panose="020B0004020202020204" pitchFamily="34" charset="0"/>
              </a:rPr>
              <a:t>Preprocessing included:</a:t>
            </a:r>
          </a:p>
          <a:p>
            <a:pPr>
              <a:lnSpc>
                <a:spcPct val="100000"/>
              </a:lnSpc>
              <a:spcBef>
                <a:spcPts val="0"/>
              </a:spcBef>
            </a:pPr>
            <a:r>
              <a:rPr lang="en-US" sz="1600" dirty="0">
                <a:latin typeface="Aptos" panose="020B0004020202020204" pitchFamily="34" charset="0"/>
              </a:rPr>
              <a:t>Normalization of pixel intensities</a:t>
            </a:r>
          </a:p>
          <a:p>
            <a:pPr>
              <a:lnSpc>
                <a:spcPct val="100000"/>
              </a:lnSpc>
              <a:spcBef>
                <a:spcPts val="0"/>
              </a:spcBef>
            </a:pPr>
            <a:r>
              <a:rPr lang="en-US" sz="1600" dirty="0">
                <a:latin typeface="Aptos" panose="020B0004020202020204" pitchFamily="34" charset="0"/>
              </a:rPr>
              <a:t>Noise reduction</a:t>
            </a:r>
          </a:p>
          <a:p>
            <a:pPr>
              <a:lnSpc>
                <a:spcPct val="100000"/>
              </a:lnSpc>
              <a:spcBef>
                <a:spcPts val="0"/>
              </a:spcBef>
            </a:pPr>
            <a:r>
              <a:rPr lang="en-US" sz="1600" dirty="0">
                <a:latin typeface="Aptos" panose="020B0004020202020204" pitchFamily="34" charset="0"/>
              </a:rPr>
              <a:t>Image resizing &amp; standardization</a:t>
            </a:r>
          </a:p>
          <a:p>
            <a:pPr>
              <a:lnSpc>
                <a:spcPct val="100000"/>
              </a:lnSpc>
              <a:spcBef>
                <a:spcPts val="0"/>
              </a:spcBef>
            </a:pPr>
            <a:r>
              <a:rPr lang="en-US" sz="1600" dirty="0">
                <a:latin typeface="Aptos" panose="020B0004020202020204" pitchFamily="34" charset="0"/>
              </a:rPr>
              <a:t>Data augmentation (rotations, flips) to increase dataset diversity</a:t>
            </a:r>
          </a:p>
          <a:p>
            <a:pPr>
              <a:lnSpc>
                <a:spcPct val="100000"/>
              </a:lnSpc>
              <a:spcBef>
                <a:spcPts val="0"/>
              </a:spcBef>
            </a:pPr>
            <a:endParaRPr lang="en-US" sz="1600" dirty="0">
              <a:latin typeface="Aptos" panose="020B0004020202020204" pitchFamily="34" charset="0"/>
            </a:endParaRPr>
          </a:p>
          <a:p>
            <a:pPr>
              <a:lnSpc>
                <a:spcPct val="100000"/>
              </a:lnSpc>
              <a:spcBef>
                <a:spcPts val="0"/>
              </a:spcBef>
            </a:pPr>
            <a:r>
              <a:rPr lang="en-US" sz="2000" u="sng" dirty="0">
                <a:latin typeface="Aptos" panose="020B0004020202020204" pitchFamily="34" charset="0"/>
              </a:rPr>
              <a:t>Impact:</a:t>
            </a:r>
          </a:p>
          <a:p>
            <a:pPr>
              <a:lnSpc>
                <a:spcPct val="100000"/>
              </a:lnSpc>
              <a:spcBef>
                <a:spcPts val="0"/>
              </a:spcBef>
            </a:pPr>
            <a:r>
              <a:rPr lang="en-US" sz="1600" dirty="0">
                <a:latin typeface="Aptos" panose="020B0004020202020204" pitchFamily="34" charset="0"/>
              </a:rPr>
              <a:t>Up to 22% improvement in diagnostic precision when lighting/noise inconsistencies were corrected.</a:t>
            </a:r>
          </a:p>
          <a:p>
            <a:pPr>
              <a:lnSpc>
                <a:spcPct val="100000"/>
              </a:lnSpc>
              <a:spcBef>
                <a:spcPts val="0"/>
              </a:spcBef>
            </a:pPr>
            <a:r>
              <a:rPr lang="en-US" sz="1600" dirty="0">
                <a:latin typeface="Aptos" panose="020B0004020202020204" pitchFamily="34" charset="0"/>
              </a:rPr>
              <a:t>Faster radiologist workflows; reduced false negatives.</a:t>
            </a:r>
          </a:p>
          <a:p>
            <a:pPr>
              <a:lnSpc>
                <a:spcPct val="100000"/>
              </a:lnSpc>
              <a:spcBef>
                <a:spcPts val="0"/>
              </a:spcBef>
            </a:pPr>
            <a:r>
              <a:rPr lang="en-US" sz="1600" dirty="0">
                <a:latin typeface="Aptos" panose="020B0004020202020204" pitchFamily="34" charset="0"/>
              </a:rPr>
              <a:t>More consistent model performance across hospitals and imaging devices.</a:t>
            </a:r>
          </a:p>
        </p:txBody>
      </p:sp>
      <p:sp>
        <p:nvSpPr>
          <p:cNvPr id="7" name="Content Placeholder 5">
            <a:extLst>
              <a:ext uri="{FF2B5EF4-FFF2-40B4-BE49-F238E27FC236}">
                <a16:creationId xmlns:a16="http://schemas.microsoft.com/office/drawing/2014/main" id="{BBFAC152-04D6-67F0-2CCB-DE26002E1F52}"/>
              </a:ext>
            </a:extLst>
          </p:cNvPr>
          <p:cNvSpPr txBox="1">
            <a:spLocks/>
          </p:cNvSpPr>
          <p:nvPr/>
        </p:nvSpPr>
        <p:spPr>
          <a:xfrm>
            <a:off x="6096001" y="884749"/>
            <a:ext cx="6095999" cy="5963265"/>
          </a:xfrm>
          <a:prstGeom prst="rect">
            <a:avLst/>
          </a:prstGeom>
        </p:spPr>
        <p:txBody>
          <a:bodyPr vert="horz" lIns="91440" tIns="45720" rIns="731520" bIns="45720" rtlCol="0">
            <a:noAutofit/>
          </a:bodyPr>
          <a:lstStyle>
            <a:lvl1pPr marL="0" indent="0" algn="l" defTabSz="914400" rtl="0" eaLnBrk="1" latinLnBrk="0" hangingPunct="1">
              <a:lnSpc>
                <a:spcPct val="120000"/>
              </a:lnSpc>
              <a:spcBef>
                <a:spcPts val="1000"/>
              </a:spcBef>
              <a:buFont typeface="Arial" panose="020B0604020202020204" pitchFamily="34" charset="0"/>
              <a:buNone/>
              <a:defRPr lang="en-US" sz="1400" kern="1200" spc="0" dirty="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lang="en-US" sz="1400" kern="1200" spc="0" dirty="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lang="en-US" sz="1400" kern="1200" spc="0" dirty="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lang="en-US" sz="1400" kern="1200" spc="0" dirty="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lang="en-US" sz="1400" kern="1200" spc="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pPr>
            <a:r>
              <a:rPr lang="en-US" sz="2000" b="1" dirty="0">
                <a:latin typeface="Aptos" panose="020B0004020202020204" pitchFamily="34" charset="0"/>
              </a:rPr>
              <a:t>Finance — Credit Risk Assessment</a:t>
            </a:r>
          </a:p>
          <a:p>
            <a:pPr>
              <a:lnSpc>
                <a:spcPct val="100000"/>
              </a:lnSpc>
              <a:spcBef>
                <a:spcPts val="0"/>
              </a:spcBef>
            </a:pPr>
            <a:r>
              <a:rPr lang="en-US" sz="1600" b="1" i="1" dirty="0">
                <a:latin typeface="Aptos" panose="020B0004020202020204" pitchFamily="34" charset="0"/>
              </a:rPr>
              <a:t>(From deep learning case studies in financial modeling)</a:t>
            </a:r>
          </a:p>
          <a:p>
            <a:pPr>
              <a:lnSpc>
                <a:spcPct val="100000"/>
              </a:lnSpc>
              <a:spcBef>
                <a:spcPts val="0"/>
              </a:spcBef>
            </a:pPr>
            <a:endParaRPr lang="en-US" sz="1600" b="1" dirty="0">
              <a:latin typeface="Aptos" panose="020B0004020202020204" pitchFamily="34" charset="0"/>
            </a:endParaRPr>
          </a:p>
          <a:p>
            <a:pPr>
              <a:lnSpc>
                <a:spcPct val="100000"/>
              </a:lnSpc>
              <a:spcBef>
                <a:spcPts val="0"/>
              </a:spcBef>
            </a:pPr>
            <a:r>
              <a:rPr lang="en-US" sz="2000" b="1" u="sng" dirty="0">
                <a:latin typeface="Aptos" panose="020B0004020202020204" pitchFamily="34" charset="0"/>
              </a:rPr>
              <a:t>What Was Done:</a:t>
            </a:r>
          </a:p>
          <a:p>
            <a:pPr>
              <a:lnSpc>
                <a:spcPct val="100000"/>
              </a:lnSpc>
              <a:spcBef>
                <a:spcPts val="0"/>
              </a:spcBef>
            </a:pPr>
            <a:r>
              <a:rPr lang="en-US" sz="1600" b="1" dirty="0">
                <a:latin typeface="Aptos" panose="020B0004020202020204" pitchFamily="34" charset="0"/>
              </a:rPr>
              <a:t>A financial analytics company built a deep learning model to predict credit risk.</a:t>
            </a:r>
          </a:p>
          <a:p>
            <a:pPr>
              <a:lnSpc>
                <a:spcPct val="100000"/>
              </a:lnSpc>
              <a:spcBef>
                <a:spcPts val="0"/>
              </a:spcBef>
            </a:pPr>
            <a:endParaRPr lang="en-US" sz="1600" b="1" dirty="0">
              <a:latin typeface="Aptos" panose="020B0004020202020204" pitchFamily="34" charset="0"/>
            </a:endParaRPr>
          </a:p>
          <a:p>
            <a:pPr>
              <a:lnSpc>
                <a:spcPct val="100000"/>
              </a:lnSpc>
              <a:spcBef>
                <a:spcPts val="0"/>
              </a:spcBef>
            </a:pPr>
            <a:r>
              <a:rPr lang="en-US" sz="2000" b="1" u="sng" dirty="0">
                <a:latin typeface="Aptos" panose="020B0004020202020204" pitchFamily="34" charset="0"/>
              </a:rPr>
              <a:t>Preprocessing included:</a:t>
            </a:r>
          </a:p>
          <a:p>
            <a:pPr>
              <a:lnSpc>
                <a:spcPct val="100000"/>
              </a:lnSpc>
              <a:spcBef>
                <a:spcPts val="0"/>
              </a:spcBef>
            </a:pPr>
            <a:r>
              <a:rPr lang="en-US" sz="1600" b="1" dirty="0">
                <a:latin typeface="Aptos" panose="020B0004020202020204" pitchFamily="34" charset="0"/>
              </a:rPr>
              <a:t>Imputing missing income &amp; employment fields</a:t>
            </a:r>
          </a:p>
          <a:p>
            <a:pPr>
              <a:lnSpc>
                <a:spcPct val="100000"/>
              </a:lnSpc>
              <a:spcBef>
                <a:spcPts val="0"/>
              </a:spcBef>
            </a:pPr>
            <a:r>
              <a:rPr lang="en-US" sz="1600" b="1" dirty="0">
                <a:latin typeface="Aptos" panose="020B0004020202020204" pitchFamily="34" charset="0"/>
              </a:rPr>
              <a:t>Scaling numerical features (income, debt ratios)</a:t>
            </a:r>
          </a:p>
          <a:p>
            <a:pPr>
              <a:lnSpc>
                <a:spcPct val="100000"/>
              </a:lnSpc>
              <a:spcBef>
                <a:spcPts val="0"/>
              </a:spcBef>
            </a:pPr>
            <a:r>
              <a:rPr lang="en-US" sz="1600" b="1" dirty="0">
                <a:latin typeface="Aptos" panose="020B0004020202020204" pitchFamily="34" charset="0"/>
              </a:rPr>
              <a:t>Encoding high‑cardinality categories (job titles, industries) using embeddings</a:t>
            </a:r>
          </a:p>
          <a:p>
            <a:pPr>
              <a:lnSpc>
                <a:spcPct val="100000"/>
              </a:lnSpc>
              <a:spcBef>
                <a:spcPts val="0"/>
              </a:spcBef>
            </a:pPr>
            <a:r>
              <a:rPr lang="en-US" sz="1600" b="1" dirty="0">
                <a:latin typeface="Aptos" panose="020B0004020202020204" pitchFamily="34" charset="0"/>
              </a:rPr>
              <a:t>Strict anti‑leakage pipelines to ensure fair evaluation</a:t>
            </a:r>
          </a:p>
          <a:p>
            <a:pPr>
              <a:lnSpc>
                <a:spcPct val="100000"/>
              </a:lnSpc>
              <a:spcBef>
                <a:spcPts val="0"/>
              </a:spcBef>
            </a:pPr>
            <a:endParaRPr lang="en-US" sz="1600" b="1" dirty="0">
              <a:latin typeface="Aptos" panose="020B0004020202020204" pitchFamily="34" charset="0"/>
            </a:endParaRPr>
          </a:p>
          <a:p>
            <a:pPr>
              <a:lnSpc>
                <a:spcPct val="100000"/>
              </a:lnSpc>
              <a:spcBef>
                <a:spcPts val="0"/>
              </a:spcBef>
            </a:pPr>
            <a:r>
              <a:rPr lang="en-US" sz="2000" b="1" u="sng" dirty="0">
                <a:latin typeface="Aptos" panose="020B0004020202020204" pitchFamily="34" charset="0"/>
              </a:rPr>
              <a:t>Impact:</a:t>
            </a:r>
          </a:p>
          <a:p>
            <a:pPr>
              <a:lnSpc>
                <a:spcPct val="100000"/>
              </a:lnSpc>
              <a:spcBef>
                <a:spcPts val="0"/>
              </a:spcBef>
            </a:pPr>
            <a:r>
              <a:rPr lang="en-US" sz="1600" b="1" dirty="0">
                <a:latin typeface="Aptos" panose="020B0004020202020204" pitchFamily="34" charset="0"/>
              </a:rPr>
              <a:t>30% improvement in prediction accuracy for high‑risk borrowers.</a:t>
            </a:r>
          </a:p>
          <a:p>
            <a:pPr>
              <a:lnSpc>
                <a:spcPct val="100000"/>
              </a:lnSpc>
              <a:spcBef>
                <a:spcPts val="0"/>
              </a:spcBef>
            </a:pPr>
            <a:r>
              <a:rPr lang="en-US" sz="1600" b="1" dirty="0">
                <a:latin typeface="Aptos" panose="020B0004020202020204" pitchFamily="34" charset="0"/>
              </a:rPr>
              <a:t>Reduced loan default rates and improved customer segmentation.</a:t>
            </a:r>
          </a:p>
          <a:p>
            <a:pPr>
              <a:lnSpc>
                <a:spcPct val="100000"/>
              </a:lnSpc>
              <a:spcBef>
                <a:spcPts val="0"/>
              </a:spcBef>
            </a:pPr>
            <a:r>
              <a:rPr lang="en-US" sz="1600" b="1" dirty="0">
                <a:latin typeface="Aptos" panose="020B0004020202020204" pitchFamily="34" charset="0"/>
              </a:rPr>
              <a:t>Faster model convergence due to clean, scaled inputs.</a:t>
            </a:r>
          </a:p>
        </p:txBody>
      </p:sp>
    </p:spTree>
    <p:extLst>
      <p:ext uri="{BB962C8B-B14F-4D97-AF65-F5344CB8AC3E}">
        <p14:creationId xmlns:p14="http://schemas.microsoft.com/office/powerpoint/2010/main" val="4291698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21606-BFC1-14EF-A5EE-FFF53443F9C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5AF3C96-C246-B1E0-250F-7BB937DF9B99}"/>
              </a:ext>
            </a:extLst>
          </p:cNvPr>
          <p:cNvSpPr txBox="1"/>
          <p:nvPr/>
        </p:nvSpPr>
        <p:spPr>
          <a:xfrm>
            <a:off x="3506247" y="3752"/>
            <a:ext cx="5191997" cy="719278"/>
          </a:xfrm>
          <a:prstGeom prst="rect">
            <a:avLst/>
          </a:prstGeom>
        </p:spPr>
        <p:txBody>
          <a:bodyPr vert="horz" lIns="91440" tIns="45720" rIns="91440" bIns="45720" rtlCol="0" anchor="b">
            <a:noAutofit/>
          </a:bodyPr>
          <a:lstStyle/>
          <a:p>
            <a:pPr>
              <a:lnSpc>
                <a:spcPct val="85000"/>
              </a:lnSpc>
              <a:spcBef>
                <a:spcPct val="0"/>
              </a:spcBef>
              <a:spcAft>
                <a:spcPts val="600"/>
              </a:spcAft>
            </a:pPr>
            <a:r>
              <a:rPr lang="en-US" sz="3200" dirty="0">
                <a:latin typeface="Aptos"/>
                <a:ea typeface="+mj-ea"/>
                <a:cs typeface="+mj-cs"/>
              </a:rPr>
              <a:t>Tools, Libraries, </a:t>
            </a:r>
            <a:r>
              <a:rPr lang="en-US" sz="3200" b="0" kern="1200" spc="0" baseline="0" dirty="0">
                <a:latin typeface="Aptos"/>
                <a:ea typeface="+mj-ea"/>
                <a:cs typeface="+mj-cs"/>
              </a:rPr>
              <a:t>&amp; </a:t>
            </a:r>
            <a:r>
              <a:rPr lang="en-US" sz="3200" dirty="0">
                <a:latin typeface="Aptos"/>
                <a:ea typeface="+mj-ea"/>
                <a:cs typeface="+mj-cs"/>
              </a:rPr>
              <a:t>Platforms</a:t>
            </a:r>
            <a:endParaRPr lang="en-US" sz="3200" dirty="0">
              <a:ea typeface="+mj-ea"/>
              <a:cs typeface="+mj-cs"/>
            </a:endParaRPr>
          </a:p>
        </p:txBody>
      </p:sp>
      <p:graphicFrame>
        <p:nvGraphicFramePr>
          <p:cNvPr id="10" name="TextBox 7">
            <a:extLst>
              <a:ext uri="{FF2B5EF4-FFF2-40B4-BE49-F238E27FC236}">
                <a16:creationId xmlns:a16="http://schemas.microsoft.com/office/drawing/2014/main" id="{36C037B9-E1CB-5CF1-D101-1F44FD1AD7AC}"/>
              </a:ext>
            </a:extLst>
          </p:cNvPr>
          <p:cNvGraphicFramePr/>
          <p:nvPr>
            <p:extLst>
              <p:ext uri="{D42A27DB-BD31-4B8C-83A1-F6EECF244321}">
                <p14:modId xmlns:p14="http://schemas.microsoft.com/office/powerpoint/2010/main" val="3731097789"/>
              </p:ext>
            </p:extLst>
          </p:nvPr>
        </p:nvGraphicFramePr>
        <p:xfrm>
          <a:off x="675129" y="828122"/>
          <a:ext cx="10841742" cy="60261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2149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D27D716-6EEE-983D-5E18-D3797377249F}"/>
              </a:ext>
            </a:extLst>
          </p:cNvPr>
          <p:cNvSpPr>
            <a:spLocks noGrp="1"/>
          </p:cNvSpPr>
          <p:nvPr>
            <p:ph type="title"/>
          </p:nvPr>
        </p:nvSpPr>
        <p:spPr>
          <a:xfrm>
            <a:off x="3326306" y="734099"/>
            <a:ext cx="5549705" cy="731520"/>
          </a:xfrm>
        </p:spPr>
        <p:txBody>
          <a:bodyPr anchor="b">
            <a:normAutofit/>
          </a:bodyPr>
          <a:lstStyle/>
          <a:p>
            <a:r>
              <a:rPr lang="en-US" sz="3200" b="1" u="sng">
                <a:latin typeface="Aptos"/>
              </a:rPr>
              <a:t>Challenges &amp; Best Practices</a:t>
            </a:r>
            <a:endParaRPr lang="en-US" sz="3200" u="sng">
              <a:latin typeface="Aptos"/>
            </a:endParaRPr>
          </a:p>
        </p:txBody>
      </p:sp>
      <p:sp>
        <p:nvSpPr>
          <p:cNvPr id="17" name="Date Placeholder 2">
            <a:extLst>
              <a:ext uri="{FF2B5EF4-FFF2-40B4-BE49-F238E27FC236}">
                <a16:creationId xmlns:a16="http://schemas.microsoft.com/office/drawing/2014/main" id="{C7387005-8EC4-E286-ED18-58B3954D9A76}"/>
              </a:ext>
            </a:extLst>
          </p:cNvPr>
          <p:cNvSpPr>
            <a:spLocks noGrp="1"/>
          </p:cNvSpPr>
          <p:nvPr>
            <p:ph type="dt" sz="half" idx="14"/>
          </p:nvPr>
        </p:nvSpPr>
        <p:spPr>
          <a:xfrm>
            <a:off x="301752" y="210114"/>
            <a:ext cx="1759288" cy="365760"/>
          </a:xfrm>
        </p:spPr>
        <p:txBody>
          <a:bodyPr/>
          <a:lstStyle/>
          <a:p>
            <a:pPr>
              <a:spcAft>
                <a:spcPts val="600"/>
              </a:spcAft>
            </a:pPr>
            <a:fld id="{37DA9862-2C49-41B4-AD0B-6F93BC6DDDF8}" type="datetime1">
              <a:rPr lang="en-US" smtClean="0"/>
              <a:pPr>
                <a:spcAft>
                  <a:spcPts val="600"/>
                </a:spcAft>
              </a:pPr>
              <a:t>2/1/2026</a:t>
            </a:fld>
            <a:endParaRPr lang="en-US"/>
          </a:p>
        </p:txBody>
      </p:sp>
      <p:sp>
        <p:nvSpPr>
          <p:cNvPr id="21" name="Slide Number Placeholder 4">
            <a:extLst>
              <a:ext uri="{FF2B5EF4-FFF2-40B4-BE49-F238E27FC236}">
                <a16:creationId xmlns:a16="http://schemas.microsoft.com/office/drawing/2014/main" id="{F7290583-F197-FE28-0497-D1C892A44748}"/>
              </a:ext>
            </a:extLst>
          </p:cNvPr>
          <p:cNvSpPr>
            <a:spLocks noGrp="1"/>
          </p:cNvSpPr>
          <p:nvPr>
            <p:ph type="sldNum" sz="quarter" idx="16"/>
          </p:nvPr>
        </p:nvSpPr>
        <p:spPr>
          <a:xfrm>
            <a:off x="11300323" y="210114"/>
            <a:ext cx="605475" cy="365760"/>
          </a:xfrm>
        </p:spPr>
        <p:txBody>
          <a:bodyPr/>
          <a:lstStyle/>
          <a:p>
            <a:pPr>
              <a:spcAft>
                <a:spcPts val="600"/>
              </a:spcAft>
            </a:pPr>
            <a:fld id="{5E0677F5-4A8A-4BF1-96BE-3BAE8FBAFE2E}" type="slidenum">
              <a:rPr lang="en-US" smtClean="0"/>
              <a:pPr>
                <a:spcAft>
                  <a:spcPts val="600"/>
                </a:spcAft>
              </a:pPr>
              <a:t>7</a:t>
            </a:fld>
            <a:endParaRPr lang="en-US"/>
          </a:p>
        </p:txBody>
      </p:sp>
      <p:graphicFrame>
        <p:nvGraphicFramePr>
          <p:cNvPr id="13" name="Content Placeholder 5">
            <a:extLst>
              <a:ext uri="{FF2B5EF4-FFF2-40B4-BE49-F238E27FC236}">
                <a16:creationId xmlns:a16="http://schemas.microsoft.com/office/drawing/2014/main" id="{80EC0474-AE81-742A-5522-8063D065AF57}"/>
              </a:ext>
            </a:extLst>
          </p:cNvPr>
          <p:cNvGraphicFramePr>
            <a:graphicFrameLocks noGrp="1"/>
          </p:cNvGraphicFramePr>
          <p:nvPr>
            <p:ph sz="quarter" idx="13"/>
            <p:extLst>
              <p:ext uri="{D42A27DB-BD31-4B8C-83A1-F6EECF244321}">
                <p14:modId xmlns:p14="http://schemas.microsoft.com/office/powerpoint/2010/main" val="210579926"/>
              </p:ext>
            </p:extLst>
          </p:nvPr>
        </p:nvGraphicFramePr>
        <p:xfrm>
          <a:off x="301751" y="2011679"/>
          <a:ext cx="11612880"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2736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9D108-5FE5-43B7-D888-239BAE25E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41DE6-5FB8-C05E-3307-430A80B947E5}"/>
              </a:ext>
            </a:extLst>
          </p:cNvPr>
          <p:cNvSpPr>
            <a:spLocks noGrp="1"/>
          </p:cNvSpPr>
          <p:nvPr>
            <p:ph type="title"/>
          </p:nvPr>
        </p:nvSpPr>
        <p:spPr>
          <a:xfrm>
            <a:off x="805844" y="2930"/>
            <a:ext cx="7313834" cy="758502"/>
          </a:xfrm>
        </p:spPr>
        <p:txBody>
          <a:bodyPr anchor="b">
            <a:noAutofit/>
          </a:bodyPr>
          <a:lstStyle/>
          <a:p>
            <a:r>
              <a:rPr lang="en-US" sz="3200">
                <a:latin typeface="Aptos"/>
              </a:rPr>
              <a:t>Emerging Trends / Research Directions</a:t>
            </a:r>
          </a:p>
        </p:txBody>
      </p:sp>
      <p:sp>
        <p:nvSpPr>
          <p:cNvPr id="15" name="Date Placeholder 2">
            <a:extLst>
              <a:ext uri="{FF2B5EF4-FFF2-40B4-BE49-F238E27FC236}">
                <a16:creationId xmlns:a16="http://schemas.microsoft.com/office/drawing/2014/main" id="{277C4967-75B4-7AE0-76F9-F35528A14286}"/>
              </a:ext>
            </a:extLst>
          </p:cNvPr>
          <p:cNvSpPr>
            <a:spLocks noGrp="1"/>
          </p:cNvSpPr>
          <p:nvPr>
            <p:ph type="dt" sz="half" idx="16"/>
          </p:nvPr>
        </p:nvSpPr>
        <p:spPr>
          <a:xfrm>
            <a:off x="301752" y="203862"/>
            <a:ext cx="2286000" cy="365760"/>
          </a:xfrm>
        </p:spPr>
        <p:txBody>
          <a:bodyPr/>
          <a:lstStyle/>
          <a:p>
            <a:pPr>
              <a:spcAft>
                <a:spcPts val="600"/>
              </a:spcAft>
            </a:pPr>
            <a:fld id="{D6F66A7C-2450-4D43-AEC7-53AFAE9E8A03}" type="datetime1">
              <a:rPr lang="en-US" smtClean="0"/>
              <a:pPr>
                <a:spcAft>
                  <a:spcPts val="600"/>
                </a:spcAft>
              </a:pPr>
              <a:t>2/1/2026</a:t>
            </a:fld>
            <a:endParaRPr lang="en-US"/>
          </a:p>
        </p:txBody>
      </p:sp>
      <p:sp>
        <p:nvSpPr>
          <p:cNvPr id="6" name="Content Placeholder 5">
            <a:extLst>
              <a:ext uri="{FF2B5EF4-FFF2-40B4-BE49-F238E27FC236}">
                <a16:creationId xmlns:a16="http://schemas.microsoft.com/office/drawing/2014/main" id="{0C6B6884-A48C-331D-8581-5D9284045007}"/>
              </a:ext>
            </a:extLst>
          </p:cNvPr>
          <p:cNvSpPr>
            <a:spLocks noGrp="1"/>
          </p:cNvSpPr>
          <p:nvPr>
            <p:ph sz="quarter" idx="14"/>
          </p:nvPr>
        </p:nvSpPr>
        <p:spPr>
          <a:xfrm>
            <a:off x="864460" y="1167872"/>
            <a:ext cx="6755514" cy="3807402"/>
          </a:xfrm>
        </p:spPr>
        <p:txBody>
          <a:bodyPr vert="horz" lIns="91440" tIns="45720" rIns="91440" bIns="45720" rtlCol="0" anchor="t">
            <a:normAutofit/>
          </a:bodyPr>
          <a:lstStyle/>
          <a:p>
            <a:r>
              <a:rPr lang="en-US" sz="1800">
                <a:latin typeface="Aptos"/>
              </a:rPr>
              <a:t>Automated Data Preprocessing: AI-driven tools for faster, more accurate preprocessing</a:t>
            </a:r>
          </a:p>
          <a:p>
            <a:r>
              <a:rPr lang="en-US" sz="1800">
                <a:latin typeface="Aptos"/>
              </a:rPr>
              <a:t>Federated Learning and Privacy-Preserving Techniques: Secure preprocessing in distributed environments</a:t>
            </a:r>
          </a:p>
          <a:p>
            <a:r>
              <a:rPr lang="en-US" sz="1800">
                <a:latin typeface="Aptos"/>
              </a:rPr>
              <a:t>Real-Time Data Preprocessing: Handling streaming data for immediate insights</a:t>
            </a:r>
          </a:p>
          <a:p>
            <a:endParaRPr lang="en-US"/>
          </a:p>
        </p:txBody>
      </p:sp>
      <p:pic>
        <p:nvPicPr>
          <p:cNvPr id="19" name="Picture 18" descr="Blue blocks and networks technology background">
            <a:extLst>
              <a:ext uri="{FF2B5EF4-FFF2-40B4-BE49-F238E27FC236}">
                <a16:creationId xmlns:a16="http://schemas.microsoft.com/office/drawing/2014/main" id="{ECB0DC79-7917-E164-89EC-E8EDD5E0C447}"/>
              </a:ext>
            </a:extLst>
          </p:cNvPr>
          <p:cNvPicPr>
            <a:picLocks noChangeAspect="1"/>
          </p:cNvPicPr>
          <p:nvPr/>
        </p:nvPicPr>
        <p:blipFill>
          <a:blip r:embed="rId2"/>
          <a:srcRect l="15153" r="47346" b="-438"/>
          <a:stretch>
            <a:fillRect/>
          </a:stretch>
        </p:blipFill>
        <p:spPr>
          <a:xfrm>
            <a:off x="7620000" y="10"/>
            <a:ext cx="4572000" cy="6857990"/>
          </a:xfrm>
          <a:prstGeom prst="rect">
            <a:avLst/>
          </a:prstGeom>
          <a:noFill/>
        </p:spPr>
      </p:pic>
    </p:spTree>
    <p:extLst>
      <p:ext uri="{BB962C8B-B14F-4D97-AF65-F5344CB8AC3E}">
        <p14:creationId xmlns:p14="http://schemas.microsoft.com/office/powerpoint/2010/main" val="955113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8FBD4-39FA-D1E3-5B1F-ADADB0381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4E6C2-70AF-C051-90AB-AF162568311A}"/>
              </a:ext>
            </a:extLst>
          </p:cNvPr>
          <p:cNvSpPr>
            <a:spLocks noGrp="1"/>
          </p:cNvSpPr>
          <p:nvPr>
            <p:ph type="title"/>
          </p:nvPr>
        </p:nvSpPr>
        <p:spPr>
          <a:xfrm>
            <a:off x="3413813" y="-1499"/>
            <a:ext cx="5351884" cy="734517"/>
          </a:xfrm>
        </p:spPr>
        <p:txBody>
          <a:bodyPr>
            <a:normAutofit/>
          </a:bodyPr>
          <a:lstStyle/>
          <a:p>
            <a:r>
              <a:rPr lang="en-US" sz="3200" dirty="0">
                <a:latin typeface="Aptos"/>
              </a:rPr>
              <a:t>Video on Preprocessing Data</a:t>
            </a:r>
            <a:endParaRPr lang="en-US" sz="3200" dirty="0">
              <a:latin typeface="Aptos" panose="020B0004020202020204" pitchFamily="34" charset="0"/>
            </a:endParaRPr>
          </a:p>
        </p:txBody>
      </p:sp>
      <p:sp>
        <p:nvSpPr>
          <p:cNvPr id="6" name="Content Placeholder 5">
            <a:extLst>
              <a:ext uri="{FF2B5EF4-FFF2-40B4-BE49-F238E27FC236}">
                <a16:creationId xmlns:a16="http://schemas.microsoft.com/office/drawing/2014/main" id="{6085EDD4-C9B5-700B-5803-6D1DE10B5685}"/>
              </a:ext>
            </a:extLst>
          </p:cNvPr>
          <p:cNvSpPr>
            <a:spLocks noGrp="1"/>
          </p:cNvSpPr>
          <p:nvPr>
            <p:ph sz="quarter" idx="13"/>
          </p:nvPr>
        </p:nvSpPr>
        <p:spPr>
          <a:xfrm>
            <a:off x="488564" y="1031404"/>
            <a:ext cx="11253615" cy="2687737"/>
          </a:xfrm>
        </p:spPr>
        <p:txBody>
          <a:bodyPr vert="horz" lIns="91440" tIns="45720" rIns="91440" bIns="45720" rtlCol="0" anchor="t">
            <a:normAutofit/>
          </a:bodyPr>
          <a:lstStyle/>
          <a:p>
            <a:endParaRPr lang="en-US" sz="1800" dirty="0">
              <a:latin typeface="Arial Nova Light"/>
            </a:endParaRPr>
          </a:p>
          <a:p>
            <a:r>
              <a:rPr lang="en-US" sz="2400" b="1">
                <a:solidFill>
                  <a:srgbClr val="F1F1F1"/>
                </a:solidFill>
                <a:highlight>
                  <a:srgbClr val="0F0F0F"/>
                </a:highlight>
                <a:latin typeface="Aptos"/>
                <a:ea typeface="Roboto"/>
                <a:cs typeface="Roboto"/>
              </a:rPr>
              <a:t>Why Is Data Preprocessing Important For Data Mining? - AI and Machine Learning Explained</a:t>
            </a:r>
            <a:endParaRPr lang="en-US" sz="2400">
              <a:latin typeface="Aptos"/>
            </a:endParaRPr>
          </a:p>
          <a:p>
            <a:endParaRPr lang="en-US" sz="2400" dirty="0">
              <a:latin typeface="Aptos"/>
            </a:endParaRPr>
          </a:p>
          <a:p>
            <a:pPr algn="ctr"/>
            <a:r>
              <a:rPr lang="en-US" sz="2400" dirty="0">
                <a:latin typeface="Aptos"/>
                <a:hlinkClick r:id="rId2"/>
              </a:rPr>
              <a:t>https://www.youtube.com/watch?v=dfTgPCb4FPg</a:t>
            </a:r>
            <a:endParaRPr lang="en-US" sz="2400">
              <a:latin typeface="Aptos"/>
            </a:endParaRPr>
          </a:p>
        </p:txBody>
      </p:sp>
    </p:spTree>
    <p:extLst>
      <p:ext uri="{BB962C8B-B14F-4D97-AF65-F5344CB8AC3E}">
        <p14:creationId xmlns:p14="http://schemas.microsoft.com/office/powerpoint/2010/main" val="3519812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8091-8094-DCC8-C770-FE1E25AAA09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5D71E00-C81A-555C-8019-BCB074928DF6}"/>
              </a:ext>
            </a:extLst>
          </p:cNvPr>
          <p:cNvSpPr>
            <a:spLocks noGrp="1"/>
          </p:cNvSpPr>
          <p:nvPr>
            <p:ph type="title"/>
          </p:nvPr>
        </p:nvSpPr>
        <p:spPr>
          <a:xfrm>
            <a:off x="301752" y="722376"/>
            <a:ext cx="9875520" cy="731520"/>
          </a:xfrm>
        </p:spPr>
        <p:txBody>
          <a:bodyPr anchor="b">
            <a:normAutofit/>
          </a:bodyPr>
          <a:lstStyle/>
          <a:p>
            <a:r>
              <a:rPr lang="en-US" b="1"/>
              <a:t>Conclusion</a:t>
            </a:r>
          </a:p>
        </p:txBody>
      </p:sp>
      <p:sp>
        <p:nvSpPr>
          <p:cNvPr id="17" name="Date Placeholder 2">
            <a:extLst>
              <a:ext uri="{FF2B5EF4-FFF2-40B4-BE49-F238E27FC236}">
                <a16:creationId xmlns:a16="http://schemas.microsoft.com/office/drawing/2014/main" id="{1142B8AE-8429-404B-DDEE-09D5D905A688}"/>
              </a:ext>
            </a:extLst>
          </p:cNvPr>
          <p:cNvSpPr>
            <a:spLocks noGrp="1"/>
          </p:cNvSpPr>
          <p:nvPr>
            <p:ph type="dt" sz="half" idx="14"/>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2/1/2026</a:t>
            </a:fld>
            <a:endParaRPr lang="en-US"/>
          </a:p>
        </p:txBody>
      </p:sp>
      <p:sp>
        <p:nvSpPr>
          <p:cNvPr id="21" name="Slide Number Placeholder 4">
            <a:extLst>
              <a:ext uri="{FF2B5EF4-FFF2-40B4-BE49-F238E27FC236}">
                <a16:creationId xmlns:a16="http://schemas.microsoft.com/office/drawing/2014/main" id="{2B7EB514-24F3-ECC9-CDD7-0979EE5ED567}"/>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10</a:t>
            </a:fld>
            <a:endParaRPr lang="en-US"/>
          </a:p>
        </p:txBody>
      </p:sp>
      <p:graphicFrame>
        <p:nvGraphicFramePr>
          <p:cNvPr id="13" name="Content Placeholder 5">
            <a:extLst>
              <a:ext uri="{FF2B5EF4-FFF2-40B4-BE49-F238E27FC236}">
                <a16:creationId xmlns:a16="http://schemas.microsoft.com/office/drawing/2014/main" id="{18241A67-7F03-AF71-4564-E49D8C45CD70}"/>
              </a:ext>
            </a:extLst>
          </p:cNvPr>
          <p:cNvGraphicFramePr>
            <a:graphicFrameLocks noGrp="1"/>
          </p:cNvGraphicFramePr>
          <p:nvPr>
            <p:ph sz="quarter" idx="13"/>
            <p:extLst>
              <p:ext uri="{D42A27DB-BD31-4B8C-83A1-F6EECF244321}">
                <p14:modId xmlns:p14="http://schemas.microsoft.com/office/powerpoint/2010/main" val="355529777"/>
              </p:ext>
            </p:extLst>
          </p:nvPr>
        </p:nvGraphicFramePr>
        <p:xfrm>
          <a:off x="301752" y="2011680"/>
          <a:ext cx="11402568"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4085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B4D5-409C-0D49-CF01-04A3ED83E434}"/>
              </a:ext>
            </a:extLst>
          </p:cNvPr>
          <p:cNvSpPr>
            <a:spLocks noGrp="1"/>
          </p:cNvSpPr>
          <p:nvPr>
            <p:ph type="title"/>
          </p:nvPr>
        </p:nvSpPr>
        <p:spPr>
          <a:xfrm>
            <a:off x="4838606" y="242486"/>
            <a:ext cx="2509285" cy="619728"/>
          </a:xfrm>
        </p:spPr>
        <p:txBody>
          <a:bodyPr anchor="b">
            <a:normAutofit/>
          </a:bodyPr>
          <a:lstStyle/>
          <a:p>
            <a:r>
              <a:rPr lang="en-US" sz="3600" dirty="0">
                <a:latin typeface="Aptos" panose="020B0004020202020204" pitchFamily="34" charset="0"/>
              </a:rPr>
              <a:t>References</a:t>
            </a:r>
          </a:p>
        </p:txBody>
      </p:sp>
      <p:sp>
        <p:nvSpPr>
          <p:cNvPr id="11" name="TextBox 10">
            <a:extLst>
              <a:ext uri="{FF2B5EF4-FFF2-40B4-BE49-F238E27FC236}">
                <a16:creationId xmlns:a16="http://schemas.microsoft.com/office/drawing/2014/main" id="{1B5E3803-65A2-9B5F-7AC0-1E3F21754E83}"/>
              </a:ext>
            </a:extLst>
          </p:cNvPr>
          <p:cNvSpPr txBox="1"/>
          <p:nvPr/>
        </p:nvSpPr>
        <p:spPr>
          <a:xfrm>
            <a:off x="137652" y="865239"/>
            <a:ext cx="10884309" cy="5632311"/>
          </a:xfrm>
          <a:prstGeom prst="rect">
            <a:avLst/>
          </a:prstGeom>
          <a:noFill/>
        </p:spPr>
        <p:txBody>
          <a:bodyPr wrap="square" lIns="91440" tIns="45720" rIns="91440" bIns="45720" anchor="t">
            <a:spAutoFit/>
          </a:bodyPr>
          <a:lstStyle/>
          <a:p>
            <a:r>
              <a:rPr lang="en-US" err="1">
                <a:latin typeface="Aptos"/>
              </a:rPr>
              <a:t>Dilmegani</a:t>
            </a:r>
            <a:r>
              <a:rPr lang="en-US" dirty="0">
                <a:latin typeface="Aptos"/>
              </a:rPr>
              <a:t>, C. (2025, November 18). *Top 50 deep learning use case &amp; case studies in 2026*. </a:t>
            </a:r>
            <a:r>
              <a:rPr lang="en-US" err="1">
                <a:latin typeface="Aptos"/>
              </a:rPr>
              <a:t>AIMultiple</a:t>
            </a:r>
            <a:r>
              <a:rPr lang="en-US" dirty="0">
                <a:latin typeface="Aptos"/>
              </a:rPr>
              <a:t>. </a:t>
            </a:r>
            <a:r>
              <a:rPr lang="en-US" dirty="0">
                <a:latin typeface="Aptos"/>
                <a:hlinkClick r:id="rId3"/>
              </a:rPr>
              <a:t>https://research.aimultiple.com/deep-learning-applications/</a:t>
            </a:r>
            <a:endParaRPr lang="en-US">
              <a:latin typeface="Aptos"/>
            </a:endParaRPr>
          </a:p>
          <a:p>
            <a:endParaRPr lang="en-US" dirty="0">
              <a:latin typeface="Aptos"/>
            </a:endParaRPr>
          </a:p>
          <a:p>
            <a:r>
              <a:rPr lang="en-US" dirty="0">
                <a:latin typeface="Aptos"/>
              </a:rPr>
              <a:t>Crudu, V., &amp; </a:t>
            </a:r>
            <a:r>
              <a:rPr lang="en-US" err="1">
                <a:latin typeface="Aptos"/>
              </a:rPr>
              <a:t>MoldStud</a:t>
            </a:r>
            <a:r>
              <a:rPr lang="en-US" dirty="0">
                <a:latin typeface="Aptos"/>
              </a:rPr>
              <a:t> Research Team. (2025, September 15). *How data preprocessing impacts AI model training and performance: Key insights for success*. </a:t>
            </a:r>
            <a:r>
              <a:rPr lang="en-US" err="1">
                <a:latin typeface="Aptos"/>
              </a:rPr>
              <a:t>MoldStud</a:t>
            </a:r>
            <a:r>
              <a:rPr lang="en-US" dirty="0">
                <a:latin typeface="Aptos"/>
              </a:rPr>
              <a:t>.  </a:t>
            </a:r>
            <a:r>
              <a:rPr lang="en-US" dirty="0">
                <a:latin typeface="Aptos"/>
                <a:hlinkClick r:id="rId4"/>
              </a:rPr>
              <a:t>https://moldstud.com/articles/p-how-data-preprocessing-impacts-ai-model-training-and-performance-key-insights-for-success</a:t>
            </a:r>
            <a:r>
              <a:rPr lang="en-US" dirty="0">
                <a:latin typeface="Aptos"/>
              </a:rPr>
              <a:t> </a:t>
            </a:r>
          </a:p>
          <a:p>
            <a:endParaRPr lang="en-US" dirty="0">
              <a:latin typeface="Aptos"/>
            </a:endParaRPr>
          </a:p>
          <a:p>
            <a:r>
              <a:rPr lang="en-US" err="1">
                <a:latin typeface="Aptos"/>
              </a:rPr>
              <a:t>DigitalDefynd</a:t>
            </a:r>
            <a:r>
              <a:rPr lang="en-US" dirty="0">
                <a:latin typeface="Aptos"/>
              </a:rPr>
              <a:t> Team. (2026). *Top 20 deep learning case studies [Detailed analysis]*. </a:t>
            </a:r>
            <a:r>
              <a:rPr lang="en-US" err="1">
                <a:latin typeface="Aptos"/>
              </a:rPr>
              <a:t>DigitalDefynd</a:t>
            </a:r>
            <a:r>
              <a:rPr lang="en-US" dirty="0">
                <a:latin typeface="Aptos"/>
              </a:rPr>
              <a:t>. </a:t>
            </a:r>
            <a:r>
              <a:rPr lang="en-US" dirty="0">
                <a:latin typeface="Aptos"/>
                <a:hlinkClick r:id="rId5"/>
              </a:rPr>
              <a:t>https://digitaldefynd.com/IQ/deep-learning-case-studies/</a:t>
            </a:r>
            <a:r>
              <a:rPr lang="en-US" dirty="0">
                <a:latin typeface="Aptos"/>
              </a:rPr>
              <a:t> </a:t>
            </a:r>
          </a:p>
          <a:p>
            <a:endParaRPr lang="en-US" dirty="0">
              <a:latin typeface="Aptos"/>
            </a:endParaRPr>
          </a:p>
          <a:p>
            <a:r>
              <a:rPr lang="en-US" dirty="0">
                <a:latin typeface="Aptos"/>
                <a:ea typeface="+mn-lt"/>
                <a:cs typeface="+mn-lt"/>
              </a:rPr>
              <a:t>Denodo Technologies. (n.d.). *Data preprocessing: Definition, importance, and key techniques*. Denodo. </a:t>
            </a:r>
            <a:r>
              <a:rPr lang="en-US" dirty="0">
                <a:latin typeface="Aptos"/>
                <a:ea typeface="+mn-lt"/>
                <a:cs typeface="+mn-lt"/>
                <a:hlinkClick r:id="rId6"/>
              </a:rPr>
              <a:t>https://www.denodo.com/en/glossary/data-preprocessing-definition-importance-key-techniques?gad_source</a:t>
            </a:r>
            <a:endParaRPr lang="en-US">
              <a:latin typeface="Aptos"/>
              <a:ea typeface="+mn-lt"/>
              <a:cs typeface="+mn-lt"/>
            </a:endParaRPr>
          </a:p>
          <a:p>
            <a:endParaRPr lang="en-US" dirty="0">
              <a:latin typeface="Aptos"/>
              <a:ea typeface="+mn-lt"/>
              <a:cs typeface="+mn-lt"/>
            </a:endParaRPr>
          </a:p>
          <a:p>
            <a:r>
              <a:rPr lang="en-US" err="1">
                <a:latin typeface="Aptos"/>
                <a:ea typeface="+mn-lt"/>
                <a:cs typeface="+mn-lt"/>
              </a:rPr>
              <a:t>StatQuest</a:t>
            </a:r>
            <a:r>
              <a:rPr lang="en-US" dirty="0">
                <a:latin typeface="Aptos"/>
                <a:ea typeface="+mn-lt"/>
                <a:cs typeface="+mn-lt"/>
              </a:rPr>
              <a:t> with Josh Starmer. (2020, April 14). </a:t>
            </a:r>
            <a:r>
              <a:rPr lang="en-US" err="1">
                <a:latin typeface="Aptos"/>
                <a:ea typeface="+mn-lt"/>
                <a:cs typeface="+mn-lt"/>
              </a:rPr>
              <a:t>StatQuest</a:t>
            </a:r>
            <a:r>
              <a:rPr lang="en-US" dirty="0">
                <a:latin typeface="Aptos"/>
                <a:ea typeface="+mn-lt"/>
                <a:cs typeface="+mn-lt"/>
              </a:rPr>
              <a:t>: Data cleaning – Handling missing data [Video]. YouTube. </a:t>
            </a:r>
            <a:r>
              <a:rPr lang="en-US" dirty="0">
                <a:latin typeface="Aptos"/>
                <a:ea typeface="+mn-lt"/>
                <a:cs typeface="+mn-lt"/>
                <a:hlinkClick r:id="rId7"/>
              </a:rPr>
              <a:t>https://www.youtube.com/watch?v=dfTgPCb4FPg</a:t>
            </a:r>
            <a:endParaRPr lang="en-US">
              <a:latin typeface="Aptos"/>
            </a:endParaRPr>
          </a:p>
          <a:p>
            <a:endParaRPr lang="en-US"/>
          </a:p>
          <a:p>
            <a:endParaRPr lang="en-US" dirty="0"/>
          </a:p>
          <a:p>
            <a:endParaRPr lang="en-US" dirty="0"/>
          </a:p>
          <a:p>
            <a:endParaRPr lang="en-US" dirty="0"/>
          </a:p>
        </p:txBody>
      </p:sp>
    </p:spTree>
    <p:extLst>
      <p:ext uri="{BB962C8B-B14F-4D97-AF65-F5344CB8AC3E}">
        <p14:creationId xmlns:p14="http://schemas.microsoft.com/office/powerpoint/2010/main" val="3310392639"/>
      </p:ext>
    </p:extLst>
  </p:cSld>
  <p:clrMapOvr>
    <a:masterClrMapping/>
  </p:clrMapOvr>
  <p:transition>
    <p:fade/>
  </p:transition>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1175</Words>
  <Application>Microsoft Office PowerPoint</Application>
  <PresentationFormat>Widescreen</PresentationFormat>
  <Paragraphs>114</Paragraphs>
  <Slides>11</Slides>
  <Notes>3</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Dark gradient</vt:lpstr>
      <vt:lpstr>Preprocessing Data for Deep Learning</vt:lpstr>
      <vt:lpstr>Intro to Preprocessing Data</vt:lpstr>
      <vt:lpstr>Key Concepts &amp; Terminology</vt:lpstr>
      <vt:lpstr>PowerPoint Presentation</vt:lpstr>
      <vt:lpstr>Real-World Examples</vt:lpstr>
      <vt:lpstr>PowerPoint Presentation</vt:lpstr>
      <vt:lpstr>Challenges &amp; Best Practices</vt:lpstr>
      <vt:lpstr>Emerging Trends / Research Directions</vt:lpstr>
      <vt:lpstr>Video on Preprocessing Data</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Rodriguez</dc:creator>
  <cp:lastModifiedBy>Richard Rodriguez</cp:lastModifiedBy>
  <cp:revision>321</cp:revision>
  <dcterms:created xsi:type="dcterms:W3CDTF">2026-02-02T01:09:48Z</dcterms:created>
  <dcterms:modified xsi:type="dcterms:W3CDTF">2026-02-02T05:15:38Z</dcterms:modified>
</cp:coreProperties>
</file>