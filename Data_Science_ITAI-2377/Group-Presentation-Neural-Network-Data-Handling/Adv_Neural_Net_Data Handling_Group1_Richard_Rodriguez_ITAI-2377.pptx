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954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ard Rodriguez" userId="0ad68367006ecf2b" providerId="LiveId" clId="{C416233B-6565-474C-83C4-F522055FCCB6}"/>
    <pc:docChg chg="modSld">
      <pc:chgData name="Richard Rodriguez" userId="0ad68367006ecf2b" providerId="LiveId" clId="{C416233B-6565-474C-83C4-F522055FCCB6}" dt="2026-03-24T00:23:34.975" v="5" actId="1076"/>
      <pc:docMkLst>
        <pc:docMk/>
      </pc:docMkLst>
      <pc:sldChg chg="modSp mod">
        <pc:chgData name="Richard Rodriguez" userId="0ad68367006ecf2b" providerId="LiveId" clId="{C416233B-6565-474C-83C4-F522055FCCB6}" dt="2026-03-24T00:23:34.975" v="5" actId="1076"/>
        <pc:sldMkLst>
          <pc:docMk/>
          <pc:sldMk cId="0" sldId="256"/>
        </pc:sldMkLst>
        <pc:spChg chg="mod">
          <ac:chgData name="Richard Rodriguez" userId="0ad68367006ecf2b" providerId="LiveId" clId="{C416233B-6565-474C-83C4-F522055FCCB6}" dt="2026-03-24T00:23:34.975" v="5" actId="1076"/>
          <ac:spMkLst>
            <pc:docMk/>
            <pc:sldMk cId="0" sldId="256"/>
            <ac:spMk id="3" creationId="{00000000-0000-0000-0000-000000000000}"/>
          </ac:spMkLst>
        </pc:spChg>
        <pc:picChg chg="mod">
          <ac:chgData name="Richard Rodriguez" userId="0ad68367006ecf2b" providerId="LiveId" clId="{C416233B-6565-474C-83C4-F522055FCCB6}" dt="2026-03-24T00:23:31.501" v="4" actId="1076"/>
          <ac:picMkLst>
            <pc:docMk/>
            <pc:sldMk cId="0" sldId="256"/>
            <ac:picMk id="4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encord.com/blog/data-augmentation-guide/#:~:text=one%20of%20the%20most%20effective,set%20without%20requiring%20more%20collection" TargetMode="External"/><Relationship Id="rId2" Type="http://schemas.openxmlformats.org/officeDocument/2006/relationships/hyperlink" Target="https://machinelearningmastery.com/machine-learning-performance-improvement-cheat-sheet/#:~:text=The%20gains%20often%20get%20smaller,you%20go%20down%20the%20list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telusdigital.com/insights/data-and-ai/article/data-annotation-metrics#:~:text=There%20are%20a%20number%20of,Krippendorf%27s%20alpha%20and%20F1%20score" TargetMode="External"/><Relationship Id="rId4" Type="http://schemas.openxmlformats.org/officeDocument/2006/relationships/hyperlink" Target="https://www.geeksforgeeks.org/machine-learning/active-learning-for-reducing-labeling-costs/#:~:text=With%20Active%20Learning%3A%20You%20use,of%20the%20dat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808720" y="-640080"/>
            <a:ext cx="4572000" cy="4572000"/>
          </a:xfrm>
          <a:prstGeom prst="ellipse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nn_pipel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0940" y="1768464"/>
            <a:ext cx="4114800" cy="26809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37160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ADVANCED NEURAL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6032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BFA5"/>
                </a:solidFill>
                <a:latin typeface="Calibri"/>
              </a:defRPr>
            </a:pPr>
            <a:r>
              <a:t>DATA HANDLING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91840"/>
            <a:ext cx="2743200" cy="508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D1D9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Building High-Performance Models Through Better Data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6400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3A3"/>
                </a:solidFill>
                <a:latin typeface="Calibri"/>
              </a:defRPr>
            </a:pPr>
            <a:r>
              <a:rPr lang="en-US" dirty="0">
                <a:solidFill>
                  <a:schemeClr val="bg1"/>
                </a:solidFill>
              </a:rPr>
              <a:t>Group 1: Richard, Yoana, Kaden, Juphens 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3A3"/>
                </a:solidFill>
                <a:latin typeface="Calibri"/>
              </a:defRPr>
            </a:pPr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FA5"/>
                </a:solidFill>
                <a:latin typeface="Calibri"/>
              </a:defRPr>
            </a:pPr>
            <a:r>
              <a:t>WHAT THIS SESSION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508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6858000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CCD1D9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▸  Compare data‑centric improvement with model &amp; hyperparameter tuning</a:t>
            </a:r>
          </a:p>
          <a:p>
            <a:pPr>
              <a:spcAft>
                <a:spcPts val="1400"/>
              </a:spcAft>
              <a:defRPr sz="1800">
                <a:solidFill>
                  <a:srgbClr val="CCD1D9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▸  Review advanced augmentation techniques (</a:t>
            </a:r>
            <a:r>
              <a:rPr dirty="0" err="1">
                <a:solidFill>
                  <a:schemeClr val="bg1"/>
                </a:solidFill>
              </a:rPr>
              <a:t>AutoAugment</a:t>
            </a:r>
            <a:r>
              <a:rPr dirty="0">
                <a:solidFill>
                  <a:schemeClr val="bg1"/>
                </a:solidFill>
              </a:rPr>
              <a:t>, </a:t>
            </a:r>
            <a:r>
              <a:rPr dirty="0" err="1">
                <a:solidFill>
                  <a:schemeClr val="bg1"/>
                </a:solidFill>
              </a:rPr>
              <a:t>Mixup</a:t>
            </a:r>
            <a:r>
              <a:rPr dirty="0">
                <a:solidFill>
                  <a:schemeClr val="bg1"/>
                </a:solidFill>
              </a:rPr>
              <a:t>, </a:t>
            </a:r>
            <a:r>
              <a:rPr dirty="0" err="1">
                <a:solidFill>
                  <a:schemeClr val="bg1"/>
                </a:solidFill>
              </a:rPr>
              <a:t>CutMix</a:t>
            </a:r>
            <a:r>
              <a:rPr dirty="0">
                <a:solidFill>
                  <a:schemeClr val="bg1"/>
                </a:solidFill>
              </a:rPr>
              <a:t>)</a:t>
            </a:r>
          </a:p>
          <a:p>
            <a:pPr>
              <a:spcAft>
                <a:spcPts val="1400"/>
              </a:spcAft>
              <a:defRPr sz="1800">
                <a:solidFill>
                  <a:srgbClr val="CCD1D9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▸  Address data handling across CNN, RNN, and Transformer architectures</a:t>
            </a:r>
          </a:p>
          <a:p>
            <a:pPr>
              <a:spcAft>
                <a:spcPts val="1400"/>
              </a:spcAft>
              <a:defRPr sz="1800">
                <a:solidFill>
                  <a:srgbClr val="CCD1D9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▸  Evaluate annotation quality using inter‑annotator agreement metrics</a:t>
            </a:r>
          </a:p>
          <a:p>
            <a:pPr>
              <a:spcAft>
                <a:spcPts val="1400"/>
              </a:spcAft>
              <a:defRPr sz="1800">
                <a:solidFill>
                  <a:srgbClr val="CCD1D9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▸  Use active learning to reduce labeling cost</a:t>
            </a:r>
          </a:p>
          <a:p>
            <a:pPr>
              <a:spcAft>
                <a:spcPts val="1400"/>
              </a:spcAft>
              <a:defRPr sz="1800">
                <a:solidFill>
                  <a:srgbClr val="CCD1D9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▸  Design production‑ready data pipelines</a:t>
            </a:r>
          </a:p>
          <a:p>
            <a:pPr>
              <a:spcAft>
                <a:spcPts val="1400"/>
              </a:spcAft>
              <a:defRPr sz="1800">
                <a:solidFill>
                  <a:srgbClr val="CCD1D9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▸  Identify and mitigate common data challenges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0" y="0"/>
            <a:ext cx="3504895" cy="685800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0" y="5486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FA5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3716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FA5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21945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FA5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30175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FA5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384048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FA5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46634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FA5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54864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FA5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3A3"/>
                </a:solidFill>
                <a:latin typeface="Calibri"/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7038" y="141707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FA5"/>
                </a:solidFill>
                <a:latin typeface="Calibri"/>
              </a:defRPr>
            </a:pPr>
            <a:r>
              <a:t>WHY DATA QUALITY MATTERS MORE THAN MODEL TUNING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743200" cy="508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6858000" cy="182880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6217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Data-centric improvements consistently deliver greater gains than incremental changes to model architecture or hyperparameters. Stronger outcomes come from higher dataset quality, broader coverage, and smarter augmentation strategies.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840480"/>
            <a:ext cx="2286000" cy="256032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3840480"/>
            <a:ext cx="2286000" cy="635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FA5"/>
                </a:solidFill>
                <a:latin typeface="Calibri"/>
              </a:defRPr>
            </a:pPr>
            <a:r>
              <a:t>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19202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D1D9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Better data often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outperforms more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complex models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39" y="3840480"/>
            <a:ext cx="2286000" cy="256032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91839" y="3840480"/>
            <a:ext cx="2286000" cy="63500"/>
          </a:xfrm>
          <a:prstGeom prst="rect">
            <a:avLst/>
          </a:prstGeom>
          <a:solidFill>
            <a:srgbClr val="4EA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19" y="4114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EA8DE"/>
                </a:solidFill>
                <a:latin typeface="Calibri"/>
              </a:defRPr>
            </a:pPr>
            <a:r>
              <a:t>DIVERSITY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19" y="4663440"/>
            <a:ext cx="19202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D1D9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Coverage and variety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improve model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generalization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59" y="3840480"/>
            <a:ext cx="2286000" cy="256032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52159" y="3840480"/>
            <a:ext cx="2286000" cy="635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35039" y="4114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C42"/>
                </a:solidFill>
                <a:latin typeface="Calibri"/>
              </a:defRPr>
            </a:pPr>
            <a:r>
              <a:t>LABELING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39" y="4663440"/>
            <a:ext cx="19202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D1D9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High-quality labels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reduce avoidable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model errors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1463040"/>
            <a:ext cx="3474720" cy="274320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0" y="1645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FA5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194560"/>
            <a:ext cx="30175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1D9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"Improving data is often the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highest-leverage activity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for improving model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performance."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3A3"/>
                </a:solidFill>
                <a:latin typeface="Calibri"/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174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FA5"/>
                </a:solidFill>
                <a:latin typeface="Calibri"/>
              </a:defRPr>
            </a:pPr>
            <a:r>
              <a:t>AUGMENTATION STRATEGIES THAT SCALE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743200" cy="508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8462" y="1419413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42"/>
                </a:solidFill>
                <a:latin typeface="Calibri"/>
              </a:defRPr>
            </a:pPr>
            <a:r>
              <a:rPr dirty="0"/>
              <a:t>IMAGE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1120140" y="1816100"/>
            <a:ext cx="1371600" cy="254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816100"/>
            <a:ext cx="43891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CCD1D9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▸  </a:t>
            </a:r>
            <a:r>
              <a:rPr dirty="0" err="1">
                <a:solidFill>
                  <a:schemeClr val="bg1"/>
                </a:solidFill>
              </a:rPr>
              <a:t>AutoAugment</a:t>
            </a:r>
            <a:r>
              <a:rPr dirty="0">
                <a:solidFill>
                  <a:schemeClr val="bg1"/>
                </a:solidFill>
              </a:rPr>
              <a:t> — search for optimal augmentation policies</a:t>
            </a:r>
          </a:p>
          <a:p>
            <a:pPr>
              <a:spcAft>
                <a:spcPts val="1200"/>
              </a:spcAft>
              <a:defRPr sz="1500">
                <a:solidFill>
                  <a:srgbClr val="CCD1D9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▸  </a:t>
            </a:r>
            <a:r>
              <a:rPr dirty="0" err="1">
                <a:solidFill>
                  <a:schemeClr val="bg1"/>
                </a:solidFill>
              </a:rPr>
              <a:t>Mixup</a:t>
            </a:r>
            <a:r>
              <a:rPr dirty="0">
                <a:solidFill>
                  <a:schemeClr val="bg1"/>
                </a:solidFill>
              </a:rPr>
              <a:t> — linear interpolation between training examples</a:t>
            </a:r>
          </a:p>
          <a:p>
            <a:pPr>
              <a:spcAft>
                <a:spcPts val="1200"/>
              </a:spcAft>
              <a:defRPr sz="1500">
                <a:solidFill>
                  <a:srgbClr val="CCD1D9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▸  </a:t>
            </a:r>
            <a:r>
              <a:rPr dirty="0" err="1">
                <a:solidFill>
                  <a:schemeClr val="bg1"/>
                </a:solidFill>
              </a:rPr>
              <a:t>CutMix</a:t>
            </a:r>
            <a:r>
              <a:rPr dirty="0">
                <a:solidFill>
                  <a:schemeClr val="bg1"/>
                </a:solidFill>
              </a:rPr>
              <a:t> — patch-level mixing across images</a:t>
            </a:r>
          </a:p>
          <a:p>
            <a:pPr>
              <a:spcAft>
                <a:spcPts val="1200"/>
              </a:spcAft>
              <a:defRPr sz="1500">
                <a:solidFill>
                  <a:srgbClr val="CCD1D9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▸  Adversarial Training — robustness to perturbations</a:t>
            </a:r>
          </a:p>
        </p:txBody>
      </p:sp>
      <p:pic>
        <p:nvPicPr>
          <p:cNvPr id="9" name="Picture 8" descr="augment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684" y="3886200"/>
            <a:ext cx="3532355" cy="243940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217920" y="1371600"/>
            <a:ext cx="5303520" cy="502920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419413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A8DE"/>
                </a:solidFill>
                <a:latin typeface="Calibri"/>
              </a:defRPr>
            </a:pPr>
            <a:r>
              <a:rPr dirty="0"/>
              <a:t>SEQUENCE &amp; OTHER MODALITIES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872168"/>
            <a:ext cx="1828800" cy="25400"/>
          </a:xfrm>
          <a:prstGeom prst="rect">
            <a:avLst/>
          </a:prstGeom>
          <a:solidFill>
            <a:srgbClr val="4EA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924426"/>
            <a:ext cx="457200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CCD1D9"/>
                </a:solidFill>
                <a:latin typeface="Calibri"/>
              </a:defRPr>
            </a:pPr>
            <a:r>
              <a:rPr sz="1600" dirty="0">
                <a:solidFill>
                  <a:schemeClr val="bg1"/>
                </a:solidFill>
              </a:rPr>
              <a:t>▸  Noise injection &amp; time warping</a:t>
            </a:r>
          </a:p>
          <a:p>
            <a:pPr>
              <a:spcAft>
                <a:spcPts val="1200"/>
              </a:spcAft>
              <a:defRPr sz="1500">
                <a:solidFill>
                  <a:srgbClr val="CCD1D9"/>
                </a:solidFill>
                <a:latin typeface="Calibri"/>
              </a:defRPr>
            </a:pPr>
            <a:r>
              <a:rPr sz="1600" dirty="0">
                <a:solidFill>
                  <a:schemeClr val="bg1"/>
                </a:solidFill>
              </a:rPr>
              <a:t>▸  Random cropping &amp; masking</a:t>
            </a:r>
          </a:p>
          <a:p>
            <a:pPr>
              <a:spcAft>
                <a:spcPts val="1200"/>
              </a:spcAft>
              <a:defRPr sz="1500">
                <a:solidFill>
                  <a:srgbClr val="CCD1D9"/>
                </a:solidFill>
                <a:latin typeface="Calibri"/>
              </a:defRPr>
            </a:pPr>
            <a:r>
              <a:rPr sz="1600" dirty="0">
                <a:solidFill>
                  <a:schemeClr val="bg1"/>
                </a:solidFill>
              </a:rPr>
              <a:t>▸  Token substitution for NLP tasks</a:t>
            </a:r>
          </a:p>
          <a:p>
            <a:pPr>
              <a:spcAft>
                <a:spcPts val="1200"/>
              </a:spcAft>
              <a:defRPr sz="1500">
                <a:solidFill>
                  <a:srgbClr val="CCD1D9"/>
                </a:solidFill>
                <a:latin typeface="Calibri"/>
              </a:defRPr>
            </a:pPr>
            <a:r>
              <a:rPr sz="1600" dirty="0">
                <a:solidFill>
                  <a:schemeClr val="bg1"/>
                </a:solidFill>
              </a:rPr>
              <a:t>▸  </a:t>
            </a:r>
            <a:r>
              <a:rPr sz="1600" dirty="0" err="1">
                <a:solidFill>
                  <a:schemeClr val="bg1"/>
                </a:solidFill>
              </a:rPr>
              <a:t>MixSeq</a:t>
            </a:r>
            <a:r>
              <a:rPr sz="1600" dirty="0">
                <a:solidFill>
                  <a:schemeClr val="bg1"/>
                </a:solidFill>
              </a:rPr>
              <a:t> — combine segments across sequences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3A3"/>
                </a:solidFill>
                <a:latin typeface="Calibri"/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FA5"/>
                </a:solidFill>
                <a:latin typeface="Calibri"/>
              </a:defRPr>
            </a:pPr>
            <a:r>
              <a:t>TAILORING DATA STRATEGY TO MODEL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743200" cy="508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07151"/>
            <a:ext cx="3474720" cy="5340011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474720" cy="635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1080" y="461432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BFA5"/>
                </a:solidFill>
                <a:latin typeface="Calibri"/>
              </a:defRPr>
            </a:pPr>
            <a:r>
              <a:rPr dirty="0"/>
              <a:t>CNNs</a:t>
            </a:r>
          </a:p>
        </p:txBody>
      </p:sp>
      <p:sp>
        <p:nvSpPr>
          <p:cNvPr id="8" name="Oval 7"/>
          <p:cNvSpPr/>
          <p:nvPr/>
        </p:nvSpPr>
        <p:spPr>
          <a:xfrm>
            <a:off x="891540" y="5197251"/>
            <a:ext cx="182880" cy="182880"/>
          </a:xfrm>
          <a:prstGeom prst="ellipse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33498" y="5112295"/>
            <a:ext cx="26898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1D9"/>
                </a:solidFill>
                <a:latin typeface="Calibri"/>
              </a:defRPr>
            </a:pPr>
            <a:r>
              <a:rPr sz="1600" dirty="0">
                <a:solidFill>
                  <a:schemeClr val="bg1"/>
                </a:solidFill>
              </a:rPr>
              <a:t>Augmentation for invariance</a:t>
            </a:r>
          </a:p>
        </p:txBody>
      </p:sp>
      <p:sp>
        <p:nvSpPr>
          <p:cNvPr id="10" name="Oval 9"/>
          <p:cNvSpPr/>
          <p:nvPr/>
        </p:nvSpPr>
        <p:spPr>
          <a:xfrm>
            <a:off x="906780" y="5715000"/>
            <a:ext cx="182880" cy="182880"/>
          </a:xfrm>
          <a:prstGeom prst="ellipse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33499" y="5505861"/>
            <a:ext cx="26898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1D9"/>
                </a:solidFill>
                <a:latin typeface="Calibri"/>
              </a:defRPr>
            </a:pPr>
            <a:r>
              <a:rPr sz="1600" dirty="0">
                <a:solidFill>
                  <a:schemeClr val="bg1"/>
                </a:solidFill>
              </a:rPr>
              <a:t>Local + global context via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receptive fields</a:t>
            </a:r>
          </a:p>
        </p:txBody>
      </p:sp>
      <p:sp>
        <p:nvSpPr>
          <p:cNvPr id="12" name="Oval 11"/>
          <p:cNvSpPr/>
          <p:nvPr/>
        </p:nvSpPr>
        <p:spPr>
          <a:xfrm>
            <a:off x="906780" y="6309359"/>
            <a:ext cx="182880" cy="182880"/>
          </a:xfrm>
          <a:prstGeom prst="ellipse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33500" y="6108412"/>
            <a:ext cx="26898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1D9"/>
                </a:solidFill>
                <a:latin typeface="Calibri"/>
              </a:defRPr>
            </a:pPr>
            <a:r>
              <a:rPr sz="1600" dirty="0">
                <a:solidFill>
                  <a:schemeClr val="bg1"/>
                </a:solidFill>
              </a:rPr>
              <a:t>Batch normalization &amp;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residual connections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371599"/>
            <a:ext cx="3474720" cy="5340011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0" y="1371600"/>
            <a:ext cx="3474720" cy="63500"/>
          </a:xfrm>
          <a:prstGeom prst="rect">
            <a:avLst/>
          </a:prstGeom>
          <a:solidFill>
            <a:srgbClr val="4EA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461945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EA8DE"/>
                </a:solidFill>
                <a:latin typeface="Calibri"/>
              </a:defRPr>
            </a:pPr>
            <a:r>
              <a:rPr dirty="0"/>
              <a:t>RNNs</a:t>
            </a:r>
          </a:p>
        </p:txBody>
      </p:sp>
      <p:sp>
        <p:nvSpPr>
          <p:cNvPr id="17" name="Oval 16"/>
          <p:cNvSpPr/>
          <p:nvPr/>
        </p:nvSpPr>
        <p:spPr>
          <a:xfrm>
            <a:off x="4817745" y="5281572"/>
            <a:ext cx="182880" cy="182880"/>
          </a:xfrm>
          <a:prstGeom prst="ellipse">
            <a:avLst/>
          </a:prstGeom>
          <a:solidFill>
            <a:srgbClr val="4EA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97791" y="5161057"/>
            <a:ext cx="28708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1D9"/>
                </a:solidFill>
                <a:latin typeface="Calibri"/>
              </a:defRPr>
            </a:pPr>
            <a:r>
              <a:rPr sz="1400" dirty="0">
                <a:solidFill>
                  <a:schemeClr val="bg1"/>
                </a:solidFill>
              </a:rPr>
              <a:t>Variable-length sequences</a:t>
            </a: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with padding &amp; masking</a:t>
            </a:r>
          </a:p>
        </p:txBody>
      </p:sp>
      <p:sp>
        <p:nvSpPr>
          <p:cNvPr id="19" name="Oval 18"/>
          <p:cNvSpPr/>
          <p:nvPr/>
        </p:nvSpPr>
        <p:spPr>
          <a:xfrm>
            <a:off x="4808219" y="5806440"/>
            <a:ext cx="182880" cy="182880"/>
          </a:xfrm>
          <a:prstGeom prst="ellipse">
            <a:avLst/>
          </a:prstGeom>
          <a:solidFill>
            <a:srgbClr val="4EA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97791" y="5639167"/>
            <a:ext cx="28270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1D9"/>
                </a:solidFill>
                <a:latin typeface="Calibri"/>
              </a:defRPr>
            </a:pPr>
            <a:r>
              <a:rPr sz="1400" dirty="0">
                <a:solidFill>
                  <a:schemeClr val="bg1"/>
                </a:solidFill>
              </a:rPr>
              <a:t>Teacher forcing &amp;</a:t>
            </a: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scheduled sampling</a:t>
            </a:r>
          </a:p>
        </p:txBody>
      </p:sp>
      <p:sp>
        <p:nvSpPr>
          <p:cNvPr id="21" name="Oval 20"/>
          <p:cNvSpPr/>
          <p:nvPr/>
        </p:nvSpPr>
        <p:spPr>
          <a:xfrm>
            <a:off x="4808219" y="6331585"/>
            <a:ext cx="182880" cy="182880"/>
          </a:xfrm>
          <a:prstGeom prst="ellipse">
            <a:avLst/>
          </a:prstGeom>
          <a:solidFill>
            <a:srgbClr val="4EA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19699" y="6162387"/>
            <a:ext cx="28270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1D9"/>
                </a:solidFill>
                <a:latin typeface="Calibri"/>
              </a:defRPr>
            </a:pPr>
            <a:r>
              <a:rPr sz="1400" dirty="0">
                <a:solidFill>
                  <a:schemeClr val="bg1"/>
                </a:solidFill>
              </a:rPr>
              <a:t>Bidirectional &amp; gated</a:t>
            </a: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recurrent variants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1371599"/>
            <a:ext cx="3474720" cy="5321587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412480" y="1371600"/>
            <a:ext cx="3474720" cy="635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0" y="461945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8C42"/>
                </a:solidFill>
                <a:latin typeface="Calibri"/>
              </a:defRPr>
            </a:pPr>
            <a:r>
              <a:rPr dirty="0"/>
              <a:t>TRANSFORMERS</a:t>
            </a:r>
          </a:p>
        </p:txBody>
      </p:sp>
      <p:sp>
        <p:nvSpPr>
          <p:cNvPr id="26" name="Oval 25"/>
          <p:cNvSpPr/>
          <p:nvPr/>
        </p:nvSpPr>
        <p:spPr>
          <a:xfrm>
            <a:off x="8745851" y="5230758"/>
            <a:ext cx="182880" cy="1828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0" y="5071522"/>
            <a:ext cx="2743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1D9"/>
                </a:solidFill>
                <a:latin typeface="Calibri"/>
              </a:defRPr>
            </a:pPr>
            <a:r>
              <a:rPr sz="1400" dirty="0">
                <a:solidFill>
                  <a:schemeClr val="bg1"/>
                </a:solidFill>
              </a:rPr>
              <a:t>Context windows &amp;</a:t>
            </a: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efficient attention</a:t>
            </a:r>
          </a:p>
        </p:txBody>
      </p:sp>
      <p:sp>
        <p:nvSpPr>
          <p:cNvPr id="28" name="Oval 27"/>
          <p:cNvSpPr/>
          <p:nvPr/>
        </p:nvSpPr>
        <p:spPr>
          <a:xfrm>
            <a:off x="8745851" y="5750623"/>
            <a:ext cx="182880" cy="1828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0" y="5586471"/>
            <a:ext cx="2468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1D9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Masking aligned with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prediction objectives</a:t>
            </a:r>
          </a:p>
        </p:txBody>
      </p:sp>
      <p:sp>
        <p:nvSpPr>
          <p:cNvPr id="30" name="Oval 29"/>
          <p:cNvSpPr/>
          <p:nvPr/>
        </p:nvSpPr>
        <p:spPr>
          <a:xfrm>
            <a:off x="8745851" y="6331585"/>
            <a:ext cx="182880" cy="1828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0" y="6172854"/>
            <a:ext cx="2468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1D9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Embeddings &amp; prompt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structure optimization</a:t>
            </a:r>
          </a:p>
        </p:txBody>
      </p:sp>
      <p:pic>
        <p:nvPicPr>
          <p:cNvPr id="32" name="Picture 31" descr="cnn_rn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490112"/>
            <a:ext cx="9144000" cy="316249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3A3"/>
                </a:solidFill>
                <a:latin typeface="Calibri"/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FA5"/>
                </a:solidFill>
                <a:latin typeface="Calibri"/>
              </a:defRPr>
            </a:pPr>
            <a:r>
              <a:t>RELIABLE LABELS DRIVE RELIABLE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743200" cy="508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37160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Annotation quality should be measured, reviewed, and improved systematically — not assumed. Treat labeling quality as a core part of model quality assurance.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00400"/>
            <a:ext cx="2560320" cy="201168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3200400"/>
            <a:ext cx="2560320" cy="508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FA5"/>
                </a:solidFill>
                <a:latin typeface="Calibri"/>
              </a:defRPr>
            </a:pPr>
            <a:r>
              <a:rPr dirty="0"/>
              <a:t>Cohen's 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21945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1D9"/>
                </a:solidFill>
                <a:latin typeface="Calibri"/>
              </a:defRPr>
            </a:pPr>
            <a:r>
              <a:rPr sz="1600" dirty="0">
                <a:solidFill>
                  <a:schemeClr val="bg1"/>
                </a:solidFill>
              </a:rPr>
              <a:t>Pairwise agreement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between two annotators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3200400"/>
            <a:ext cx="2560320" cy="201168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66160" y="3200400"/>
            <a:ext cx="2560320" cy="50800"/>
          </a:xfrm>
          <a:prstGeom prst="rect">
            <a:avLst/>
          </a:prstGeom>
          <a:solidFill>
            <a:srgbClr val="4EA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49040" y="3474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EA8DE"/>
                </a:solidFill>
                <a:latin typeface="Calibri"/>
              </a:defRPr>
            </a:pPr>
            <a:r>
              <a:t>Fleiss' 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4023360"/>
            <a:ext cx="2194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1D9"/>
                </a:solidFill>
                <a:latin typeface="Calibri"/>
              </a:defRPr>
            </a:pPr>
            <a:r>
              <a:rPr sz="1600" dirty="0">
                <a:solidFill>
                  <a:schemeClr val="bg1"/>
                </a:solidFill>
              </a:rPr>
              <a:t>Agreement across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multiple annotators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200400"/>
            <a:ext cx="2560320" cy="201168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0" y="3200400"/>
            <a:ext cx="2560320" cy="508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3474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C42"/>
                </a:solidFill>
                <a:latin typeface="Calibri"/>
              </a:defRPr>
            </a:pPr>
            <a:r>
              <a:t>Krippendorff's 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23360"/>
            <a:ext cx="2194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1D9"/>
                </a:solidFill>
                <a:latin typeface="Calibri"/>
              </a:defRPr>
            </a:pPr>
            <a:r>
              <a:rPr sz="1600" dirty="0">
                <a:solidFill>
                  <a:schemeClr val="bg1"/>
                </a:solidFill>
              </a:rPr>
              <a:t>Handles missing data &amp;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multiple coders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3200400"/>
            <a:ext cx="2560320" cy="201168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235440" y="3200400"/>
            <a:ext cx="256032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18320" y="3474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Calibri"/>
              </a:defRPr>
            </a:pPr>
            <a:r>
              <a:t>F1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4023360"/>
            <a:ext cx="2194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1D9"/>
                </a:solidFill>
                <a:latin typeface="Calibri"/>
              </a:defRPr>
            </a:pPr>
            <a:r>
              <a:rPr sz="1600" dirty="0">
                <a:solidFill>
                  <a:schemeClr val="bg1"/>
                </a:solidFill>
              </a:rPr>
              <a:t>Precision-recall balance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for label 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78797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FA5"/>
                </a:solidFill>
                <a:latin typeface="Calibri"/>
              </a:defRPr>
            </a:pPr>
            <a:r>
              <a:rPr sz="1600" dirty="0"/>
              <a:t>BEST PRACTICES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735320"/>
            <a:ext cx="100584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D1D9"/>
                </a:solidFill>
                <a:latin typeface="Calibri"/>
              </a:defRPr>
            </a:pPr>
            <a:r>
              <a:rPr sz="1600" dirty="0">
                <a:solidFill>
                  <a:schemeClr val="bg1"/>
                </a:solidFill>
              </a:rPr>
              <a:t>▸  Conduct regular review cycles and adjudication processes</a:t>
            </a:r>
          </a:p>
          <a:p>
            <a:pPr>
              <a:spcAft>
                <a:spcPts val="600"/>
              </a:spcAft>
              <a:defRPr sz="1400">
                <a:solidFill>
                  <a:srgbClr val="CCD1D9"/>
                </a:solidFill>
                <a:latin typeface="Calibri"/>
              </a:defRPr>
            </a:pPr>
            <a:r>
              <a:rPr sz="1600" dirty="0">
                <a:solidFill>
                  <a:schemeClr val="bg1"/>
                </a:solidFill>
              </a:rPr>
              <a:t>▸  Track inter-annotator agreement continuously</a:t>
            </a:r>
          </a:p>
          <a:p>
            <a:pPr>
              <a:spcAft>
                <a:spcPts val="600"/>
              </a:spcAft>
              <a:defRPr sz="1400">
                <a:solidFill>
                  <a:srgbClr val="CCD1D9"/>
                </a:solidFill>
                <a:latin typeface="Calibri"/>
              </a:defRPr>
            </a:pPr>
            <a:r>
              <a:rPr sz="1600" dirty="0">
                <a:solidFill>
                  <a:schemeClr val="bg1"/>
                </a:solidFill>
              </a:rPr>
              <a:t>▸  Integrate labeling QA into the model training workflow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3A3"/>
                </a:solidFill>
                <a:latin typeface="Calibri"/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FA5"/>
                </a:solidFill>
                <a:latin typeface="Calibri"/>
              </a:defRPr>
            </a:pPr>
            <a:r>
              <a:t>LABEL LESS, LEARN MORE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508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98502" y="528717"/>
            <a:ext cx="64008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D1D9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Active learning prioritizes the most informative samples,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reducing labeling effort while preserving performance.</a:t>
            </a:r>
          </a:p>
        </p:txBody>
      </p:sp>
      <p:sp>
        <p:nvSpPr>
          <p:cNvPr id="6" name="Oval 5"/>
          <p:cNvSpPr/>
          <p:nvPr/>
        </p:nvSpPr>
        <p:spPr>
          <a:xfrm>
            <a:off x="1280160" y="1553429"/>
            <a:ext cx="731520" cy="731520"/>
          </a:xfrm>
          <a:prstGeom prst="ellipse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400" b="1">
                <a:solidFill>
                  <a:srgbClr val="0B1D3A"/>
                </a:solidFill>
              </a:defRPr>
            </a:pPr>
            <a:r>
              <a:t>1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94560" y="1736309"/>
            <a:ext cx="640080" cy="320040"/>
          </a:xfrm>
          <a:prstGeom prst="rightArrow">
            <a:avLst/>
          </a:prstGeom>
          <a:solidFill>
            <a:srgbClr val="8A9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020" y="2467829"/>
            <a:ext cx="1828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1D9"/>
                </a:solidFill>
                <a:latin typeface="Calibri"/>
              </a:defRPr>
            </a:pPr>
            <a:r>
              <a:rPr sz="1600" dirty="0">
                <a:solidFill>
                  <a:schemeClr val="bg1"/>
                </a:solidFill>
              </a:rPr>
              <a:t>Start with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labeled subset</a:t>
            </a:r>
          </a:p>
        </p:txBody>
      </p:sp>
      <p:sp>
        <p:nvSpPr>
          <p:cNvPr id="9" name="Oval 8"/>
          <p:cNvSpPr/>
          <p:nvPr/>
        </p:nvSpPr>
        <p:spPr>
          <a:xfrm>
            <a:off x="3474720" y="1553429"/>
            <a:ext cx="731520" cy="731520"/>
          </a:xfrm>
          <a:prstGeom prst="ellipse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400" b="1">
                <a:solidFill>
                  <a:srgbClr val="0B1D3A"/>
                </a:solidFill>
              </a:defRPr>
            </a:pPr>
            <a:r>
              <a:t>2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389120" y="1736309"/>
            <a:ext cx="640080" cy="320040"/>
          </a:xfrm>
          <a:prstGeom prst="rightArrow">
            <a:avLst/>
          </a:prstGeom>
          <a:solidFill>
            <a:srgbClr val="8A9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17520" y="2467829"/>
            <a:ext cx="1828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1D9"/>
                </a:solidFill>
                <a:latin typeface="Calibri"/>
              </a:defRPr>
            </a:pPr>
            <a:r>
              <a:rPr sz="1600" dirty="0">
                <a:solidFill>
                  <a:schemeClr val="bg1"/>
                </a:solidFill>
              </a:rPr>
              <a:t>Train initial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model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0" y="1553429"/>
            <a:ext cx="731520" cy="731520"/>
          </a:xfrm>
          <a:prstGeom prst="ellipse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400" b="1">
                <a:solidFill>
                  <a:srgbClr val="0B1D3A"/>
                </a:solidFill>
              </a:defRPr>
            </a:pPr>
            <a:r>
              <a:t>3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583680" y="1736309"/>
            <a:ext cx="640080" cy="320040"/>
          </a:xfrm>
          <a:prstGeom prst="rightArrow">
            <a:avLst/>
          </a:prstGeom>
          <a:solidFill>
            <a:srgbClr val="8A9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8260" y="2418299"/>
            <a:ext cx="182880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1D9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Query via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uncertainty /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diversity</a:t>
            </a:r>
          </a:p>
        </p:txBody>
      </p:sp>
      <p:sp>
        <p:nvSpPr>
          <p:cNvPr id="15" name="Oval 14"/>
          <p:cNvSpPr/>
          <p:nvPr/>
        </p:nvSpPr>
        <p:spPr>
          <a:xfrm>
            <a:off x="7863839" y="1553429"/>
            <a:ext cx="731520" cy="731520"/>
          </a:xfrm>
          <a:prstGeom prst="ellipse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400" b="1">
                <a:solidFill>
                  <a:srgbClr val="0B1D3A"/>
                </a:solidFill>
              </a:defRPr>
            </a:pPr>
            <a:r>
              <a:t>4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778239" y="1736309"/>
            <a:ext cx="640080" cy="320040"/>
          </a:xfrm>
          <a:prstGeom prst="rightArrow">
            <a:avLst/>
          </a:prstGeom>
          <a:solidFill>
            <a:srgbClr val="8A9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199" y="2467827"/>
            <a:ext cx="1828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1D9"/>
                </a:solidFill>
                <a:latin typeface="Calibri"/>
              </a:defRPr>
            </a:pPr>
            <a:r>
              <a:rPr sz="1600" dirty="0">
                <a:solidFill>
                  <a:schemeClr val="bg1"/>
                </a:solidFill>
              </a:rPr>
              <a:t>Label selected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samples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0" y="1553429"/>
            <a:ext cx="731520" cy="731520"/>
          </a:xfrm>
          <a:prstGeom prst="ellipse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400" b="1">
                <a:solidFill>
                  <a:srgbClr val="0B1D3A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467828"/>
            <a:ext cx="1828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1D9"/>
                </a:solidFill>
                <a:latin typeface="Calibri"/>
              </a:defRPr>
            </a:pPr>
            <a:r>
              <a:rPr sz="1600" dirty="0">
                <a:solidFill>
                  <a:schemeClr val="bg1"/>
                </a:solidFill>
              </a:rPr>
              <a:t>Retrain &amp;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repeat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572000"/>
            <a:ext cx="5486400" cy="164592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4572000"/>
            <a:ext cx="63500" cy="164592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45210" y="4679097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42"/>
                </a:solidFill>
                <a:latin typeface="Calibri"/>
              </a:defRPr>
            </a:pPr>
            <a:r>
              <a:t>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029200"/>
            <a:ext cx="49377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D1D9"/>
                </a:solidFill>
                <a:latin typeface="Calibri"/>
              </a:defRPr>
            </a:pPr>
            <a:r>
              <a:rPr sz="1600" dirty="0">
                <a:solidFill>
                  <a:schemeClr val="bg1"/>
                </a:solidFill>
              </a:rPr>
              <a:t>Comparable model performance can be achieved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using only 30–50% of the full labeled dataset,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dramatically reducing annotation cost and time.</a:t>
            </a:r>
          </a:p>
        </p:txBody>
      </p:sp>
      <p:pic>
        <p:nvPicPr>
          <p:cNvPr id="24" name="Picture 23" descr="active_learn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0" y="3110796"/>
            <a:ext cx="5029451" cy="368310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3A3"/>
                </a:solidFill>
                <a:latin typeface="Calibri"/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FA5"/>
                </a:solidFill>
                <a:latin typeface="Calibri"/>
              </a:defRPr>
            </a:pPr>
            <a:r>
              <a:t>OPERATIONALIZING THE DATA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743200" cy="508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011680" cy="731520"/>
          </a:xfrm>
          <a:prstGeom prst="round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B1D3A"/>
                </a:solidFill>
              </a:defRPr>
            </a:pPr>
            <a:r>
              <a:rPr sz="1600" dirty="0"/>
              <a:t>INGESTION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14600" y="1645920"/>
            <a:ext cx="228600" cy="320040"/>
          </a:xfrm>
          <a:prstGeom prst="rightArrow">
            <a:avLst/>
          </a:prstGeom>
          <a:solidFill>
            <a:srgbClr val="8A9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43200" y="1463040"/>
            <a:ext cx="2011680" cy="731520"/>
          </a:xfrm>
          <a:prstGeom prst="roundRect">
            <a:avLst/>
          </a:prstGeom>
          <a:solidFill>
            <a:srgbClr val="4EA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B1D3A"/>
                </a:solidFill>
              </a:defRPr>
            </a:pPr>
            <a:r>
              <a:rPr sz="1600" dirty="0"/>
              <a:t>PRE-PROCESSING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00600" y="1645920"/>
            <a:ext cx="228600" cy="320040"/>
          </a:xfrm>
          <a:prstGeom prst="rightArrow">
            <a:avLst/>
          </a:prstGeom>
          <a:solidFill>
            <a:srgbClr val="8A9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0" y="1463040"/>
            <a:ext cx="2011680" cy="7315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B1D3A"/>
                </a:solidFill>
              </a:defRPr>
            </a:pPr>
            <a:r>
              <a:rPr sz="1600" dirty="0"/>
              <a:t>ANNOTATION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86600" y="1645920"/>
            <a:ext cx="228600" cy="320040"/>
          </a:xfrm>
          <a:prstGeom prst="rightArrow">
            <a:avLst/>
          </a:prstGeom>
          <a:solidFill>
            <a:srgbClr val="8A9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0" y="1463040"/>
            <a:ext cx="2011680" cy="7315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B1D3A"/>
                </a:solidFill>
              </a:defRPr>
            </a:pPr>
            <a:r>
              <a:rPr sz="1600" dirty="0"/>
              <a:t>MODEL TRAINING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72600" y="1645920"/>
            <a:ext cx="228600" cy="320040"/>
          </a:xfrm>
          <a:prstGeom prst="rightArrow">
            <a:avLst/>
          </a:prstGeom>
          <a:solidFill>
            <a:srgbClr val="8A9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601200" y="1463040"/>
            <a:ext cx="2011680" cy="731520"/>
          </a:xfrm>
          <a:prstGeom prst="round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B1D3A"/>
                </a:solidFill>
              </a:defRPr>
            </a:pPr>
            <a:r>
              <a:rPr sz="1600" dirty="0"/>
              <a:t>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PIPELINE BEST PRACTICES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017520"/>
            <a:ext cx="5486400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CCD1D9"/>
                </a:solidFill>
                <a:latin typeface="Calibri"/>
              </a:defRPr>
            </a:pPr>
            <a:r>
              <a:rPr sz="1600" dirty="0">
                <a:solidFill>
                  <a:schemeClr val="bg1"/>
                </a:solidFill>
              </a:rPr>
              <a:t>▸  Build traceability across each pipeline stage</a:t>
            </a:r>
          </a:p>
          <a:p>
            <a:pPr>
              <a:spcAft>
                <a:spcPts val="1000"/>
              </a:spcAft>
              <a:defRPr sz="1500">
                <a:solidFill>
                  <a:srgbClr val="CCD1D9"/>
                </a:solidFill>
                <a:latin typeface="Calibri"/>
              </a:defRPr>
            </a:pPr>
            <a:r>
              <a:rPr sz="1600" dirty="0">
                <a:solidFill>
                  <a:schemeClr val="bg1"/>
                </a:solidFill>
              </a:rPr>
              <a:t>▸  Standardize preprocessing and validation steps</a:t>
            </a:r>
          </a:p>
          <a:p>
            <a:pPr>
              <a:spcAft>
                <a:spcPts val="1000"/>
              </a:spcAft>
              <a:defRPr sz="1500">
                <a:solidFill>
                  <a:srgbClr val="CCD1D9"/>
                </a:solidFill>
                <a:latin typeface="Calibri"/>
              </a:defRPr>
            </a:pPr>
            <a:r>
              <a:rPr sz="1600" dirty="0">
                <a:solidFill>
                  <a:schemeClr val="bg1"/>
                </a:solidFill>
              </a:rPr>
              <a:t>▸  Monitor post-deployment behavior continuously</a:t>
            </a:r>
          </a:p>
          <a:p>
            <a:pPr>
              <a:spcAft>
                <a:spcPts val="1000"/>
              </a:spcAft>
              <a:defRPr sz="1500">
                <a:solidFill>
                  <a:srgbClr val="CCD1D9"/>
                </a:solidFill>
                <a:latin typeface="Calibri"/>
              </a:defRPr>
            </a:pPr>
            <a:r>
              <a:rPr sz="1600" dirty="0">
                <a:solidFill>
                  <a:schemeClr val="bg1"/>
                </a:solidFill>
              </a:rPr>
              <a:t>▸  Treat pipeline health as part of model performance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2560320"/>
            <a:ext cx="4846320" cy="384048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23760" y="2743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42"/>
                </a:solidFill>
                <a:latin typeface="Calibri"/>
              </a:defRPr>
            </a:pPr>
            <a:r>
              <a:t>COMMON CHALLENGES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200400"/>
            <a:ext cx="41148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D1D9"/>
                </a:solidFill>
                <a:latin typeface="Calibri"/>
              </a:defRPr>
            </a:pPr>
            <a:r>
              <a:rPr sz="1600" dirty="0">
                <a:solidFill>
                  <a:schemeClr val="bg1"/>
                </a:solidFill>
              </a:rPr>
              <a:t>▸  Class imbalance &amp; rare events</a:t>
            </a:r>
          </a:p>
          <a:p>
            <a:pPr>
              <a:spcAft>
                <a:spcPts val="800"/>
              </a:spcAft>
              <a:defRPr sz="1400">
                <a:solidFill>
                  <a:srgbClr val="CCD1D9"/>
                </a:solidFill>
                <a:latin typeface="Calibri"/>
              </a:defRPr>
            </a:pPr>
            <a:r>
              <a:rPr sz="1600" dirty="0">
                <a:solidFill>
                  <a:schemeClr val="bg1"/>
                </a:solidFill>
              </a:rPr>
              <a:t>▸  Noisy labels &amp; annotation errors</a:t>
            </a:r>
          </a:p>
          <a:p>
            <a:pPr>
              <a:spcAft>
                <a:spcPts val="800"/>
              </a:spcAft>
              <a:defRPr sz="1400">
                <a:solidFill>
                  <a:srgbClr val="CCD1D9"/>
                </a:solidFill>
                <a:latin typeface="Calibri"/>
              </a:defRPr>
            </a:pPr>
            <a:r>
              <a:rPr sz="1600" dirty="0">
                <a:solidFill>
                  <a:schemeClr val="bg1"/>
                </a:solidFill>
              </a:rPr>
              <a:t>▸  Data drift &amp; distribution shift</a:t>
            </a:r>
          </a:p>
          <a:p>
            <a:pPr>
              <a:spcAft>
                <a:spcPts val="800"/>
              </a:spcAft>
              <a:defRPr sz="1400">
                <a:solidFill>
                  <a:srgbClr val="CCD1D9"/>
                </a:solidFill>
                <a:latin typeface="Calibri"/>
              </a:defRPr>
            </a:pPr>
            <a:r>
              <a:rPr sz="1600" dirty="0">
                <a:solidFill>
                  <a:schemeClr val="bg1"/>
                </a:solidFill>
              </a:rPr>
              <a:t>▸  Concept shift over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4846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FA5"/>
                </a:solidFill>
                <a:latin typeface="Calibri"/>
              </a:defRPr>
            </a:pPr>
            <a:r>
              <a:t>MITIGATION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5212080"/>
            <a:ext cx="41148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D1D9"/>
                </a:solidFill>
                <a:latin typeface="Calibri"/>
              </a:defRPr>
            </a:pPr>
            <a:r>
              <a:rPr sz="1600" dirty="0">
                <a:solidFill>
                  <a:schemeClr val="bg1"/>
                </a:solidFill>
              </a:rPr>
              <a:t>▸  Structured error analysis</a:t>
            </a:r>
          </a:p>
          <a:p>
            <a:pPr>
              <a:spcAft>
                <a:spcPts val="600"/>
              </a:spcAft>
              <a:defRPr sz="1400">
                <a:solidFill>
                  <a:srgbClr val="CCD1D9"/>
                </a:solidFill>
                <a:latin typeface="Calibri"/>
              </a:defRPr>
            </a:pPr>
            <a:r>
              <a:rPr sz="1600" dirty="0">
                <a:solidFill>
                  <a:schemeClr val="bg1"/>
                </a:solidFill>
              </a:rPr>
              <a:t>▸  Feature importance &amp; attribution tools</a:t>
            </a:r>
          </a:p>
          <a:p>
            <a:pPr>
              <a:spcAft>
                <a:spcPts val="600"/>
              </a:spcAft>
              <a:defRPr sz="1400">
                <a:solidFill>
                  <a:srgbClr val="CCD1D9"/>
                </a:solidFill>
                <a:latin typeface="Calibri"/>
              </a:defRPr>
            </a:pPr>
            <a:r>
              <a:rPr sz="1600" dirty="0">
                <a:solidFill>
                  <a:schemeClr val="bg1"/>
                </a:solidFill>
              </a:rPr>
              <a:t>▸  Resampling &amp; rebalancing strategies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3A3"/>
                </a:solidFill>
                <a:latin typeface="Calibri"/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FA5"/>
                </a:solidFill>
                <a:latin typeface="Calibri"/>
              </a:defRPr>
            </a:pPr>
            <a:r>
              <a:t>DATA-DRIVEN PERFORMANCE GAINS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743200" cy="508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029200" cy="635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A5"/>
                </a:solidFill>
                <a:latin typeface="Calibri"/>
              </a:defRPr>
            </a:pPr>
            <a:r>
              <a:t>CASE STUDY 1: CLASSIFICATION BOOST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603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00BFA5"/>
                </a:solidFill>
                <a:latin typeface="Calibri"/>
              </a:defRPr>
            </a:pPr>
            <a:r>
              <a:t>+35%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931920"/>
            <a:ext cx="4389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D1D9"/>
                </a:solidFill>
                <a:latin typeface="Calibri"/>
              </a:defRPr>
            </a:pPr>
            <a:r>
              <a:rPr sz="1600" dirty="0">
                <a:solidFill>
                  <a:schemeClr val="bg1"/>
                </a:solidFill>
              </a:rPr>
              <a:t>ACCURACY INCREASE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480560"/>
            <a:ext cx="4389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93A3"/>
                </a:solidFill>
                <a:latin typeface="Calibri"/>
              </a:defRPr>
            </a:pPr>
            <a:r>
              <a:rPr sz="1600" dirty="0" err="1">
                <a:solidFill>
                  <a:schemeClr val="bg1"/>
                </a:solidFill>
              </a:rPr>
              <a:t>Mixup</a:t>
            </a:r>
            <a:r>
              <a:rPr sz="1600" dirty="0">
                <a:solidFill>
                  <a:schemeClr val="bg1"/>
                </a:solidFill>
              </a:rPr>
              <a:t> + </a:t>
            </a:r>
            <a:r>
              <a:rPr sz="1600" dirty="0" err="1">
                <a:solidFill>
                  <a:schemeClr val="bg1"/>
                </a:solidFill>
              </a:rPr>
              <a:t>AutoAugment</a:t>
            </a:r>
            <a:r>
              <a:rPr sz="1600" dirty="0">
                <a:solidFill>
                  <a:schemeClr val="bg1"/>
                </a:solidFill>
              </a:rPr>
              <a:t> applied to image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classification task vs. baseline training.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1645920"/>
            <a:ext cx="5029200" cy="635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0" y="1920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42"/>
                </a:solidFill>
                <a:latin typeface="Calibri"/>
              </a:defRPr>
            </a:pPr>
            <a:r>
              <a:rPr dirty="0"/>
              <a:t>CASE STUDY 2: OBJECT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5603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8C42"/>
                </a:solidFill>
                <a:latin typeface="Calibri"/>
              </a:defRPr>
            </a:pPr>
            <a:r>
              <a:t>−40%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931920"/>
            <a:ext cx="4389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D1D9"/>
                </a:solidFill>
                <a:latin typeface="Calibri"/>
              </a:defRPr>
            </a:pPr>
            <a:r>
              <a:rPr sz="1600" dirty="0">
                <a:solidFill>
                  <a:schemeClr val="bg1"/>
                </a:solidFill>
              </a:rPr>
              <a:t>FALSE POSITIVES REDUCED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480560"/>
            <a:ext cx="4389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93A3"/>
                </a:solidFill>
                <a:latin typeface="Calibri"/>
              </a:defRPr>
            </a:pPr>
            <a:r>
              <a:rPr sz="1600" dirty="0">
                <a:solidFill>
                  <a:schemeClr val="bg1"/>
                </a:solidFill>
              </a:rPr>
              <a:t>Curated dataset + </a:t>
            </a:r>
            <a:r>
              <a:rPr sz="1600" dirty="0" err="1">
                <a:solidFill>
                  <a:schemeClr val="bg1"/>
                </a:solidFill>
              </a:rPr>
              <a:t>CutMix</a:t>
            </a:r>
            <a:r>
              <a:rPr sz="1600" dirty="0">
                <a:solidFill>
                  <a:schemeClr val="bg1"/>
                </a:solidFill>
              </a:rPr>
              <a:t> improved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object detection performance.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3A3"/>
                </a:solidFill>
                <a:latin typeface="Calibri"/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FA5"/>
                </a:solidFill>
                <a:latin typeface="Calibri"/>
              </a:defRPr>
            </a:pPr>
            <a:r>
              <a:t>WHAT MATTERS MOST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508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B1D3A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50876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1D9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Prioritize data quality, diversity, and augmentation over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architecture complexity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468880"/>
            <a:ext cx="548640" cy="548640"/>
          </a:xfrm>
          <a:prstGeom prst="ellipse">
            <a:avLst/>
          </a:prstGeom>
          <a:solidFill>
            <a:srgbClr val="4EA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B1D3A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51460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1D9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Adapt data handling strategies to the specific model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architecture (CNN, RNN, Transformer)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47472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B1D3A"/>
                </a:solidFill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52044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1D9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Measure annotation quality explicitly using validated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inter-annotator agreement metrics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480560"/>
            <a:ext cx="548640" cy="5486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B1D3A"/>
                </a:solidFill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52628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1D9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Use active learning to improve labeling efficiency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and reduce annotation cost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5486400"/>
            <a:ext cx="548640" cy="548640"/>
          </a:xfrm>
          <a:prstGeom prst="ellipse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B1D3A"/>
                </a:solidFill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53212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1D9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Build robust pipelines that detect and respond to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data drift, noise, and distribution shift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3A3"/>
                </a:solidFill>
                <a:latin typeface="Calibri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FA5"/>
                </a:solidFill>
                <a:latin typeface="Calibri"/>
              </a:defRPr>
            </a:pPr>
            <a:r>
              <a:t>RECOMMENDED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508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2103120" cy="438912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2103120" cy="508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FA5"/>
                </a:solidFill>
                <a:latin typeface="Calibri"/>
              </a:defRPr>
            </a:pPr>
            <a:r>
              <a:t>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173736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1D9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Review your current data pipeline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for quality gaps and bottlenecks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554480"/>
            <a:ext cx="2103120" cy="438912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0" y="1554480"/>
            <a:ext cx="2103120" cy="50800"/>
          </a:xfrm>
          <a:prstGeom prst="rect">
            <a:avLst/>
          </a:prstGeom>
          <a:solidFill>
            <a:srgbClr val="4EA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0" y="1828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651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EA8DE"/>
                </a:solidFill>
                <a:latin typeface="Calibri"/>
              </a:defRPr>
            </a:pPr>
            <a:r>
              <a:t>AUGMENT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200400"/>
            <a:ext cx="173736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1D9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Introduce advanced augmentation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techniques </a:t>
            </a:r>
            <a:r>
              <a:rPr lang="en-US" dirty="0">
                <a:solidFill>
                  <a:schemeClr val="bg1"/>
                </a:solidFill>
              </a:rPr>
              <a:t>selectively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29200" y="1554480"/>
            <a:ext cx="2103120" cy="438912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0" y="1554480"/>
            <a:ext cx="2103120" cy="508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0" y="1828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651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C42"/>
                </a:solidFill>
                <a:latin typeface="Calibri"/>
              </a:defRPr>
            </a:pPr>
            <a:r>
              <a:t>ANNOTATE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200400"/>
            <a:ext cx="173736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1D9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Review annotation quality metrics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and establish regular QA cycles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1554480"/>
            <a:ext cx="2103120" cy="438912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0" y="1554480"/>
            <a:ext cx="210312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0" y="1828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2651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Calibri"/>
              </a:defRPr>
            </a:pPr>
            <a:r>
              <a:t>ACTIVATE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3200400"/>
            <a:ext cx="173736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1D9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Pilot an active learning loop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to optimize labeling efficiency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0" y="1554480"/>
            <a:ext cx="2103120" cy="438912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601200" y="1554480"/>
            <a:ext cx="2103120" cy="508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0" y="1828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2651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FA5"/>
                </a:solidFill>
                <a:latin typeface="Calibri"/>
              </a:defRPr>
            </a:pPr>
            <a:r>
              <a:t>MONITOR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3200400"/>
            <a:ext cx="173736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1D9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Strengthen monitoring for drift,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noise, and labeling issues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3A3"/>
                </a:solidFill>
                <a:latin typeface="Calibri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315200" y="-1828800"/>
            <a:ext cx="6400800" cy="6400800"/>
          </a:xfrm>
          <a:prstGeom prst="ellipse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00BFA5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017520"/>
            <a:ext cx="2743200" cy="508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rPr dirty="0"/>
              <a:t>Advanced Neural Network Data Handling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3A3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Building High-Performance Models Through Better Data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3A3"/>
                </a:solidFill>
                <a:latin typeface="Calibri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C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B0A4"/>
                </a:solidFill>
              </a:defRPr>
            </a:pPr>
            <a:r>
              <a:rPr dirty="0"/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39"/>
            <a:ext cx="11135032" cy="430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 sz="2000" dirty="0"/>
          </a:p>
          <a:p>
            <a:pPr>
              <a:defRPr sz="1000">
                <a:solidFill>
                  <a:srgbClr val="C8D2DA"/>
                </a:solidFill>
              </a:defRPr>
            </a:pPr>
            <a:r>
              <a:rPr sz="2000" dirty="0"/>
              <a:t>[1] Brownlee, J. (2019). Machine Learning Performance Improvement Cheat Sheet. Machine Learning Mastery. Data-centric changes like adding more or better data often yield greater gains than algorithm tuning</a:t>
            </a:r>
            <a:r>
              <a:rPr sz="2000" u="sng" dirty="0">
                <a:solidFill>
                  <a:schemeClr val="accent6"/>
                </a:solidFill>
                <a:hlinkClick r:id="rId2"/>
              </a:rPr>
              <a:t>(machinelearningmastery.com)</a:t>
            </a:r>
            <a:r>
              <a:rPr sz="2000" dirty="0"/>
              <a:t>.</a:t>
            </a:r>
            <a:endParaRPr lang="en-US" sz="2000" dirty="0"/>
          </a:p>
          <a:p>
            <a:pPr>
              <a:defRPr sz="1000">
                <a:solidFill>
                  <a:srgbClr val="C8D2DA"/>
                </a:solidFill>
              </a:defRPr>
            </a:pPr>
            <a:endParaRPr sz="2000" dirty="0"/>
          </a:p>
          <a:p>
            <a:pPr>
              <a:defRPr sz="1000">
                <a:solidFill>
                  <a:srgbClr val="C8D2DA"/>
                </a:solidFill>
              </a:defRPr>
            </a:pPr>
            <a:r>
              <a:rPr sz="2000" dirty="0"/>
              <a:t>[2] Byrd, J. (2024). The Full Guide to Data Augmentation in Computer Vision. </a:t>
            </a:r>
            <a:r>
              <a:rPr sz="2000" dirty="0" err="1"/>
              <a:t>Encord</a:t>
            </a:r>
            <a:r>
              <a:rPr sz="2000" dirty="0"/>
              <a:t> Blog. Explains how data augmentation increases dataset size and acts as a regularization technique</a:t>
            </a:r>
            <a:r>
              <a:rPr sz="2000" u="sng" dirty="0">
                <a:solidFill>
                  <a:schemeClr val="accent6"/>
                </a:solidFill>
                <a:hlinkClick r:id="rId3"/>
              </a:rPr>
              <a:t>(encord.com)</a:t>
            </a:r>
            <a:r>
              <a:rPr sz="2000" dirty="0"/>
              <a:t>.</a:t>
            </a:r>
            <a:endParaRPr lang="en-US" sz="2000" dirty="0"/>
          </a:p>
          <a:p>
            <a:pPr>
              <a:defRPr sz="1000">
                <a:solidFill>
                  <a:srgbClr val="C8D2DA"/>
                </a:solidFill>
              </a:defRPr>
            </a:pPr>
            <a:endParaRPr sz="2000" dirty="0"/>
          </a:p>
          <a:p>
            <a:pPr>
              <a:defRPr sz="1000">
                <a:solidFill>
                  <a:srgbClr val="C8D2DA"/>
                </a:solidFill>
              </a:defRPr>
            </a:pPr>
            <a:r>
              <a:rPr sz="2000" dirty="0"/>
              <a:t>[3] </a:t>
            </a:r>
            <a:r>
              <a:rPr sz="2000" dirty="0" err="1"/>
              <a:t>GeeksforGeeks</a:t>
            </a:r>
            <a:r>
              <a:rPr sz="2000" dirty="0"/>
              <a:t>. (2025). Active Learning for Reducing Labeling Costs. Active learning can achieve comparable or superior performance while labeling only 30–50% of the data</a:t>
            </a:r>
            <a:r>
              <a:rPr sz="2000" u="sng" dirty="0">
                <a:solidFill>
                  <a:schemeClr val="accent6"/>
                </a:solidFill>
                <a:hlinkClick r:id="rId4"/>
              </a:rPr>
              <a:t>(www.geeksforgeeks.org)</a:t>
            </a:r>
            <a:r>
              <a:rPr sz="2000" dirty="0"/>
              <a:t>.</a:t>
            </a:r>
            <a:endParaRPr lang="en-US" sz="2000" dirty="0"/>
          </a:p>
          <a:p>
            <a:pPr>
              <a:defRPr sz="1000">
                <a:solidFill>
                  <a:srgbClr val="C8D2DA"/>
                </a:solidFill>
              </a:defRPr>
            </a:pPr>
            <a:endParaRPr sz="2000" dirty="0"/>
          </a:p>
          <a:p>
            <a:pPr>
              <a:defRPr sz="1000">
                <a:solidFill>
                  <a:srgbClr val="C8D2DA"/>
                </a:solidFill>
              </a:defRPr>
            </a:pPr>
            <a:r>
              <a:rPr sz="2000" dirty="0"/>
              <a:t>[4] TELUS Digital. (2023). Four key metrics for ensuring data annotation accuracy. Introduces metrics such as Cohen’s kappa, Fleiss’ kappa, </a:t>
            </a:r>
            <a:r>
              <a:rPr sz="2000" dirty="0" err="1"/>
              <a:t>Krippendorff’s</a:t>
            </a:r>
            <a:r>
              <a:rPr sz="2000" dirty="0"/>
              <a:t> alpha, and F1 score for evaluating annotation quality</a:t>
            </a:r>
            <a:r>
              <a:rPr sz="2000" u="sng" dirty="0">
                <a:solidFill>
                  <a:schemeClr val="accent6"/>
                </a:solidFill>
                <a:hlinkClick r:id="rId5"/>
              </a:rPr>
              <a:t>(www.telusdigital.com)</a:t>
            </a:r>
            <a:r>
              <a:rPr sz="2000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963</Words>
  <Application>Microsoft Office PowerPoint</Application>
  <PresentationFormat>Widescreen</PresentationFormat>
  <Paragraphs>161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Richard Rodriguez</dc:creator>
  <cp:keywords/>
  <dc:description>generated using python-pptx</dc:description>
  <cp:lastModifiedBy>Richard Rodriguez</cp:lastModifiedBy>
  <cp:revision>5</cp:revision>
  <cp:lastPrinted>2026-03-23T23:47:34Z</cp:lastPrinted>
  <dcterms:created xsi:type="dcterms:W3CDTF">2013-01-27T09:14:16Z</dcterms:created>
  <dcterms:modified xsi:type="dcterms:W3CDTF">2026-03-24T00:23:40Z</dcterms:modified>
  <cp:category/>
</cp:coreProperties>
</file>