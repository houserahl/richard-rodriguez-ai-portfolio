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70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2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63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4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1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62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03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0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01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6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8908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01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35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34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73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4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2E8BDA6-1F15-44CD-A74E-B03597ECE3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7C87DFB-CDB6-461F-97D5-F6932071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648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ber.com/blog/deepeta-how-uber-predicts-arrival-times/" TargetMode="External"/><Relationship Id="rId3" Type="http://schemas.openxmlformats.org/officeDocument/2006/relationships/hyperlink" Target="https://www.geeksforgeeks.org/machine-learning/what-is-feature-engineering/" TargetMode="External"/><Relationship Id="rId7" Type="http://schemas.openxmlformats.org/officeDocument/2006/relationships/hyperlink" Target="https://doi.org/10.1609/aimag.v42i3.18140" TargetMode="External"/><Relationship Id="rId2" Type="http://schemas.openxmlformats.org/officeDocument/2006/relationships/hyperlink" Target="https://domino.ai/data-science-dictionary/feature-engineerin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cikit-learn.org/stable/modules/preprocessing.html" TargetMode="External"/><Relationship Id="rId5" Type="http://schemas.openxmlformats.org/officeDocument/2006/relationships/hyperlink" Target="https://www.ibm.com/think/topics/feature-engineering" TargetMode="External"/><Relationship Id="rId4" Type="http://schemas.openxmlformats.org/officeDocument/2006/relationships/hyperlink" Target="https://arxiv.org/abs/2106.09685" TargetMode="External"/><Relationship Id="rId9" Type="http://schemas.openxmlformats.org/officeDocument/2006/relationships/hyperlink" Target="https://jakevdp.github.io/PythonDataScienceHandbook/05.04-feature-engineeri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A46003-1776-4176-0D45-3231403B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5" y="80495"/>
            <a:ext cx="11812649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8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838D0-A9BF-4AC8-7DE3-533FBB85E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0778F-D844-F36D-2422-72B0387D1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6" y="90021"/>
            <a:ext cx="11841227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7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5D5A-A966-7351-4C3F-F62CDABE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DF1F1-D79A-13DC-2EC7-B2E498861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6" y="90021"/>
            <a:ext cx="11841227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05354-D8F7-73FC-9DD7-DCCC761B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FF414C-ED39-7456-A168-680FDDE1F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47" y="0"/>
            <a:ext cx="117851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41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4B43-2405-AEE3-AEA6-BFF751E0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3CFEAC-7D81-6457-3204-516109390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9" y="109074"/>
            <a:ext cx="11803122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8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7CCB-56DC-E066-26B6-3AC5C101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A0B80-CB24-38BD-6A56-36B07BC15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5" y="99548"/>
            <a:ext cx="11812649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0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F63D1-C9E8-7BD9-2B6B-694526DA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ACDAF2-0228-0826-F6B9-F7F8D1E7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65" y="90021"/>
            <a:ext cx="11784070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96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2F8E-3CAD-53A5-DF6D-058A3EDCD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A7BAC-E227-B821-708E-88E0D7A2D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18574"/>
            <a:ext cx="11564964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62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8F482-3C99-0AB9-FB72-98D2EAF44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21277B-E5CA-3352-0240-006C4004C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58" y="0"/>
            <a:ext cx="11148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89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A5835-1A3E-66E4-7ED4-32686669F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CF5C96-A65A-E8F5-87CE-3A4932FF7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5" y="0"/>
            <a:ext cx="111407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0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E648-5831-B731-DBD0-6F82AC8A2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B9D77A-1468-50BA-65AB-C0F63182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70" y="0"/>
            <a:ext cx="11170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95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9829-7AEF-FB7A-13EF-20EAE960F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BAB2E4-2601-61DC-1039-B22DCC335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53" y="0"/>
            <a:ext cx="11025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68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465BA-672E-EAE6-7EB4-D8E82FC7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A8D5BA-2479-7E00-0E24-32445145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85258"/>
            <a:ext cx="11536385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1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5850-28E3-B072-5688-A882DF01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17BAEA-06CF-8798-CB43-19160073F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91" y="118600"/>
            <a:ext cx="11584017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96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E2491-3215-8C01-4D6B-F086C94B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593464-D3C5-CBEE-67BA-00C2CAF6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118600"/>
            <a:ext cx="11650701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85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B563-9B2F-19A6-A84F-70932D31F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B1ADFF-B587-DEF7-3400-E873A4546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47153"/>
            <a:ext cx="11460174" cy="67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15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35F24-1F8B-6A6F-FD3B-03384807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6203DA-10BB-3C9A-6AE4-9450B633D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56679"/>
            <a:ext cx="11460174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56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0B8D-80AC-8AEB-C64A-340A0AC8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1EA951-BAC0-B635-3418-7D1E9C5E1F7F}"/>
              </a:ext>
            </a:extLst>
          </p:cNvPr>
          <p:cNvSpPr txBox="1"/>
          <p:nvPr/>
        </p:nvSpPr>
        <p:spPr>
          <a:xfrm>
            <a:off x="0" y="491612"/>
            <a:ext cx="12192000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Brownlee, J. (2020). </a:t>
            </a:r>
            <a:r>
              <a:rPr lang="en-US" sz="1400" b="0" i="1" dirty="0">
                <a:solidFill>
                  <a:srgbClr val="F0F0F5"/>
                </a:solidFill>
                <a:effectLst/>
                <a:latin typeface="DM Sans" pitchFamily="2" charset="0"/>
              </a:rPr>
              <a:t>Data preparation for machine learning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. Machine Learning Mastery.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Domino Data Lab. (n.d.). What is feature engineering?</a:t>
            </a:r>
            <a:b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</a:b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  <a:hlinkClick r:id="rId2"/>
              </a:rPr>
              <a:t>https://domino.ai/data-science-dictionary/feature-engineering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 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rgbClr val="F0F0F5"/>
                </a:solidFill>
                <a:effectLst/>
                <a:latin typeface="DM Sans" pitchFamily="2" charset="0"/>
              </a:rPr>
              <a:t>GeeksforGeeks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. (2025). What is feature engineering?</a:t>
            </a:r>
            <a:b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</a:b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  <a:hlinkClick r:id="rId3"/>
              </a:rPr>
              <a:t>https://www.geeksforgeeks.org/machine-learning/what-is-feature-engineering/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 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Hu, E. J., Shen, Y., Wallis, P., Allen-Zhu, Z., Li, Y., Wang, S., Wang, L., &amp; Chen, W. (2021). </a:t>
            </a:r>
            <a:r>
              <a:rPr lang="en-US" sz="1400" b="0" i="0" dirty="0" err="1">
                <a:solidFill>
                  <a:srgbClr val="F0F0F5"/>
                </a:solidFill>
                <a:effectLst/>
                <a:latin typeface="DM Sans" pitchFamily="2" charset="0"/>
              </a:rPr>
              <a:t>LoRA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: Low-rank adaptation of large language models. </a:t>
            </a:r>
            <a:r>
              <a:rPr lang="en-US" sz="1400" b="0" i="1" dirty="0">
                <a:solidFill>
                  <a:srgbClr val="F0F0F5"/>
                </a:solidFill>
                <a:effectLst/>
                <a:latin typeface="DM Sans" pitchFamily="2" charset="0"/>
              </a:rPr>
              <a:t>arXiv:2106.09685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. 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  <a:hlinkClick r:id="rId4"/>
              </a:rPr>
              <a:t>https://arxiv.org/abs/2106.09685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 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IBM. (2025). What is feature engineering?</a:t>
            </a:r>
            <a:b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</a:b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  <a:hlinkClick r:id="rId5"/>
              </a:rPr>
              <a:t>https://www.ibm.com/think/topics/feature-engineering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 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Provost, F., &amp; Fawcett, T. (2013). </a:t>
            </a:r>
            <a:r>
              <a:rPr lang="en-US" sz="1400" b="0" i="1" dirty="0">
                <a:solidFill>
                  <a:srgbClr val="F0F0F5"/>
                </a:solidFill>
                <a:effectLst/>
                <a:latin typeface="DM Sans" pitchFamily="2" charset="0"/>
              </a:rPr>
              <a:t>Data science for business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. O'Reilly Media.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Scikit-learn. (n.d.). Preprocessing data.</a:t>
            </a:r>
            <a:b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</a:b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  <a:hlinkClick r:id="rId6"/>
              </a:rPr>
              <a:t>https://scikit-learn.org/stable/modules/preprocessing.html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 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Steck, H., </a:t>
            </a:r>
            <a:r>
              <a:rPr lang="en-US" sz="1400" b="0" i="0" dirty="0" err="1">
                <a:solidFill>
                  <a:srgbClr val="F0F0F5"/>
                </a:solidFill>
                <a:effectLst/>
                <a:latin typeface="DM Sans" pitchFamily="2" charset="0"/>
              </a:rPr>
              <a:t>Baltrunas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, L., Elahi, E., Liang, D., Raimond, Y., &amp; Basilico, J. (2021). Deep learning for recommender systems: A Netflix case study. </a:t>
            </a:r>
            <a:r>
              <a:rPr lang="en-US" sz="1400" b="0" i="1" dirty="0">
                <a:solidFill>
                  <a:srgbClr val="F0F0F5"/>
                </a:solidFill>
                <a:effectLst/>
                <a:latin typeface="DM Sans" pitchFamily="2" charset="0"/>
              </a:rPr>
              <a:t>AI Magazine, 42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(3), 7-18. 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  <a:hlinkClick r:id="rId7"/>
              </a:rPr>
              <a:t>https://doi.org/10.1609/aimag.v42i3.18140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 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Uber Engineering. (2022). </a:t>
            </a:r>
            <a:r>
              <a:rPr lang="en-US" sz="1400" b="0" i="0" dirty="0" err="1">
                <a:solidFill>
                  <a:srgbClr val="F0F0F5"/>
                </a:solidFill>
                <a:effectLst/>
                <a:latin typeface="DM Sans" pitchFamily="2" charset="0"/>
              </a:rPr>
              <a:t>DeepETA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: How Uber predicts arrival times using deep learning. </a:t>
            </a:r>
            <a:r>
              <a:rPr lang="en-US" sz="1400" b="0" i="1" dirty="0">
                <a:solidFill>
                  <a:srgbClr val="F0F0F5"/>
                </a:solidFill>
                <a:effectLst/>
                <a:latin typeface="DM Sans" pitchFamily="2" charset="0"/>
              </a:rPr>
              <a:t>Uber Engineering Blog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. 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  <a:hlinkClick r:id="rId8"/>
              </a:rPr>
              <a:t>https://www.uber.com/blog/deepeta-how-uber-predicts-arrival-times/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 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VanderPlas, J. (2016). Feature engineering. </a:t>
            </a:r>
            <a:r>
              <a:rPr lang="en-US" sz="1400" b="0" i="1" dirty="0">
                <a:solidFill>
                  <a:srgbClr val="F0F0F5"/>
                </a:solidFill>
                <a:effectLst/>
                <a:latin typeface="DM Sans" pitchFamily="2" charset="0"/>
              </a:rPr>
              <a:t>Python Data Science Handbook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. O'Reilly Media.</a:t>
            </a:r>
            <a:b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</a:b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  <a:hlinkClick r:id="rId9"/>
              </a:rPr>
              <a:t>https://jakevdp.github.io/PythonDataScienceHandbook/05.04-feature-engineering.html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 </a:t>
            </a: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Zheng, A., &amp; Casari, A. (2018). </a:t>
            </a:r>
            <a:r>
              <a:rPr lang="en-US" sz="1400" b="0" i="1" dirty="0">
                <a:solidFill>
                  <a:srgbClr val="F0F0F5"/>
                </a:solidFill>
                <a:effectLst/>
                <a:latin typeface="DM Sans" pitchFamily="2" charset="0"/>
              </a:rPr>
              <a:t>Feature engineering for machine learning</a:t>
            </a: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. O'Reilly Media.</a:t>
            </a:r>
          </a:p>
          <a:p>
            <a:pPr algn="ctr">
              <a:spcBef>
                <a:spcPts val="225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effectLst/>
                <a:latin typeface="Syne"/>
              </a:rPr>
              <a:t>Thank You!</a:t>
            </a:r>
          </a:p>
          <a:p>
            <a:pPr algn="ctr">
              <a:spcBef>
                <a:spcPts val="450"/>
              </a:spcBef>
              <a:buNone/>
            </a:pPr>
            <a:r>
              <a:rPr lang="en-US" sz="1400" b="0" i="0" dirty="0">
                <a:solidFill>
                  <a:srgbClr val="F0F0F5"/>
                </a:solidFill>
                <a:effectLst/>
                <a:latin typeface="DM Sans" pitchFamily="2" charset="0"/>
              </a:rPr>
              <a:t>Questions &amp; 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95345-C0A2-EEB4-2229-B533492B0CBA}"/>
              </a:ext>
            </a:extLst>
          </p:cNvPr>
          <p:cNvSpPr txBox="1"/>
          <p:nvPr/>
        </p:nvSpPr>
        <p:spPr>
          <a:xfrm>
            <a:off x="4847303" y="0"/>
            <a:ext cx="2556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effectLst/>
                <a:latin typeface="Syne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262361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19</TotalTime>
  <Words>342</Words>
  <Application>Microsoft Office PowerPoint</Application>
  <PresentationFormat>Widescreen</PresentationFormat>
  <Paragraphs>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Calisto MT</vt:lpstr>
      <vt:lpstr>DM Sans</vt:lpstr>
      <vt:lpstr>Syne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Rodriguez</dc:creator>
  <cp:lastModifiedBy>richard.rodriguez17-W1428896</cp:lastModifiedBy>
  <cp:revision>1</cp:revision>
  <dcterms:created xsi:type="dcterms:W3CDTF">2026-02-17T04:57:02Z</dcterms:created>
  <dcterms:modified xsi:type="dcterms:W3CDTF">2026-02-17T05:16:46Z</dcterms:modified>
</cp:coreProperties>
</file>